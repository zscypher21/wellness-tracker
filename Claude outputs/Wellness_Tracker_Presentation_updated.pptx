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16.xml" ContentType="application/vnd.openxmlformats-officedocument.presentationml.slide+xml"/>
  <Override PartName="/ppt/notesSlides/notesSlide16.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6" r:id="rId11"/>
    <p:sldId id="267" r:id="rId12"/>
    <p:sldId id="272" r:id="rId23"/>
    <p:sldId id="268" r:id="rId13"/>
    <p:sldId id="269" r:id="rId14"/>
    <p:sldId id="270" r:id="rId15"/>
    <p:sldId id="271"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50C5887-6BE8-3F3E-39D1-9B8AAF2DD2EB}">
          <p14:sldIdLst>
            <p14:sldId id="256"/>
            <p14:sldId id="257"/>
            <p14:sldId id="258"/>
          </p14:sldIdLst>
        </p14:section>
        <p14:section name="Solution Design" id="{8F60E451-4C7B-AB50-11A9-2559B5DD8AF8}">
          <p14:sldIdLst>
            <p14:sldId id="259"/>
            <p14:sldId id="260"/>
            <p14:sldId id="261"/>
          </p14:sldIdLst>
        </p14:section>
        <p14:section name="Delivery" id="{DD780EA5-105C-E2F4-37A8-2272A664C987}">
          <p14:sldIdLst>
            <p14:sldId id="262"/>
            <p14:sldId id="263"/>
            <p14:sldId id="264"/>
          </p14:sldIdLst>
        </p14:section>
        <p14:section name="Evaluation" id="{669C6D5C-34D3-3453-76BC-3AE83F505239}">
          <p14:sldIdLst>
            <p14:sldId id="266"/>
            <p14:sldId id="267"/>
            <p14:sldId id="268"/>
            <p14:sldId id="269"/>
          </p14:sldIdLst>
        </p14:section>
        <p14:section name="Close" id="{19104642-872D-0D51-2405-FA6F4E1FC7EB}">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54" dt="2026-10-05T05:50:14.683"/>
    <p1510:client id="{41015032-EDC3-0616-F4EE-7BE0E54B1538}" v="19" dt="2026-10-05T07:10:34.1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  <Relationship Id="rId23" Type="http://schemas.openxmlformats.org/officeDocument/2006/relationships/slide" Target="slides/slide16.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15966900-2CA0-45D9-BEBB-7A810F76BB34}" type="datetimeFigureOut">
              <a:t>10/5/2026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14C62274-8D19-476D-86FC-FD637B590AD4}" type="slidenum">
              <a:t>‹#›</a:t>
            </a:fld>
            <a:endParaRPr lang="en-US"/>
          </a:p>
        </p:txBody>
      </p:sp>
    </p:spTree>
    <p:extLst>
      <p:ext uri="{BB962C8B-B14F-4D97-AF65-F5344CB8AC3E}">
        <p14:creationId xmlns:p14="http://schemas.microsoft.com/office/powerpoint/2010/main" val="26288544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Prasana (suggested split — Prasana slides 1–6 &amp; 15, Anjal 7–9, Rajib 10–14).
Welcome. We are presenting the Wellness Tracker, our full-stack web application for ICT934 Assessment 3. Introduce the three team members and their roles.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Prasana.
We built a full-stack wellness tracker covering hydration, sleep, meditation, activity and appointments. In Assessment 2 the app was frontend-only; for Assessment 3 we added an Express REST API and a PostgreSQL database so data persists per user. The work was split across three members.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Prasana.
Industry: people track exercise, water, sleep, meditation and appointments in separate apps. Operationally that makes records inconsistent and history hard to compare. Target users are people recording daily health actions — they need something simple and secure; the dev team needs something maintainable and extensible. Our solution is a single, secure, responsive full-stack tracker.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Prasana.
Functional: register and log in, full CRUD for activity, hydration, sleep, meditation and appointments, weekly analytics, history pages, and REST communication. Non-functional: secure (hashed passwords, JWT), responsive layouts for tablet and mobile, reliable through backend validation with clear 400/401 errors, accessible (form labels linked to inputs, ARIA roles on dialogs, menus and alerts), and scalable. Constraint: React, Node.js, Express and PostgreSQL — developed on localhost:5000 and deployed to Vercel (frontend) and Render (API + database).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Prasana.
Three tiers. React handles pages, forms and client-side routing. A central api.js service sends GET/POST/PUT/DELETE requests with the JWT in the Authorization header, and turns any server error into a message the user can see. Express authenticates, validates and applies business logic, then queries PostgreSQL. Results return as JSON and React updates without a full page refresh. The app is live: the React build is hosted on Vercel and the Express API and PostgreSQL database on Render, all over HTTPS. Separating layers let us deploy the frontend and backend independently.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Prasana.
React gives reusable components shared across Activities, Sleep, Hydration and Appointments with a consistent look. React Router v7 handles client-side routing; Context API manages shared state such as the logged-in user. The orange header and light content areas keep the design consistent. Point out the weekly overview chart and weekly goals bars on the screenshot.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Anjal.
The backend is Node.js with Express exposing RESTful routes for GET, POST, PUT and DELETE. For each protected request: the frontend sends the JWT in the Authorization header, Express verifies it, validates the input, applies business logic, queries PostgreSQL and returns JSON. Passwords are hashed with bcrypt. (Optional: add a Postman API test screenshot here if you have one — it was not included in the report.)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Anjal.
PostgreSQL was chosen because the data is structured and belongs to a user, and a relational database gives us integrity. The schema has seven tables: users, user_settings (weekly goals), activities, appointments, hydration_logs, sleep_logs and meditation_logs. Each log table carries a user_id foreign key, and each has an index on (user_id, date) because every list query filters by user and sorts by date. On start-up the server runs schema.sql and a migration check, so missing tables or columns are created automatically. Walk through the users table columns in the pgAdmin screenshot.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Anjal.
Run through the features: secure login and registration, dashboard, CRUD on every module, weekly goals with progress bars, the Progress page (weekly summary, activity breakdown by type, and recommendations that compare this week's totals with the user's goals), appointment scheduling, history pages and profile editing. The screenshot shows the Activities page — each entry's menu opens Edit and Delete, and the UI refreshes immediately after a change.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Rajib.
These are the real problems we hit, mostly when moving from localhost to the live deployment. 1) The frontend ignored failed responses, so a 500 looked like success — api.js now checks every response and shows the server's message. 2) The Render database had an old activities table with different columns and was missing others, causing 500 errors — the server now runs a migration on start-up that creates and repairs tables. 3) Dates moved by a day because PostgreSQL DATE values were converted using the server's time zone — dates are now returned as plain text and appointment times are sent in UTC. 4) The Hydration page hit an infinite fetch loop, fixed with a correct useEffect dependency array. 5) Deployment config: the API URL needed the /api path, CORS had to allow the Vercel domains, and the .env with secrets had been committed — config now comes from environment variables and .env is excluded from Git.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Rajib.
Functional tests covered registration, login, navigation, data entry and CRUD, plus API calls between layers with JWT on protected requests. Usability checks covered readable information, simple forms, clear navigation and responsiveness. Performance checks looked at API latency, repeated operations and mobile responsiveness. The results of the API tests are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Rajib.
Be upfront: there is no admin role, only weekly analytics, no offline mode and no wearable integration. The app records and displays data rather than doing complex health analysis. It is hosted on free tiers, so the API sleeps when idle and the first request after a pause can take 30–60 seconds. It has not yet been tested with a large group of real users.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Rajib.
Scalability: move to always-on hosting to remove cold starts, consider microservices, and paginate the history pages (the date indexes are already in place). Security: rate limiting, a stronger password policy, two-factor authentication, refresh tokens and httpOnly cookies instead of localStorage. Features: monthly analytics, goal charts, hydration/sleep/meditation/appointment reminders, and wearable integration to cut manual entry.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Prasana.
Summarise: a working full-stack tracker covering five modules on a three-tier architecture with seven PostgreSQL tables, deployed live on Vercel and Render, with 11 of 11 API test cases passing. Built collaboratively, secure and accessible, with a clear roadmap. Thank the audience and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list (APA 7th) — matches the report.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Rajib.
These are the API test cases we ran against the Express backend with a fresh PostgreSQL 16 database. All 11 passed. Point out that we tested failure cases too: invalid numbers and missing fields return 400, a bad or expired token returns 401, and unknown routes return a JSON 404. The last row checks the start-up migration against a database with the old table layout — the same problem we hit on Render. ESLint reports no errors across the React and Express code.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920240"/>
            <a:ext cx="5669280" cy="1463040"/>
          </a:xfrm>
          <a:prstGeom prst="rect">
            <a:avLst/>
          </a:prstGeom>
          <a:noFill/>
          <a:ln/>
        </p:spPr>
        <p:txBody>
          <a:bodyPr wrap="square" rtlCol="0"/>
          <a:lstStyle>
            <a:lvl1pPr marL="0" indent="0" algn="l">
              <a:buNone/>
              <a:defRPr lang="en-US" sz="4800" b="1" dirty="0">
                <a:solidFill>
                  <a:schemeClr val="bg1"/>
                </a:solidFill>
                <a:latin typeface="Arial" pitchFamily="34" charset="0"/>
                <a:ea typeface="Arial" pitchFamily="34" charset="-122"/>
                <a:cs typeface="Arial" pitchFamily="34" charset="-120"/>
              </a:defRPr>
            </a:lvl1pPr>
          </a:lstStyle>
          <a:p>
            <a:pPr marL="0" indent="0" algn="l">
              <a:buNone/>
            </a:pPr>
            <a:endParaRPr lang="en-US" sz="4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64240" cy="731520"/>
          </a:xfrm>
          <a:prstGeom prst="rect">
            <a:avLst/>
          </a:prstGeom>
          <a:noFill/>
          <a:ln/>
        </p:spPr>
        <p:txBody>
          <a:bodyPr wrap="square" rtlCol="0"/>
          <a:lstStyle>
            <a:lvl1pPr marL="0" indent="0" algn="l">
              <a:buNone/>
              <a:defRPr lang="en-US" sz="3400" b="1" dirty="0">
                <a:solidFill>
                  <a:schemeClr val="tx1"/>
                </a:solidFill>
                <a:latin typeface="Arial" pitchFamily="34" charset="0"/>
                <a:ea typeface="Arial" pitchFamily="34" charset="-122"/>
                <a:cs typeface="Arial" pitchFamily="34" charset="-120"/>
              </a:defRPr>
            </a:lvl1pPr>
          </a:lstStyle>
          <a:p>
            <a:pPr marL="0" indent="0" algn="l">
              <a:buNone/>
            </a:pPr>
            <a:endParaRPr lang="en-US" sz="3400" dirty="0"/>
          </a:p>
        </p:txBody>
      </p:sp>
      <p:sp>
        <p:nvSpPr>
          <p:cNvPr id="3" name="Text 0"/>
          <p:cNvSpPr/>
          <p:nvPr/>
        </p:nvSpPr>
        <p:spPr>
          <a:xfrm>
            <a:off x="548640" y="6382512"/>
            <a:ext cx="5486400" cy="274320"/>
          </a:xfrm>
          <a:prstGeom prst="rect">
            <a:avLst/>
          </a:prstGeom>
          <a:noFill/>
          <a:ln/>
        </p:spPr>
        <p:txBody>
          <a:bodyPr wrap="square" lIns="0" tIns="0" rIns="0" bIns="0" rtlCol="0" anchor="ctr"/>
          <a:lstStyle/>
          <a:p>
            <a:pPr marL="0" indent="0">
              <a:buNone/>
            </a:pPr>
            <a:r>
              <a:rPr lang="en-US" sz="1000" dirty="0">
                <a:solidFill>
                  <a:schemeClr val="accent6"/>
                </a:solidFill>
              </a:rPr>
              <a:t>Wellness Tracker  ·  ICT934 Assessment 3</a:t>
            </a:r>
            <a:endParaRPr lang="en-US" sz="1000" dirty="0"/>
          </a:p>
        </p:txBody>
      </p:sp>
      <p:sp>
        <p:nvSpPr>
          <p:cNvPr id="25" name="Slide Number Placeholder 0"/>
          <p:cNvSpPr>
            <a:spLocks noGrp="1"/>
          </p:cNvSpPr>
          <p:nvPr>
            <p:ph type="sldNum" sz="quarter" idx="4294967295"/>
          </p:nvPr>
        </p:nvSpPr>
        <p:spPr>
          <a:xfrm>
            <a:off x="11201400" y="6382512"/>
            <a:ext cx="41148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382512"/>
            <a:ext cx="41148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5.png"/><Relationship Id="rId7"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27.png"/><Relationship Id="rId4" Type="http://schemas.openxmlformats.org/officeDocument/2006/relationships/image" Target="../media/image26.png"/></Relationships>
</file>

<file path=ppt/slides/_rels/slide7.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30.png"/><Relationship Id="rId7" Type="http://schemas.openxmlformats.org/officeDocument/2006/relationships/image" Target="../media/image33.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6.png"/><Relationship Id="rId9" Type="http://schemas.openxmlformats.org/officeDocument/2006/relationships/image" Target="../media/image34.png"/></Relationships>
</file>

<file path=ppt/slides/_rels/slide8.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5.png"/><Relationship Id="rId7"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40.png"/><Relationship Id="rId7" Type="http://schemas.openxmlformats.org/officeDocument/2006/relationships/image" Target="../media/image42.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41.png"/><Relationship Id="rId5" Type="http://schemas.openxmlformats.org/officeDocument/2006/relationships/image" Target="../media/image11.png"/><Relationship Id="rId10" Type="http://schemas.openxmlformats.org/officeDocument/2006/relationships/image" Target="../media/image44.png"/><Relationship Id="rId4" Type="http://schemas.openxmlformats.org/officeDocument/2006/relationships/image" Target="../media/image26.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47.png"/><Relationship Id="rId4" Type="http://schemas.openxmlformats.org/officeDocument/2006/relationships/image" Target="../media/image46.png"/></Relationships>
</file>

<file path=ppt/slides/_rels/slide1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12.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1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58.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48.png"/><Relationship Id="rId1" Type="http://schemas.openxmlformats.org/officeDocument/2006/relationships/slideLayout" Target="../slideLayouts/slideLayout3.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 Id="rIdN1"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234440"/>
            <a:ext cx="5669280" cy="548640"/>
          </a:xfrm>
          <a:prstGeom prst="rect">
            <a:avLst/>
          </a:prstGeom>
          <a:noFill/>
          <a:ln/>
        </p:spPr>
        <p:txBody>
          <a:bodyPr wrap="square" lIns="0" tIns="0" rIns="0" bIns="0" rtlCol="0" anchor="t"/>
          <a:lstStyle/>
          <a:p>
            <a:pPr marL="0" indent="0">
              <a:buNone/>
            </a:pPr>
            <a:r>
              <a:rPr lang="en-US" sz="1200" b="1" kern="0" spc="100" dirty="0">
                <a:solidFill>
                  <a:schemeClr val="accent1"/>
                </a:solidFill>
              </a:rPr>
              <a:t>ICT934  ·  ASSESSMENT 3  ·  SEMESTER 2, 2026</a:t>
            </a:r>
            <a:endParaRPr lang="en-US" sz="1200" dirty="0"/>
          </a:p>
        </p:txBody>
      </p:sp>
      <p:sp>
        <p:nvSpPr>
          <p:cNvPr id="3" name="Text 0"/>
          <p:cNvSpPr>
            <a:spLocks noGrp="1"/>
          </p:cNvSpPr>
          <p:nvPr>
            <p:ph type="title" idx="100" hasCustomPrompt="1"/>
          </p:nvPr>
        </p:nvSpPr>
        <p:spPr>
          <a:xfrm>
            <a:off x="640080" y="1920240"/>
            <a:ext cx="5669280" cy="1463040"/>
          </a:xfrm>
          <a:prstGeom prst="rect">
            <a:avLst/>
          </a:prstGeom>
          <a:noFill/>
          <a:ln/>
        </p:spPr>
        <p:txBody>
          <a:bodyPr wrap="square" lIns="0" tIns="0" rIns="0" bIns="0" rtlCol="0" anchor="ctr"/>
          <a:lstStyle/>
          <a:p>
            <a:pPr marL="0" indent="0" algn="l">
              <a:buNone/>
            </a:pPr>
            <a:r>
              <a:rPr lang="en-US" sz="4800" b="1" dirty="0">
                <a:solidFill>
                  <a:schemeClr val="bg1"/>
                </a:solidFill>
                <a:latin typeface="Arial" pitchFamily="34" charset="0"/>
                <a:ea typeface="Arial" pitchFamily="34" charset="-122"/>
                <a:cs typeface="Arial" pitchFamily="34" charset="-120"/>
              </a:rPr>
              <a:t>Wellness Tracker</a:t>
            </a:r>
            <a:endParaRPr lang="en-US" sz="4800" dirty="0"/>
          </a:p>
        </p:txBody>
      </p:sp>
      <p:sp>
        <p:nvSpPr>
          <p:cNvPr id="4" name="Text 2"/>
          <p:cNvSpPr txBox="1"/>
          <p:nvPr/>
        </p:nvSpPr>
        <p:spPr>
          <a:xfrm>
            <a:off x="640080" y="3429000"/>
            <a:ext cx="5669280" cy="457200"/>
          </a:xfrm>
          <a:prstGeom prst="rect">
            <a:avLst/>
          </a:prstGeom>
          <a:noFill/>
          <a:ln/>
        </p:spPr>
        <p:txBody>
          <a:bodyPr wrap="square" lIns="0" tIns="0" rIns="0" bIns="0" rtlCol="0" anchor="t"/>
          <a:lstStyle/>
          <a:p>
            <a:pPr marL="0" indent="0">
              <a:buNone/>
            </a:pPr>
            <a:r>
              <a:rPr lang="en-US" sz="2000" dirty="0">
                <a:solidFill>
                  <a:schemeClr val="bg1"/>
                </a:solidFill>
              </a:rPr>
              <a:t>Full-Stack Web Application Development</a:t>
            </a:r>
            <a:endParaRPr lang="en-US" sz="2000" dirty="0"/>
          </a:p>
        </p:txBody>
      </p:sp>
      <p:sp>
        <p:nvSpPr>
          <p:cNvPr id="5" name="Text 3"/>
          <p:cNvSpPr txBox="1"/>
          <p:nvPr/>
        </p:nvSpPr>
        <p:spPr>
          <a:xfrm>
            <a:off x="640080" y="4343400"/>
            <a:ext cx="5029200" cy="530352"/>
          </a:xfrm>
          <a:prstGeom prst="rect">
            <a:avLst/>
          </a:prstGeom>
          <a:noFill/>
          <a:ln/>
        </p:spPr>
        <p:txBody>
          <a:bodyPr wrap="square" lIns="0" tIns="0" rIns="0" bIns="0" rtlCol="0" anchor="t"/>
          <a:lstStyle/>
          <a:p>
            <a:pPr marL="0" indent="0">
              <a:buNone/>
            </a:pPr>
            <a:r>
              <a:rPr lang="en-US" sz="1400" b="1" dirty="0">
                <a:solidFill>
                  <a:schemeClr val="bg1"/>
                </a:solidFill>
              </a:rPr>
              <a:t>Prasana Lal Shrestha</a:t>
            </a:r>
            <a:endParaRPr lang="en-US" sz="1400" dirty="0"/>
          </a:p>
          <a:p>
            <a:pPr marL="0" indent="0">
              <a:buNone/>
            </a:pPr>
            <a:r>
              <a:rPr lang="en-US" sz="1200" dirty="0">
                <a:solidFill>
                  <a:schemeClr val="accent6"/>
                </a:solidFill>
              </a:rPr>
              <a:t>Project Lead</a:t>
            </a:r>
            <a:endParaRPr lang="en-US" sz="1400" dirty="0"/>
          </a:p>
        </p:txBody>
      </p:sp>
      <p:sp>
        <p:nvSpPr>
          <p:cNvPr id="6" name="Text 4"/>
          <p:cNvSpPr txBox="1"/>
          <p:nvPr/>
        </p:nvSpPr>
        <p:spPr>
          <a:xfrm>
            <a:off x="640080" y="4910328"/>
            <a:ext cx="5029200" cy="530352"/>
          </a:xfrm>
          <a:prstGeom prst="rect">
            <a:avLst/>
          </a:prstGeom>
          <a:noFill/>
          <a:ln/>
        </p:spPr>
        <p:txBody>
          <a:bodyPr wrap="square" lIns="0" tIns="0" rIns="0" bIns="0" rtlCol="0" anchor="t"/>
          <a:lstStyle/>
          <a:p>
            <a:pPr marL="0" indent="0">
              <a:buNone/>
            </a:pPr>
            <a:r>
              <a:rPr lang="en-US" sz="1400" b="1" dirty="0">
                <a:solidFill>
                  <a:schemeClr val="bg1"/>
                </a:solidFill>
              </a:rPr>
              <a:t>Anjal Khadka</a:t>
            </a:r>
            <a:endParaRPr lang="en-US" sz="1400" dirty="0"/>
          </a:p>
          <a:p>
            <a:pPr marL="0" indent="0">
              <a:buNone/>
            </a:pPr>
            <a:r>
              <a:rPr lang="en-US" sz="1200" dirty="0">
                <a:solidFill>
                  <a:schemeClr val="accent6"/>
                </a:solidFill>
              </a:rPr>
              <a:t>Database &amp; Backend Integration</a:t>
            </a:r>
            <a:endParaRPr lang="en-US" sz="1400" dirty="0"/>
          </a:p>
        </p:txBody>
      </p:sp>
      <p:sp>
        <p:nvSpPr>
          <p:cNvPr id="7" name="Text 5"/>
          <p:cNvSpPr txBox="1"/>
          <p:nvPr/>
        </p:nvSpPr>
        <p:spPr>
          <a:xfrm>
            <a:off x="640080" y="5477256"/>
            <a:ext cx="5029200" cy="530352"/>
          </a:xfrm>
          <a:prstGeom prst="rect">
            <a:avLst/>
          </a:prstGeom>
          <a:noFill/>
          <a:ln/>
        </p:spPr>
        <p:txBody>
          <a:bodyPr wrap="square" lIns="0" tIns="0" rIns="0" bIns="0" rtlCol="0" anchor="t"/>
          <a:lstStyle/>
          <a:p>
            <a:pPr marL="0" indent="0">
              <a:buNone/>
            </a:pPr>
            <a:r>
              <a:rPr lang="en-US" sz="1400" b="1" dirty="0">
                <a:solidFill>
                  <a:schemeClr val="bg1"/>
                </a:solidFill>
              </a:rPr>
              <a:t>Rajib Adhikari</a:t>
            </a:r>
            <a:endParaRPr lang="en-US" sz="1400" dirty="0"/>
          </a:p>
          <a:p>
            <a:pPr marL="0" indent="0">
              <a:buNone/>
            </a:pPr>
            <a:r>
              <a:rPr lang="en-US" sz="1200" dirty="0">
                <a:solidFill>
                  <a:schemeClr val="accent6"/>
                </a:solidFill>
              </a:rPr>
              <a:t>Documentation &amp; Presentation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64240" cy="731520"/>
          </a:xfrm>
          <a:prstGeom prst="rect">
            <a:avLst/>
          </a:prstGeom>
          <a:noFill/>
          <a:ln/>
        </p:spPr>
        <p:txBody>
          <a:bodyPr wrap="square" lIns="0" tIns="0" rIns="0" bIns="0" rtlCol="0" anchor="ctr"/>
          <a:lstStyle/>
          <a:p>
            <a:pPr marL="0" indent="0" algn="l">
              <a:buNone/>
            </a:pPr>
            <a:r>
              <a:rPr lang="en-US" sz="3400" b="1" dirty="0">
                <a:solidFill>
                  <a:schemeClr val="tx1"/>
                </a:solidFill>
                <a:latin typeface="Arial" pitchFamily="34" charset="0"/>
                <a:ea typeface="Arial" pitchFamily="34" charset="-122"/>
                <a:cs typeface="Arial" pitchFamily="34" charset="-120"/>
              </a:rPr>
              <a:t>Project overview</a:t>
            </a:r>
            <a:endParaRPr lang="en-US" sz="3400" dirty="0"/>
          </a:p>
        </p:txBody>
      </p:sp>
      <p:sp>
        <p:nvSpPr>
          <p:cNvPr id="3" name="Text 1"/>
          <p:cNvSpPr txBox="1"/>
          <p:nvPr/>
        </p:nvSpPr>
        <p:spPr>
          <a:xfrm>
            <a:off x="548640" y="1143000"/>
            <a:ext cx="11064240" cy="365760"/>
          </a:xfrm>
          <a:prstGeom prst="rect">
            <a:avLst/>
          </a:prstGeom>
          <a:noFill/>
          <a:ln/>
        </p:spPr>
        <p:txBody>
          <a:bodyPr wrap="square" lIns="0" tIns="0" rIns="0" bIns="0" rtlCol="0" anchor="t"/>
          <a:lstStyle/>
          <a:p>
            <a:pPr marL="0" indent="0">
              <a:buNone/>
            </a:pPr>
            <a:r>
              <a:rPr lang="en-US" sz="1600" dirty="0">
                <a:solidFill>
                  <a:schemeClr val="accent6"/>
                </a:solidFill>
              </a:rPr>
              <a:t>One app to log and monitor five areas of daily wellness</a:t>
            </a:r>
            <a:endParaRPr lang="en-US" sz="1600" dirty="0"/>
          </a:p>
        </p:txBody>
      </p:sp>
      <p:sp>
        <p:nvSpPr>
          <p:cNvPr id="4" name="Hydration card"/>
          <p:cNvSpPr/>
          <p:nvPr/>
        </p:nvSpPr>
        <p:spPr>
          <a:xfrm>
            <a:off x="548640" y="1691640"/>
            <a:ext cx="2057400" cy="1691640"/>
          </a:xfrm>
          <a:prstGeom prst="roundRect">
            <a:avLst>
              <a:gd name="adj" fmla="val 6486"/>
            </a:avLst>
          </a:prstGeom>
          <a:solidFill>
            <a:schemeClr val="bg2"/>
          </a:solidFill>
          <a:ln w="12700">
            <a:solidFill>
              <a:schemeClr val="bg2"/>
            </a:solidFill>
            <a:prstDash val="solid"/>
          </a:ln>
        </p:spPr>
      </p:sp>
      <p:sp>
        <p:nvSpPr>
          <p:cNvPr id="5" name="Hydration circle"/>
          <p:cNvSpPr/>
          <p:nvPr/>
        </p:nvSpPr>
        <p:spPr>
          <a:xfrm>
            <a:off x="777240" y="1874520"/>
            <a:ext cx="594360" cy="594360"/>
          </a:xfrm>
          <a:prstGeom prst="ellipse">
            <a:avLst/>
          </a:prstGeom>
          <a:solidFill>
            <a:schemeClr val="accent3"/>
          </a:solidFill>
          <a:ln w="12700">
            <a:solidFill>
              <a:schemeClr val="accent3"/>
            </a:solidFill>
            <a:prstDash val="solid"/>
          </a:ln>
        </p:spPr>
      </p:sp>
      <p:pic>
        <p:nvPicPr>
          <p:cNvPr id="6" name="Hydration icon" descr="preencoded.png"/>
          <p:cNvPicPr>
            <a:picLocks noChangeAspect="1"/>
          </p:cNvPicPr>
          <p:nvPr/>
        </p:nvPicPr>
        <p:blipFill>
          <a:blip r:embed="rId3"/>
          <a:stretch>
            <a:fillRect/>
          </a:stretch>
        </p:blipFill>
        <p:spPr>
          <a:xfrm>
            <a:off x="931774" y="2029054"/>
            <a:ext cx="285293" cy="285293"/>
          </a:xfrm>
          <a:prstGeom prst="rect">
            <a:avLst/>
          </a:prstGeom>
        </p:spPr>
      </p:pic>
      <p:sp>
        <p:nvSpPr>
          <p:cNvPr id="7" name="Text 4"/>
          <p:cNvSpPr txBox="1"/>
          <p:nvPr/>
        </p:nvSpPr>
        <p:spPr>
          <a:xfrm>
            <a:off x="777240" y="2606040"/>
            <a:ext cx="1691640" cy="320040"/>
          </a:xfrm>
          <a:prstGeom prst="rect">
            <a:avLst/>
          </a:prstGeom>
          <a:noFill/>
          <a:ln/>
        </p:spPr>
        <p:txBody>
          <a:bodyPr wrap="square" lIns="0" tIns="0" rIns="0" bIns="0" rtlCol="0" anchor="t"/>
          <a:lstStyle/>
          <a:p>
            <a:pPr marL="0" indent="0">
              <a:buNone/>
            </a:pPr>
            <a:r>
              <a:rPr lang="en-US" sz="1600" b="1" dirty="0">
                <a:solidFill>
                  <a:schemeClr val="tx1"/>
                </a:solidFill>
              </a:rPr>
              <a:t>Hydration</a:t>
            </a:r>
            <a:endParaRPr lang="en-US" sz="1600" dirty="0"/>
          </a:p>
        </p:txBody>
      </p:sp>
      <p:sp>
        <p:nvSpPr>
          <p:cNvPr id="8" name="Text 5"/>
          <p:cNvSpPr txBox="1"/>
          <p:nvPr/>
        </p:nvSpPr>
        <p:spPr>
          <a:xfrm>
            <a:off x="777240" y="2926080"/>
            <a:ext cx="1691640" cy="365760"/>
          </a:xfrm>
          <a:prstGeom prst="rect">
            <a:avLst/>
          </a:prstGeom>
          <a:noFill/>
          <a:ln/>
        </p:spPr>
        <p:txBody>
          <a:bodyPr wrap="square" lIns="0" tIns="0" rIns="0" bIns="0" rtlCol="0" anchor="t"/>
          <a:lstStyle/>
          <a:p>
            <a:pPr marL="0" indent="0">
              <a:buNone/>
            </a:pPr>
            <a:r>
              <a:rPr lang="en-US" sz="1300" dirty="0">
                <a:solidFill>
                  <a:schemeClr val="tx2"/>
                </a:solidFill>
              </a:rPr>
              <a:t>Water intake in litres</a:t>
            </a:r>
            <a:endParaRPr lang="en-US" sz="1300" dirty="0"/>
          </a:p>
        </p:txBody>
      </p:sp>
      <p:sp>
        <p:nvSpPr>
          <p:cNvPr id="9" name="Sleep card"/>
          <p:cNvSpPr/>
          <p:nvPr/>
        </p:nvSpPr>
        <p:spPr>
          <a:xfrm>
            <a:off x="2800350" y="1691640"/>
            <a:ext cx="2057400" cy="1691640"/>
          </a:xfrm>
          <a:prstGeom prst="roundRect">
            <a:avLst>
              <a:gd name="adj" fmla="val 6486"/>
            </a:avLst>
          </a:prstGeom>
          <a:solidFill>
            <a:schemeClr val="bg2"/>
          </a:solidFill>
          <a:ln w="12700">
            <a:solidFill>
              <a:schemeClr val="bg2"/>
            </a:solidFill>
            <a:prstDash val="solid"/>
          </a:ln>
        </p:spPr>
      </p:sp>
      <p:sp>
        <p:nvSpPr>
          <p:cNvPr id="10" name="Sleep circle"/>
          <p:cNvSpPr/>
          <p:nvPr/>
        </p:nvSpPr>
        <p:spPr>
          <a:xfrm>
            <a:off x="3028950" y="1874520"/>
            <a:ext cx="594360" cy="594360"/>
          </a:xfrm>
          <a:prstGeom prst="ellipse">
            <a:avLst/>
          </a:prstGeom>
          <a:solidFill>
            <a:schemeClr val="accent4"/>
          </a:solidFill>
          <a:ln w="12700">
            <a:solidFill>
              <a:schemeClr val="accent4"/>
            </a:solidFill>
            <a:prstDash val="solid"/>
          </a:ln>
        </p:spPr>
      </p:sp>
      <p:pic>
        <p:nvPicPr>
          <p:cNvPr id="11" name="Sleep icon" descr="preencoded.png"/>
          <p:cNvPicPr>
            <a:picLocks noChangeAspect="1"/>
          </p:cNvPicPr>
          <p:nvPr/>
        </p:nvPicPr>
        <p:blipFill>
          <a:blip r:embed="rId4"/>
          <a:stretch>
            <a:fillRect/>
          </a:stretch>
        </p:blipFill>
        <p:spPr>
          <a:xfrm>
            <a:off x="3183484" y="2029054"/>
            <a:ext cx="285293" cy="285293"/>
          </a:xfrm>
          <a:prstGeom prst="rect">
            <a:avLst/>
          </a:prstGeom>
        </p:spPr>
      </p:pic>
      <p:sp>
        <p:nvSpPr>
          <p:cNvPr id="12" name="Text 8"/>
          <p:cNvSpPr txBox="1"/>
          <p:nvPr/>
        </p:nvSpPr>
        <p:spPr>
          <a:xfrm>
            <a:off x="3028950" y="2606040"/>
            <a:ext cx="1691640" cy="320040"/>
          </a:xfrm>
          <a:prstGeom prst="rect">
            <a:avLst/>
          </a:prstGeom>
          <a:noFill/>
          <a:ln/>
        </p:spPr>
        <p:txBody>
          <a:bodyPr wrap="square" lIns="0" tIns="0" rIns="0" bIns="0" rtlCol="0" anchor="t"/>
          <a:lstStyle/>
          <a:p>
            <a:pPr marL="0" indent="0">
              <a:buNone/>
            </a:pPr>
            <a:r>
              <a:rPr lang="en-US" sz="1600" b="1" dirty="0">
                <a:solidFill>
                  <a:schemeClr val="tx1"/>
                </a:solidFill>
              </a:rPr>
              <a:t>Sleep</a:t>
            </a:r>
            <a:endParaRPr lang="en-US" sz="1600" dirty="0"/>
          </a:p>
        </p:txBody>
      </p:sp>
      <p:sp>
        <p:nvSpPr>
          <p:cNvPr id="13" name="Text 9"/>
          <p:cNvSpPr txBox="1"/>
          <p:nvPr/>
        </p:nvSpPr>
        <p:spPr>
          <a:xfrm>
            <a:off x="3028950" y="2926080"/>
            <a:ext cx="1691640" cy="365760"/>
          </a:xfrm>
          <a:prstGeom prst="rect">
            <a:avLst/>
          </a:prstGeom>
          <a:noFill/>
          <a:ln/>
        </p:spPr>
        <p:txBody>
          <a:bodyPr wrap="square" lIns="0" tIns="0" rIns="0" bIns="0" rtlCol="0" anchor="t"/>
          <a:lstStyle/>
          <a:p>
            <a:pPr marL="0" indent="0">
              <a:buNone/>
            </a:pPr>
            <a:r>
              <a:rPr lang="en-US" sz="1300" dirty="0">
                <a:solidFill>
                  <a:schemeClr val="tx2"/>
                </a:solidFill>
              </a:rPr>
              <a:t>Hours slept per night</a:t>
            </a:r>
            <a:endParaRPr lang="en-US" sz="1300" dirty="0"/>
          </a:p>
        </p:txBody>
      </p:sp>
      <p:sp>
        <p:nvSpPr>
          <p:cNvPr id="14" name="Meditation card"/>
          <p:cNvSpPr/>
          <p:nvPr/>
        </p:nvSpPr>
        <p:spPr>
          <a:xfrm>
            <a:off x="5052060" y="1691640"/>
            <a:ext cx="2057400" cy="1691640"/>
          </a:xfrm>
          <a:prstGeom prst="roundRect">
            <a:avLst>
              <a:gd name="adj" fmla="val 6486"/>
            </a:avLst>
          </a:prstGeom>
          <a:solidFill>
            <a:schemeClr val="bg2"/>
          </a:solidFill>
          <a:ln w="12700">
            <a:solidFill>
              <a:schemeClr val="bg2"/>
            </a:solidFill>
            <a:prstDash val="solid"/>
          </a:ln>
        </p:spPr>
      </p:sp>
      <p:sp>
        <p:nvSpPr>
          <p:cNvPr id="15" name="Meditation circle"/>
          <p:cNvSpPr/>
          <p:nvPr/>
        </p:nvSpPr>
        <p:spPr>
          <a:xfrm>
            <a:off x="5280660" y="1874520"/>
            <a:ext cx="594360" cy="594360"/>
          </a:xfrm>
          <a:prstGeom prst="ellipse">
            <a:avLst/>
          </a:prstGeom>
          <a:solidFill>
            <a:schemeClr val="accent2"/>
          </a:solidFill>
          <a:ln w="12700">
            <a:solidFill>
              <a:schemeClr val="accent2"/>
            </a:solidFill>
            <a:prstDash val="solid"/>
          </a:ln>
        </p:spPr>
      </p:sp>
      <p:pic>
        <p:nvPicPr>
          <p:cNvPr id="16" name="Meditation icon" descr="preencoded.png"/>
          <p:cNvPicPr>
            <a:picLocks noChangeAspect="1"/>
          </p:cNvPicPr>
          <p:nvPr/>
        </p:nvPicPr>
        <p:blipFill>
          <a:blip r:embed="rId5"/>
          <a:stretch>
            <a:fillRect/>
          </a:stretch>
        </p:blipFill>
        <p:spPr>
          <a:xfrm>
            <a:off x="5435194" y="2029054"/>
            <a:ext cx="285293" cy="285293"/>
          </a:xfrm>
          <a:prstGeom prst="rect">
            <a:avLst/>
          </a:prstGeom>
        </p:spPr>
      </p:pic>
      <p:sp>
        <p:nvSpPr>
          <p:cNvPr id="17" name="Text 12"/>
          <p:cNvSpPr txBox="1"/>
          <p:nvPr/>
        </p:nvSpPr>
        <p:spPr>
          <a:xfrm>
            <a:off x="5280660" y="2606040"/>
            <a:ext cx="1691640" cy="320040"/>
          </a:xfrm>
          <a:prstGeom prst="rect">
            <a:avLst/>
          </a:prstGeom>
          <a:noFill/>
          <a:ln/>
        </p:spPr>
        <p:txBody>
          <a:bodyPr wrap="square" lIns="0" tIns="0" rIns="0" bIns="0" rtlCol="0" anchor="t"/>
          <a:lstStyle/>
          <a:p>
            <a:pPr marL="0" indent="0">
              <a:buNone/>
            </a:pPr>
            <a:r>
              <a:rPr lang="en-US" sz="1600" b="1" dirty="0">
                <a:solidFill>
                  <a:schemeClr val="tx1"/>
                </a:solidFill>
              </a:rPr>
              <a:t>Meditation</a:t>
            </a:r>
            <a:endParaRPr lang="en-US" sz="1600" dirty="0"/>
          </a:p>
        </p:txBody>
      </p:sp>
      <p:sp>
        <p:nvSpPr>
          <p:cNvPr id="18" name="Text 13"/>
          <p:cNvSpPr txBox="1"/>
          <p:nvPr/>
        </p:nvSpPr>
        <p:spPr>
          <a:xfrm>
            <a:off x="5280660" y="2926080"/>
            <a:ext cx="1691640" cy="365760"/>
          </a:xfrm>
          <a:prstGeom prst="rect">
            <a:avLst/>
          </a:prstGeom>
          <a:noFill/>
          <a:ln/>
        </p:spPr>
        <p:txBody>
          <a:bodyPr wrap="square" lIns="0" tIns="0" rIns="0" bIns="0" rtlCol="0" anchor="t"/>
          <a:lstStyle/>
          <a:p>
            <a:pPr marL="0" indent="0">
              <a:buNone/>
            </a:pPr>
            <a:r>
              <a:rPr lang="en-US" sz="1300" dirty="0">
                <a:solidFill>
                  <a:schemeClr val="tx2"/>
                </a:solidFill>
              </a:rPr>
              <a:t>Minutes per session</a:t>
            </a:r>
            <a:endParaRPr lang="en-US" sz="1300" dirty="0"/>
          </a:p>
        </p:txBody>
      </p:sp>
      <p:sp>
        <p:nvSpPr>
          <p:cNvPr id="19" name="Activity card"/>
          <p:cNvSpPr/>
          <p:nvPr/>
        </p:nvSpPr>
        <p:spPr>
          <a:xfrm>
            <a:off x="7303770" y="1691640"/>
            <a:ext cx="2057400" cy="1691640"/>
          </a:xfrm>
          <a:prstGeom prst="roundRect">
            <a:avLst>
              <a:gd name="adj" fmla="val 6486"/>
            </a:avLst>
          </a:prstGeom>
          <a:solidFill>
            <a:schemeClr val="bg2"/>
          </a:solidFill>
          <a:ln w="12700">
            <a:solidFill>
              <a:schemeClr val="bg2"/>
            </a:solidFill>
            <a:prstDash val="solid"/>
          </a:ln>
        </p:spPr>
      </p:sp>
      <p:sp>
        <p:nvSpPr>
          <p:cNvPr id="20" name="Activity circle"/>
          <p:cNvSpPr/>
          <p:nvPr/>
        </p:nvSpPr>
        <p:spPr>
          <a:xfrm>
            <a:off x="7532370" y="1874520"/>
            <a:ext cx="594360" cy="594360"/>
          </a:xfrm>
          <a:prstGeom prst="ellipse">
            <a:avLst/>
          </a:prstGeom>
          <a:solidFill>
            <a:schemeClr val="accent1"/>
          </a:solidFill>
          <a:ln w="12700">
            <a:solidFill>
              <a:schemeClr val="accent1"/>
            </a:solidFill>
            <a:prstDash val="solid"/>
          </a:ln>
        </p:spPr>
      </p:sp>
      <p:pic>
        <p:nvPicPr>
          <p:cNvPr id="21" name="Activity icon" descr="preencoded.png"/>
          <p:cNvPicPr>
            <a:picLocks noChangeAspect="1"/>
          </p:cNvPicPr>
          <p:nvPr/>
        </p:nvPicPr>
        <p:blipFill>
          <a:blip r:embed="rId6"/>
          <a:stretch>
            <a:fillRect/>
          </a:stretch>
        </p:blipFill>
        <p:spPr>
          <a:xfrm>
            <a:off x="7686904" y="2029054"/>
            <a:ext cx="285293" cy="285293"/>
          </a:xfrm>
          <a:prstGeom prst="rect">
            <a:avLst/>
          </a:prstGeom>
        </p:spPr>
      </p:pic>
      <p:sp>
        <p:nvSpPr>
          <p:cNvPr id="22" name="Text 16"/>
          <p:cNvSpPr txBox="1"/>
          <p:nvPr/>
        </p:nvSpPr>
        <p:spPr>
          <a:xfrm>
            <a:off x="7532370" y="2606040"/>
            <a:ext cx="1691640" cy="320040"/>
          </a:xfrm>
          <a:prstGeom prst="rect">
            <a:avLst/>
          </a:prstGeom>
          <a:noFill/>
          <a:ln/>
        </p:spPr>
        <p:txBody>
          <a:bodyPr wrap="square" lIns="0" tIns="0" rIns="0" bIns="0" rtlCol="0" anchor="t"/>
          <a:lstStyle/>
          <a:p>
            <a:pPr marL="0" indent="0">
              <a:buNone/>
            </a:pPr>
            <a:r>
              <a:rPr lang="en-US" sz="1600" b="1" dirty="0">
                <a:solidFill>
                  <a:schemeClr val="tx1"/>
                </a:solidFill>
              </a:rPr>
              <a:t>Activity</a:t>
            </a:r>
            <a:endParaRPr lang="en-US" sz="1600" dirty="0"/>
          </a:p>
        </p:txBody>
      </p:sp>
      <p:sp>
        <p:nvSpPr>
          <p:cNvPr id="23" name="Text 17"/>
          <p:cNvSpPr txBox="1"/>
          <p:nvPr/>
        </p:nvSpPr>
        <p:spPr>
          <a:xfrm>
            <a:off x="7532370" y="2926080"/>
            <a:ext cx="1691640" cy="365760"/>
          </a:xfrm>
          <a:prstGeom prst="rect">
            <a:avLst/>
          </a:prstGeom>
          <a:noFill/>
          <a:ln/>
        </p:spPr>
        <p:txBody>
          <a:bodyPr wrap="square" lIns="0" tIns="0" rIns="0" bIns="0" rtlCol="0" anchor="t"/>
          <a:lstStyle/>
          <a:p>
            <a:pPr marL="0" indent="0">
              <a:buNone/>
            </a:pPr>
            <a:r>
              <a:rPr lang="en-US" sz="1300" dirty="0">
                <a:solidFill>
                  <a:schemeClr val="tx2"/>
                </a:solidFill>
              </a:rPr>
              <a:t>Exercise type &amp; minutes</a:t>
            </a:r>
            <a:endParaRPr lang="en-US" sz="1300" dirty="0"/>
          </a:p>
        </p:txBody>
      </p:sp>
      <p:sp>
        <p:nvSpPr>
          <p:cNvPr id="24" name="Appointments card"/>
          <p:cNvSpPr/>
          <p:nvPr/>
        </p:nvSpPr>
        <p:spPr>
          <a:xfrm>
            <a:off x="9555480" y="1691640"/>
            <a:ext cx="2057400" cy="1691640"/>
          </a:xfrm>
          <a:prstGeom prst="roundRect">
            <a:avLst>
              <a:gd name="adj" fmla="val 6486"/>
            </a:avLst>
          </a:prstGeom>
          <a:solidFill>
            <a:schemeClr val="bg2"/>
          </a:solidFill>
          <a:ln w="12700">
            <a:solidFill>
              <a:schemeClr val="bg2"/>
            </a:solidFill>
            <a:prstDash val="solid"/>
          </a:ln>
        </p:spPr>
      </p:sp>
      <p:sp>
        <p:nvSpPr>
          <p:cNvPr id="25" name="Appointments circle"/>
          <p:cNvSpPr/>
          <p:nvPr/>
        </p:nvSpPr>
        <p:spPr>
          <a:xfrm>
            <a:off x="9784080" y="1874520"/>
            <a:ext cx="594360" cy="594360"/>
          </a:xfrm>
          <a:prstGeom prst="ellipse">
            <a:avLst/>
          </a:prstGeom>
          <a:solidFill>
            <a:schemeClr val="accent5"/>
          </a:solidFill>
          <a:ln w="12700">
            <a:solidFill>
              <a:schemeClr val="accent5"/>
            </a:solidFill>
            <a:prstDash val="solid"/>
          </a:ln>
        </p:spPr>
      </p:sp>
      <p:pic>
        <p:nvPicPr>
          <p:cNvPr id="26" name="Appointments icon" descr="preencoded.png"/>
          <p:cNvPicPr>
            <a:picLocks noChangeAspect="1"/>
          </p:cNvPicPr>
          <p:nvPr/>
        </p:nvPicPr>
        <p:blipFill>
          <a:blip r:embed="rId7"/>
          <a:stretch>
            <a:fillRect/>
          </a:stretch>
        </p:blipFill>
        <p:spPr>
          <a:xfrm>
            <a:off x="9938614" y="2029054"/>
            <a:ext cx="285293" cy="285293"/>
          </a:xfrm>
          <a:prstGeom prst="rect">
            <a:avLst/>
          </a:prstGeom>
        </p:spPr>
      </p:pic>
      <p:sp>
        <p:nvSpPr>
          <p:cNvPr id="27" name="Text 20"/>
          <p:cNvSpPr txBox="1"/>
          <p:nvPr/>
        </p:nvSpPr>
        <p:spPr>
          <a:xfrm>
            <a:off x="9784080" y="2606040"/>
            <a:ext cx="1691640" cy="320040"/>
          </a:xfrm>
          <a:prstGeom prst="rect">
            <a:avLst/>
          </a:prstGeom>
          <a:noFill/>
          <a:ln/>
        </p:spPr>
        <p:txBody>
          <a:bodyPr wrap="square" lIns="0" tIns="0" rIns="0" bIns="0" rtlCol="0" anchor="t"/>
          <a:lstStyle/>
          <a:p>
            <a:pPr marL="0" indent="0">
              <a:buNone/>
            </a:pPr>
            <a:r>
              <a:rPr lang="en-US" sz="1600" b="1" dirty="0">
                <a:solidFill>
                  <a:schemeClr val="tx1"/>
                </a:solidFill>
              </a:rPr>
              <a:t>Appointments</a:t>
            </a:r>
            <a:endParaRPr lang="en-US" sz="1600" dirty="0"/>
          </a:p>
        </p:txBody>
      </p:sp>
      <p:sp>
        <p:nvSpPr>
          <p:cNvPr id="28" name="Text 21"/>
          <p:cNvSpPr txBox="1"/>
          <p:nvPr/>
        </p:nvSpPr>
        <p:spPr>
          <a:xfrm>
            <a:off x="9784080" y="2926080"/>
            <a:ext cx="1691640" cy="365760"/>
          </a:xfrm>
          <a:prstGeom prst="rect">
            <a:avLst/>
          </a:prstGeom>
          <a:noFill/>
          <a:ln/>
        </p:spPr>
        <p:txBody>
          <a:bodyPr wrap="square" lIns="0" tIns="0" rIns="0" bIns="0" rtlCol="0" anchor="t"/>
          <a:lstStyle/>
          <a:p>
            <a:pPr marL="0" indent="0">
              <a:buNone/>
            </a:pPr>
            <a:r>
              <a:rPr lang="en-US" sz="1300" dirty="0">
                <a:solidFill>
                  <a:schemeClr val="tx2"/>
                </a:solidFill>
              </a:rPr>
              <a:t>Upcoming health visits</a:t>
            </a:r>
            <a:endParaRPr lang="en-US" sz="1300" dirty="0"/>
          </a:p>
        </p:txBody>
      </p:sp>
      <p:sp>
        <p:nvSpPr>
          <p:cNvPr id="29" name="Text 22"/>
          <p:cNvSpPr txBox="1"/>
          <p:nvPr/>
        </p:nvSpPr>
        <p:spPr>
          <a:xfrm>
            <a:off x="548640" y="3703320"/>
            <a:ext cx="3657600" cy="274320"/>
          </a:xfrm>
          <a:prstGeom prst="rect">
            <a:avLst/>
          </a:prstGeom>
          <a:noFill/>
          <a:ln/>
        </p:spPr>
        <p:txBody>
          <a:bodyPr wrap="square" lIns="0" tIns="0" rIns="0" bIns="0" rtlCol="0" anchor="t"/>
          <a:lstStyle/>
          <a:p>
            <a:pPr marL="0" indent="0">
              <a:buNone/>
            </a:pPr>
            <a:r>
              <a:rPr lang="en-US" sz="1200" b="1" kern="0" spc="100" dirty="0">
                <a:solidFill>
                  <a:schemeClr val="accent1"/>
                </a:solidFill>
              </a:rPr>
              <a:t>OUR JOURNEY</a:t>
            </a:r>
            <a:endParaRPr lang="en-US" sz="1200" dirty="0"/>
          </a:p>
        </p:txBody>
      </p:sp>
      <p:sp>
        <p:nvSpPr>
          <p:cNvPr id="30" name="Step 01"/>
          <p:cNvSpPr/>
          <p:nvPr/>
        </p:nvSpPr>
        <p:spPr>
          <a:xfrm>
            <a:off x="548640" y="4069080"/>
            <a:ext cx="3429000" cy="1828800"/>
          </a:xfrm>
          <a:prstGeom prst="roundRect">
            <a:avLst>
              <a:gd name="adj" fmla="val 6000"/>
            </a:avLst>
          </a:prstGeom>
          <a:solidFill>
            <a:schemeClr val="bg1"/>
          </a:solidFill>
          <a:ln w="12700">
            <a:solidFill>
              <a:schemeClr val="bg1"/>
            </a:solidFill>
            <a:prstDash val="solid"/>
          </a:ln>
          <a:effectLst>
            <a:outerShdw blurRad="101600" dist="25400" dir="5400000" algn="bl" rotWithShape="0">
              <a:srgbClr val="1E2633">
                <a:alpha val="12000"/>
              </a:srgbClr>
            </a:outerShdw>
          </a:effectLst>
        </p:spPr>
      </p:sp>
      <p:sp>
        <p:nvSpPr>
          <p:cNvPr id="31" name="Text 24"/>
          <p:cNvSpPr txBox="1"/>
          <p:nvPr/>
        </p:nvSpPr>
        <p:spPr>
          <a:xfrm>
            <a:off x="822960" y="4251960"/>
            <a:ext cx="731520" cy="457200"/>
          </a:xfrm>
          <a:prstGeom prst="rect">
            <a:avLst/>
          </a:prstGeom>
          <a:noFill/>
          <a:ln/>
        </p:spPr>
        <p:txBody>
          <a:bodyPr wrap="square" lIns="0" tIns="0" rIns="0" bIns="0" rtlCol="0" anchor="t"/>
          <a:lstStyle/>
          <a:p>
            <a:pPr marL="0" indent="0">
              <a:buNone/>
            </a:pPr>
            <a:r>
              <a:rPr lang="en-US" sz="2600" b="1" dirty="0">
                <a:solidFill>
                  <a:schemeClr val="accent1"/>
                </a:solidFill>
                <a:latin typeface="Arial" pitchFamily="34" charset="0"/>
                <a:ea typeface="Arial" pitchFamily="34" charset="-122"/>
                <a:cs typeface="Arial" pitchFamily="34" charset="-120"/>
              </a:rPr>
              <a:t>01</a:t>
            </a:r>
            <a:endParaRPr lang="en-US" sz="2600" dirty="0"/>
          </a:p>
        </p:txBody>
      </p:sp>
      <p:sp>
        <p:nvSpPr>
          <p:cNvPr id="32" name="Text 25"/>
          <p:cNvSpPr txBox="1"/>
          <p:nvPr/>
        </p:nvSpPr>
        <p:spPr>
          <a:xfrm>
            <a:off x="1554480" y="4315968"/>
            <a:ext cx="2240280" cy="365760"/>
          </a:xfrm>
          <a:prstGeom prst="rect">
            <a:avLst/>
          </a:prstGeom>
          <a:noFill/>
          <a:ln/>
        </p:spPr>
        <p:txBody>
          <a:bodyPr wrap="square" lIns="0" tIns="0" rIns="0" bIns="0" rtlCol="0" anchor="t"/>
          <a:lstStyle/>
          <a:p>
            <a:pPr marL="0" indent="0">
              <a:buNone/>
            </a:pPr>
            <a:r>
              <a:rPr lang="en-US" sz="1600" b="1" dirty="0">
                <a:solidFill>
                  <a:schemeClr val="tx1"/>
                </a:solidFill>
              </a:rPr>
              <a:t>Assessment 2</a:t>
            </a:r>
            <a:endParaRPr lang="en-US" sz="1600" dirty="0"/>
          </a:p>
        </p:txBody>
      </p:sp>
      <p:sp>
        <p:nvSpPr>
          <p:cNvPr id="33" name="Text 26"/>
          <p:cNvSpPr txBox="1"/>
          <p:nvPr/>
        </p:nvSpPr>
        <p:spPr>
          <a:xfrm>
            <a:off x="822960" y="4846320"/>
            <a:ext cx="2880360" cy="914400"/>
          </a:xfrm>
          <a:prstGeom prst="rect">
            <a:avLst/>
          </a:prstGeom>
          <a:noFill/>
          <a:ln/>
        </p:spPr>
        <p:txBody>
          <a:bodyPr wrap="square" lIns="0" tIns="0" rIns="0" bIns="0" rtlCol="0" anchor="t"/>
          <a:lstStyle/>
          <a:p>
            <a:pPr marL="0" indent="0">
              <a:buNone/>
            </a:pPr>
            <a:r>
              <a:rPr lang="en-US" sz="1400" dirty="0">
                <a:solidFill>
                  <a:schemeClr val="tx2"/>
                </a:solidFill>
              </a:rPr>
              <a:t>Frontend-only React prototype with pages, forms and navigation</a:t>
            </a:r>
            <a:endParaRPr lang="en-US" sz="1400" dirty="0"/>
          </a:p>
        </p:txBody>
      </p:sp>
      <p:pic>
        <p:nvPicPr>
          <p:cNvPr id="34" name="Image 5" descr="preencoded.png"/>
          <p:cNvPicPr>
            <a:picLocks noChangeAspect="1"/>
          </p:cNvPicPr>
          <p:nvPr/>
        </p:nvPicPr>
        <p:blipFill>
          <a:blip r:embed="rId8"/>
          <a:stretch>
            <a:fillRect/>
          </a:stretch>
        </p:blipFill>
        <p:spPr>
          <a:xfrm>
            <a:off x="4069080" y="4846320"/>
            <a:ext cx="201168" cy="274320"/>
          </a:xfrm>
          <a:prstGeom prst="rect">
            <a:avLst/>
          </a:prstGeom>
        </p:spPr>
      </p:pic>
      <p:sp>
        <p:nvSpPr>
          <p:cNvPr id="35" name="Step 02"/>
          <p:cNvSpPr/>
          <p:nvPr/>
        </p:nvSpPr>
        <p:spPr>
          <a:xfrm>
            <a:off x="4366260" y="4069080"/>
            <a:ext cx="3429000" cy="1828800"/>
          </a:xfrm>
          <a:prstGeom prst="roundRect">
            <a:avLst>
              <a:gd name="adj" fmla="val 6000"/>
            </a:avLst>
          </a:prstGeom>
          <a:solidFill>
            <a:schemeClr val="bg1"/>
          </a:solidFill>
          <a:ln w="12700">
            <a:solidFill>
              <a:schemeClr val="bg1"/>
            </a:solidFill>
            <a:prstDash val="solid"/>
          </a:ln>
          <a:effectLst>
            <a:outerShdw blurRad="101600" dist="25400" dir="5400000" algn="bl" rotWithShape="0">
              <a:srgbClr val="1E2633">
                <a:alpha val="12000"/>
              </a:srgbClr>
            </a:outerShdw>
          </a:effectLst>
        </p:spPr>
      </p:sp>
      <p:sp>
        <p:nvSpPr>
          <p:cNvPr id="36" name="Text 28"/>
          <p:cNvSpPr txBox="1"/>
          <p:nvPr/>
        </p:nvSpPr>
        <p:spPr>
          <a:xfrm>
            <a:off x="4640580" y="4251960"/>
            <a:ext cx="731520" cy="457200"/>
          </a:xfrm>
          <a:prstGeom prst="rect">
            <a:avLst/>
          </a:prstGeom>
          <a:noFill/>
          <a:ln/>
        </p:spPr>
        <p:txBody>
          <a:bodyPr wrap="square" lIns="0" tIns="0" rIns="0" bIns="0" rtlCol="0" anchor="t"/>
          <a:lstStyle/>
          <a:p>
            <a:pPr marL="0" indent="0">
              <a:buNone/>
            </a:pPr>
            <a:r>
              <a:rPr lang="en-US" sz="2600" b="1" dirty="0">
                <a:solidFill>
                  <a:schemeClr val="accent1"/>
                </a:solidFill>
                <a:latin typeface="Arial" pitchFamily="34" charset="0"/>
                <a:ea typeface="Arial" pitchFamily="34" charset="-122"/>
                <a:cs typeface="Arial" pitchFamily="34" charset="-120"/>
              </a:rPr>
              <a:t>02</a:t>
            </a:r>
            <a:endParaRPr lang="en-US" sz="2600" dirty="0"/>
          </a:p>
        </p:txBody>
      </p:sp>
      <p:sp>
        <p:nvSpPr>
          <p:cNvPr id="37" name="Text 29"/>
          <p:cNvSpPr txBox="1"/>
          <p:nvPr/>
        </p:nvSpPr>
        <p:spPr>
          <a:xfrm>
            <a:off x="5372100" y="4315968"/>
            <a:ext cx="2240280" cy="365760"/>
          </a:xfrm>
          <a:prstGeom prst="rect">
            <a:avLst/>
          </a:prstGeom>
          <a:noFill/>
          <a:ln/>
        </p:spPr>
        <p:txBody>
          <a:bodyPr wrap="square" lIns="0" tIns="0" rIns="0" bIns="0" rtlCol="0" anchor="t"/>
          <a:lstStyle/>
          <a:p>
            <a:pPr marL="0" indent="0">
              <a:buNone/>
            </a:pPr>
            <a:r>
              <a:rPr lang="en-US" sz="1600" b="1" dirty="0">
                <a:solidFill>
                  <a:schemeClr val="tx1"/>
                </a:solidFill>
              </a:rPr>
              <a:t>Assessment 3</a:t>
            </a:r>
            <a:endParaRPr lang="en-US" sz="1600" dirty="0"/>
          </a:p>
        </p:txBody>
      </p:sp>
      <p:sp>
        <p:nvSpPr>
          <p:cNvPr id="38" name="Text 30"/>
          <p:cNvSpPr txBox="1"/>
          <p:nvPr/>
        </p:nvSpPr>
        <p:spPr>
          <a:xfrm>
            <a:off x="4640580" y="4846320"/>
            <a:ext cx="2880360" cy="914400"/>
          </a:xfrm>
          <a:prstGeom prst="rect">
            <a:avLst/>
          </a:prstGeom>
          <a:noFill/>
          <a:ln/>
        </p:spPr>
        <p:txBody>
          <a:bodyPr wrap="square" lIns="0" tIns="0" rIns="0" bIns="0" rtlCol="0" anchor="t"/>
          <a:lstStyle/>
          <a:p>
            <a:pPr marL="0" indent="0">
              <a:buNone/>
            </a:pPr>
            <a:r>
              <a:rPr lang="en-US" sz="1400" dirty="0">
                <a:solidFill>
                  <a:schemeClr val="tx2"/>
                </a:solidFill>
              </a:rPr>
              <a:t>Expanded to full-stack: Node.js + Express API and PostgreSQL database</a:t>
            </a:r>
            <a:endParaRPr lang="en-US" sz="1400" dirty="0"/>
          </a:p>
        </p:txBody>
      </p:sp>
      <p:pic>
        <p:nvPicPr>
          <p:cNvPr id="39" name="Image 6" descr="preencoded.png"/>
          <p:cNvPicPr>
            <a:picLocks noChangeAspect="1"/>
          </p:cNvPicPr>
          <p:nvPr/>
        </p:nvPicPr>
        <p:blipFill>
          <a:blip r:embed="rId8"/>
          <a:stretch>
            <a:fillRect/>
          </a:stretch>
        </p:blipFill>
        <p:spPr>
          <a:xfrm>
            <a:off x="7886700" y="4846320"/>
            <a:ext cx="201168" cy="274320"/>
          </a:xfrm>
          <a:prstGeom prst="rect">
            <a:avLst/>
          </a:prstGeom>
        </p:spPr>
      </p:pic>
      <p:sp>
        <p:nvSpPr>
          <p:cNvPr id="40" name="Step 03"/>
          <p:cNvSpPr/>
          <p:nvPr/>
        </p:nvSpPr>
        <p:spPr>
          <a:xfrm>
            <a:off x="8183880" y="4069080"/>
            <a:ext cx="3429000" cy="1828800"/>
          </a:xfrm>
          <a:prstGeom prst="roundRect">
            <a:avLst>
              <a:gd name="adj" fmla="val 6000"/>
            </a:avLst>
          </a:prstGeom>
          <a:solidFill>
            <a:schemeClr val="bg1"/>
          </a:solidFill>
          <a:ln w="12700">
            <a:solidFill>
              <a:schemeClr val="bg1"/>
            </a:solidFill>
            <a:prstDash val="solid"/>
          </a:ln>
          <a:effectLst>
            <a:outerShdw blurRad="101600" dist="25400" dir="5400000" algn="bl" rotWithShape="0">
              <a:srgbClr val="1E2633">
                <a:alpha val="12000"/>
              </a:srgbClr>
            </a:outerShdw>
          </a:effectLst>
        </p:spPr>
      </p:sp>
      <p:sp>
        <p:nvSpPr>
          <p:cNvPr id="41" name="Text 32"/>
          <p:cNvSpPr txBox="1"/>
          <p:nvPr/>
        </p:nvSpPr>
        <p:spPr>
          <a:xfrm>
            <a:off x="8458200" y="4251960"/>
            <a:ext cx="731520" cy="457200"/>
          </a:xfrm>
          <a:prstGeom prst="rect">
            <a:avLst/>
          </a:prstGeom>
          <a:noFill/>
          <a:ln/>
        </p:spPr>
        <p:txBody>
          <a:bodyPr wrap="square" lIns="0" tIns="0" rIns="0" bIns="0" rtlCol="0" anchor="t"/>
          <a:lstStyle/>
          <a:p>
            <a:pPr marL="0" indent="0">
              <a:buNone/>
            </a:pPr>
            <a:r>
              <a:rPr lang="en-US" sz="2600" b="1" dirty="0">
                <a:solidFill>
                  <a:schemeClr val="accent1"/>
                </a:solidFill>
                <a:latin typeface="Arial" pitchFamily="34" charset="0"/>
                <a:ea typeface="Arial" pitchFamily="34" charset="-122"/>
                <a:cs typeface="Arial" pitchFamily="34" charset="-120"/>
              </a:rPr>
              <a:t>03</a:t>
            </a:r>
            <a:endParaRPr lang="en-US" sz="2600" dirty="0"/>
          </a:p>
        </p:txBody>
      </p:sp>
      <p:sp>
        <p:nvSpPr>
          <p:cNvPr id="42" name="Text 33"/>
          <p:cNvSpPr txBox="1"/>
          <p:nvPr/>
        </p:nvSpPr>
        <p:spPr>
          <a:xfrm>
            <a:off x="9189720" y="4315968"/>
            <a:ext cx="2240280" cy="365760"/>
          </a:xfrm>
          <a:prstGeom prst="rect">
            <a:avLst/>
          </a:prstGeom>
          <a:noFill/>
          <a:ln/>
        </p:spPr>
        <p:txBody>
          <a:bodyPr wrap="square" lIns="0" tIns="0" rIns="0" bIns="0" rtlCol="0" anchor="t"/>
          <a:lstStyle/>
          <a:p>
            <a:pPr marL="0" indent="0">
              <a:buNone/>
            </a:pPr>
            <a:r>
              <a:rPr lang="en-US" sz="1600" b="1" dirty="0">
                <a:solidFill>
                  <a:schemeClr val="tx1"/>
                </a:solidFill>
              </a:rPr>
              <a:t>Collaboration</a:t>
            </a:r>
            <a:endParaRPr lang="en-US" sz="1600" dirty="0"/>
          </a:p>
        </p:txBody>
      </p:sp>
      <p:sp>
        <p:nvSpPr>
          <p:cNvPr id="43" name="Text 34"/>
          <p:cNvSpPr txBox="1"/>
          <p:nvPr/>
        </p:nvSpPr>
        <p:spPr>
          <a:xfrm>
            <a:off x="8458200" y="4846320"/>
            <a:ext cx="2880360" cy="914400"/>
          </a:xfrm>
          <a:prstGeom prst="rect">
            <a:avLst/>
          </a:prstGeom>
          <a:noFill/>
          <a:ln/>
        </p:spPr>
        <p:txBody>
          <a:bodyPr wrap="square" lIns="0" tIns="0" rIns="0" bIns="0" rtlCol="0" anchor="t"/>
          <a:lstStyle/>
          <a:p>
            <a:pPr marL="0" indent="0">
              <a:buNone/>
            </a:pPr>
            <a:r>
              <a:rPr lang="en-US" sz="1400" dirty="0">
                <a:solidFill>
                  <a:schemeClr val="tx2"/>
                </a:solidFill>
              </a:rPr>
              <a:t>Frontend, backend, database, testing and docs</a:t>
            </a:r>
          </a:p>
        </p:txBody>
      </p:sp>
      <p:sp>
        <p:nvSpPr>
          <p:cNvPr id="44" name="Slide Number Placeholder 0"/>
          <p:cNvSpPr>
            <a:spLocks noGrp="1"/>
          </p:cNvSpPr>
          <p:nvPr>
            <p:ph type="sldNum" sz="quarter" idx="4294967295"/>
          </p:nvPr>
        </p:nvSpPr>
        <p:spPr>
          <a:xfrm>
            <a:off x="11201400" y="6382512"/>
            <a:ext cx="41148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64240" cy="731520"/>
          </a:xfrm>
          <a:prstGeom prst="rect">
            <a:avLst/>
          </a:prstGeom>
          <a:noFill/>
          <a:ln/>
        </p:spPr>
        <p:txBody>
          <a:bodyPr wrap="square" lIns="0" tIns="0" rIns="0" bIns="0" rtlCol="0" anchor="ctr"/>
          <a:lstStyle/>
          <a:p>
            <a:pPr marL="0" indent="0" algn="l">
              <a:buNone/>
            </a:pPr>
            <a:r>
              <a:rPr lang="en-US" sz="3400" b="1" dirty="0">
                <a:solidFill>
                  <a:schemeClr val="tx1"/>
                </a:solidFill>
                <a:latin typeface="Arial" pitchFamily="34" charset="0"/>
                <a:ea typeface="Arial" pitchFamily="34" charset="-122"/>
                <a:cs typeface="Arial" pitchFamily="34" charset="-120"/>
              </a:rPr>
              <a:t>Problem definition</a:t>
            </a:r>
            <a:endParaRPr lang="en-US" sz="3400" dirty="0"/>
          </a:p>
        </p:txBody>
      </p:sp>
      <p:sp>
        <p:nvSpPr>
          <p:cNvPr id="3" name="Industry context card"/>
          <p:cNvSpPr/>
          <p:nvPr/>
        </p:nvSpPr>
        <p:spPr>
          <a:xfrm>
            <a:off x="548640" y="1417320"/>
            <a:ext cx="3520440" cy="4526280"/>
          </a:xfrm>
          <a:prstGeom prst="roundRect">
            <a:avLst>
              <a:gd name="adj" fmla="val 3117"/>
            </a:avLst>
          </a:prstGeom>
          <a:solidFill>
            <a:schemeClr val="bg2"/>
          </a:solidFill>
          <a:ln w="12700">
            <a:solidFill>
              <a:schemeClr val="bg2"/>
            </a:solidFill>
            <a:prstDash val="solid"/>
          </a:ln>
        </p:spPr>
      </p:sp>
      <p:sp>
        <p:nvSpPr>
          <p:cNvPr id="4" name="Industry context circle"/>
          <p:cNvSpPr/>
          <p:nvPr/>
        </p:nvSpPr>
        <p:spPr>
          <a:xfrm>
            <a:off x="868680" y="1691640"/>
            <a:ext cx="685800" cy="685800"/>
          </a:xfrm>
          <a:prstGeom prst="ellipse">
            <a:avLst/>
          </a:prstGeom>
          <a:solidFill>
            <a:schemeClr val="tx2"/>
          </a:solidFill>
          <a:ln w="12700">
            <a:solidFill>
              <a:schemeClr val="tx2"/>
            </a:solidFill>
            <a:prstDash val="solid"/>
          </a:ln>
        </p:spPr>
      </p:sp>
      <p:pic>
        <p:nvPicPr>
          <p:cNvPr id="5" name="Industry context icon" descr="preencoded.png"/>
          <p:cNvPicPr>
            <a:picLocks noChangeAspect="1"/>
          </p:cNvPicPr>
          <p:nvPr/>
        </p:nvPicPr>
        <p:blipFill>
          <a:blip r:embed="rId3"/>
          <a:stretch>
            <a:fillRect/>
          </a:stretch>
        </p:blipFill>
        <p:spPr>
          <a:xfrm>
            <a:off x="1046988" y="1869948"/>
            <a:ext cx="329184" cy="329184"/>
          </a:xfrm>
          <a:prstGeom prst="rect">
            <a:avLst/>
          </a:prstGeom>
        </p:spPr>
      </p:pic>
      <p:sp>
        <p:nvSpPr>
          <p:cNvPr id="6" name="Text 3"/>
          <p:cNvSpPr txBox="1"/>
          <p:nvPr/>
        </p:nvSpPr>
        <p:spPr>
          <a:xfrm>
            <a:off x="868680" y="2560320"/>
            <a:ext cx="2880360" cy="411480"/>
          </a:xfrm>
          <a:prstGeom prst="rect">
            <a:avLst/>
          </a:prstGeom>
          <a:noFill/>
          <a:ln/>
        </p:spPr>
        <p:txBody>
          <a:bodyPr wrap="square" lIns="0" tIns="0" rIns="0" bIns="0" rtlCol="0" anchor="t"/>
          <a:lstStyle/>
          <a:p>
            <a:pPr marL="0" indent="0">
              <a:buNone/>
            </a:pPr>
            <a:r>
              <a:rPr lang="en-US" sz="2000" b="1" dirty="0">
                <a:solidFill>
                  <a:schemeClr val="tx1"/>
                </a:solidFill>
                <a:latin typeface="Arial" pitchFamily="34" charset="0"/>
                <a:ea typeface="Arial" pitchFamily="34" charset="-122"/>
                <a:cs typeface="Arial" pitchFamily="34" charset="-120"/>
              </a:rPr>
              <a:t>Industry context</a:t>
            </a:r>
            <a:endParaRPr lang="en-US" sz="2000" dirty="0"/>
          </a:p>
        </p:txBody>
      </p:sp>
      <p:sp>
        <p:nvSpPr>
          <p:cNvPr id="7" name="Text 4"/>
          <p:cNvSpPr txBox="1"/>
          <p:nvPr/>
        </p:nvSpPr>
        <p:spPr>
          <a:xfrm>
            <a:off x="868680" y="3154680"/>
            <a:ext cx="2971800" cy="265176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chemeClr val="tx1"/>
                </a:solidFill>
              </a:rPr>
              <a:t>Wellness behaviours are tracked with technology</a:t>
            </a:r>
            <a:endParaRPr lang="en-US" sz="1500" dirty="0"/>
          </a:p>
          <a:p>
            <a:pPr marL="203200" indent="-203200">
              <a:spcAft>
                <a:spcPts val="1000"/>
              </a:spcAft>
              <a:buSzPct val="100000"/>
              <a:buChar char="•"/>
            </a:pPr>
            <a:r>
              <a:rPr lang="en-US" sz="1500" dirty="0">
                <a:solidFill>
                  <a:schemeClr val="tx1"/>
                </a:solidFill>
              </a:rPr>
              <a:t>Users rely on several disconnected trackers</a:t>
            </a:r>
            <a:endParaRPr lang="en-US" sz="1500" dirty="0"/>
          </a:p>
          <a:p>
            <a:pPr marL="203200" indent="-203200">
              <a:spcAft>
                <a:spcPts val="1000"/>
              </a:spcAft>
              <a:buSzPct val="100000"/>
              <a:buChar char="•"/>
            </a:pPr>
            <a:r>
              <a:rPr lang="en-US" sz="1500" dirty="0">
                <a:solidFill>
                  <a:schemeClr val="tx1"/>
                </a:solidFill>
              </a:rPr>
              <a:t>Growing demand for one unified platform</a:t>
            </a:r>
            <a:endParaRPr lang="en-US" sz="1500" dirty="0"/>
          </a:p>
        </p:txBody>
      </p:sp>
      <p:sp>
        <p:nvSpPr>
          <p:cNvPr id="8" name="Operational problem card"/>
          <p:cNvSpPr/>
          <p:nvPr/>
        </p:nvSpPr>
        <p:spPr>
          <a:xfrm>
            <a:off x="4320540" y="1417320"/>
            <a:ext cx="3520440" cy="4526280"/>
          </a:xfrm>
          <a:prstGeom prst="roundRect">
            <a:avLst>
              <a:gd name="adj" fmla="val 3117"/>
            </a:avLst>
          </a:prstGeom>
          <a:solidFill>
            <a:schemeClr val="bg2"/>
          </a:solidFill>
          <a:ln w="12700">
            <a:solidFill>
              <a:schemeClr val="bg2"/>
            </a:solidFill>
            <a:prstDash val="solid"/>
          </a:ln>
        </p:spPr>
      </p:sp>
      <p:sp>
        <p:nvSpPr>
          <p:cNvPr id="9" name="Operational problem circle"/>
          <p:cNvSpPr/>
          <p:nvPr/>
        </p:nvSpPr>
        <p:spPr>
          <a:xfrm>
            <a:off x="4640580" y="1691640"/>
            <a:ext cx="685800" cy="685800"/>
          </a:xfrm>
          <a:prstGeom prst="ellipse">
            <a:avLst/>
          </a:prstGeom>
          <a:solidFill>
            <a:schemeClr val="tx2"/>
          </a:solidFill>
          <a:ln w="12700">
            <a:solidFill>
              <a:schemeClr val="tx2"/>
            </a:solidFill>
            <a:prstDash val="solid"/>
          </a:ln>
        </p:spPr>
      </p:sp>
      <p:pic>
        <p:nvPicPr>
          <p:cNvPr id="10" name="Operational problem icon" descr="preencoded.png"/>
          <p:cNvPicPr>
            <a:picLocks noChangeAspect="1"/>
          </p:cNvPicPr>
          <p:nvPr/>
        </p:nvPicPr>
        <p:blipFill>
          <a:blip r:embed="rId4"/>
          <a:stretch>
            <a:fillRect/>
          </a:stretch>
        </p:blipFill>
        <p:spPr>
          <a:xfrm>
            <a:off x="4818888" y="1869948"/>
            <a:ext cx="329184" cy="329184"/>
          </a:xfrm>
          <a:prstGeom prst="rect">
            <a:avLst/>
          </a:prstGeom>
        </p:spPr>
      </p:pic>
      <p:sp>
        <p:nvSpPr>
          <p:cNvPr id="11" name="Text 7"/>
          <p:cNvSpPr txBox="1"/>
          <p:nvPr/>
        </p:nvSpPr>
        <p:spPr>
          <a:xfrm>
            <a:off x="4640580" y="2560320"/>
            <a:ext cx="2880360" cy="411480"/>
          </a:xfrm>
          <a:prstGeom prst="rect">
            <a:avLst/>
          </a:prstGeom>
          <a:noFill/>
          <a:ln/>
        </p:spPr>
        <p:txBody>
          <a:bodyPr wrap="square" lIns="0" tIns="0" rIns="0" bIns="0" rtlCol="0" anchor="t"/>
          <a:lstStyle/>
          <a:p>
            <a:pPr marL="0" indent="0">
              <a:buNone/>
            </a:pPr>
            <a:r>
              <a:rPr lang="en-US" sz="2000" b="1" dirty="0">
                <a:solidFill>
                  <a:schemeClr val="tx1"/>
                </a:solidFill>
                <a:latin typeface="Arial" pitchFamily="34" charset="0"/>
                <a:ea typeface="Arial" pitchFamily="34" charset="-122"/>
                <a:cs typeface="Arial" pitchFamily="34" charset="-120"/>
              </a:rPr>
              <a:t>Operational problem</a:t>
            </a:r>
            <a:endParaRPr lang="en-US" sz="2000" dirty="0"/>
          </a:p>
        </p:txBody>
      </p:sp>
      <p:sp>
        <p:nvSpPr>
          <p:cNvPr id="12" name="Text 8"/>
          <p:cNvSpPr txBox="1"/>
          <p:nvPr/>
        </p:nvSpPr>
        <p:spPr>
          <a:xfrm>
            <a:off x="4640580" y="3154680"/>
            <a:ext cx="2971800" cy="265176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chemeClr val="tx1"/>
                </a:solidFill>
              </a:rPr>
              <a:t>Records logged separately or inconsistently</a:t>
            </a:r>
            <a:endParaRPr lang="en-US" sz="1500" dirty="0"/>
          </a:p>
          <a:p>
            <a:pPr marL="203200" indent="-203200">
              <a:spcAft>
                <a:spcPts val="1000"/>
              </a:spcAft>
              <a:buSzPct val="100000"/>
              <a:buChar char="•"/>
            </a:pPr>
            <a:r>
              <a:rPr lang="en-US" sz="1500" dirty="0">
                <a:solidFill>
                  <a:schemeClr val="tx1"/>
                </a:solidFill>
              </a:rPr>
              <a:t>History is hard to reference and compare</a:t>
            </a:r>
            <a:endParaRPr lang="en-US" sz="1500" dirty="0"/>
          </a:p>
          <a:p>
            <a:pPr marL="203200" indent="-203200">
              <a:spcAft>
                <a:spcPts val="1000"/>
              </a:spcAft>
              <a:buSzPct val="100000"/>
              <a:buChar char="•"/>
            </a:pPr>
            <a:r>
              <a:rPr lang="en-US" sz="1500" dirty="0">
                <a:solidFill>
                  <a:schemeClr val="tx1"/>
                </a:solidFill>
              </a:rPr>
              <a:t>No central dashboard to see trends over time</a:t>
            </a:r>
            <a:endParaRPr lang="en-US" sz="1500" dirty="0"/>
          </a:p>
        </p:txBody>
      </p:sp>
      <p:sp>
        <p:nvSpPr>
          <p:cNvPr id="13" name="Our solution card"/>
          <p:cNvSpPr/>
          <p:nvPr/>
        </p:nvSpPr>
        <p:spPr>
          <a:xfrm>
            <a:off x="8092440" y="1417320"/>
            <a:ext cx="3520440" cy="4526280"/>
          </a:xfrm>
          <a:prstGeom prst="roundRect">
            <a:avLst>
              <a:gd name="adj" fmla="val 3117"/>
            </a:avLst>
          </a:prstGeom>
          <a:solidFill>
            <a:schemeClr val="tx2"/>
          </a:solidFill>
          <a:ln w="12700">
            <a:solidFill>
              <a:schemeClr val="tx2"/>
            </a:solidFill>
            <a:prstDash val="solid"/>
          </a:ln>
        </p:spPr>
      </p:sp>
      <p:sp>
        <p:nvSpPr>
          <p:cNvPr id="14" name="Our solution circle"/>
          <p:cNvSpPr/>
          <p:nvPr/>
        </p:nvSpPr>
        <p:spPr>
          <a:xfrm>
            <a:off x="8412480" y="1691640"/>
            <a:ext cx="685800" cy="685800"/>
          </a:xfrm>
          <a:prstGeom prst="ellipse">
            <a:avLst/>
          </a:prstGeom>
          <a:solidFill>
            <a:schemeClr val="accent1"/>
          </a:solidFill>
          <a:ln w="12700">
            <a:solidFill>
              <a:schemeClr val="accent1"/>
            </a:solidFill>
            <a:prstDash val="solid"/>
          </a:ln>
        </p:spPr>
      </p:sp>
      <p:pic>
        <p:nvPicPr>
          <p:cNvPr id="15" name="Our solution icon" descr="preencoded.png"/>
          <p:cNvPicPr>
            <a:picLocks noChangeAspect="1"/>
          </p:cNvPicPr>
          <p:nvPr/>
        </p:nvPicPr>
        <p:blipFill>
          <a:blip r:embed="rId5"/>
          <a:stretch>
            <a:fillRect/>
          </a:stretch>
        </p:blipFill>
        <p:spPr>
          <a:xfrm>
            <a:off x="8590788" y="1869948"/>
            <a:ext cx="329184" cy="329184"/>
          </a:xfrm>
          <a:prstGeom prst="rect">
            <a:avLst/>
          </a:prstGeom>
        </p:spPr>
      </p:pic>
      <p:sp>
        <p:nvSpPr>
          <p:cNvPr id="16" name="Text 11"/>
          <p:cNvSpPr txBox="1"/>
          <p:nvPr/>
        </p:nvSpPr>
        <p:spPr>
          <a:xfrm>
            <a:off x="8412480" y="2560320"/>
            <a:ext cx="2880360" cy="411480"/>
          </a:xfrm>
          <a:prstGeom prst="rect">
            <a:avLst/>
          </a:prstGeom>
          <a:noFill/>
          <a:ln/>
        </p:spPr>
        <p:txBody>
          <a:bodyPr wrap="square" lIns="0" tIns="0" rIns="0" bIns="0" rtlCol="0" anchor="t"/>
          <a:lstStyle/>
          <a:p>
            <a:pPr marL="0" indent="0">
              <a:buNone/>
            </a:pPr>
            <a:r>
              <a:rPr lang="en-US" sz="2000" b="1" dirty="0">
                <a:solidFill>
                  <a:schemeClr val="bg1"/>
                </a:solidFill>
                <a:latin typeface="Arial" pitchFamily="34" charset="0"/>
                <a:ea typeface="Arial" pitchFamily="34" charset="-122"/>
                <a:cs typeface="Arial" pitchFamily="34" charset="-120"/>
              </a:rPr>
              <a:t>Our solution</a:t>
            </a:r>
            <a:endParaRPr lang="en-US" sz="2000" dirty="0"/>
          </a:p>
        </p:txBody>
      </p:sp>
      <p:sp>
        <p:nvSpPr>
          <p:cNvPr id="17" name="Text 12"/>
          <p:cNvSpPr txBox="1"/>
          <p:nvPr/>
        </p:nvSpPr>
        <p:spPr>
          <a:xfrm>
            <a:off x="8412480" y="3154680"/>
            <a:ext cx="2971800" cy="265176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chemeClr val="bg1"/>
                </a:solidFill>
              </a:rPr>
              <a:t>One secure place to store, review, edit and delete wellness data</a:t>
            </a:r>
            <a:endParaRPr lang="en-US" sz="1500" dirty="0"/>
          </a:p>
          <a:p>
            <a:pPr marL="203200" indent="-203200">
              <a:spcAft>
                <a:spcPts val="1000"/>
              </a:spcAft>
              <a:buSzPct val="100000"/>
              <a:buChar char="•"/>
            </a:pPr>
            <a:r>
              <a:rPr lang="en-US" sz="1500" dirty="0">
                <a:solidFill>
                  <a:schemeClr val="bg1"/>
                </a:solidFill>
              </a:rPr>
              <a:t>Dashboard + history to show change over time</a:t>
            </a:r>
            <a:endParaRPr lang="en-US" sz="1500" dirty="0"/>
          </a:p>
          <a:p>
            <a:pPr marL="203200" indent="-203200">
              <a:spcAft>
                <a:spcPts val="1000"/>
              </a:spcAft>
              <a:buSzPct val="100000"/>
              <a:buChar char="•"/>
            </a:pPr>
            <a:r>
              <a:rPr lang="en-US" sz="1500" dirty="0">
                <a:solidFill>
                  <a:schemeClr val="bg1"/>
                </a:solidFill>
              </a:rPr>
              <a:t>Responsive across devices</a:t>
            </a:r>
            <a:endParaRPr lang="en-US" sz="1500" dirty="0"/>
          </a:p>
        </p:txBody>
      </p:sp>
      <p:sp>
        <p:nvSpPr>
          <p:cNvPr id="25" name="Slide Number Placeholder 0"/>
          <p:cNvSpPr>
            <a:spLocks noGrp="1"/>
          </p:cNvSpPr>
          <p:nvPr>
            <p:ph type="sldNum" sz="quarter" idx="4294967295"/>
          </p:nvPr>
        </p:nvSpPr>
        <p:spPr>
          <a:xfrm>
            <a:off x="11201400" y="6382512"/>
            <a:ext cx="41148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64240" cy="731520"/>
          </a:xfrm>
          <a:prstGeom prst="rect">
            <a:avLst/>
          </a:prstGeom>
          <a:noFill/>
          <a:ln/>
        </p:spPr>
        <p:txBody>
          <a:bodyPr wrap="square" lIns="0" tIns="0" rIns="0" bIns="0" rtlCol="0" anchor="ctr"/>
          <a:lstStyle/>
          <a:p>
            <a:pPr marL="0" indent="0" algn="l">
              <a:buNone/>
            </a:pPr>
            <a:r>
              <a:rPr lang="en-US" sz="3400" b="1" dirty="0">
                <a:solidFill>
                  <a:schemeClr val="tx1"/>
                </a:solidFill>
                <a:latin typeface="Arial" pitchFamily="34" charset="0"/>
                <a:ea typeface="Arial" pitchFamily="34" charset="-122"/>
                <a:cs typeface="Arial" pitchFamily="34" charset="-120"/>
              </a:rPr>
              <a:t>Requirements summary</a:t>
            </a:r>
            <a:endParaRPr lang="en-US" sz="3400" dirty="0"/>
          </a:p>
        </p:txBody>
      </p:sp>
      <p:sp>
        <p:nvSpPr>
          <p:cNvPr id="3" name="Functional card"/>
          <p:cNvSpPr/>
          <p:nvPr/>
        </p:nvSpPr>
        <p:spPr>
          <a:xfrm>
            <a:off x="548640" y="1371600"/>
            <a:ext cx="5417820" cy="4572000"/>
          </a:xfrm>
          <a:prstGeom prst="roundRect">
            <a:avLst>
              <a:gd name="adj" fmla="val 2400"/>
            </a:avLst>
          </a:prstGeom>
          <a:solidFill>
            <a:schemeClr val="bg2"/>
          </a:solidFill>
          <a:ln w="12700">
            <a:solidFill>
              <a:schemeClr val="bg2"/>
            </a:solidFill>
            <a:prstDash val="solid"/>
          </a:ln>
        </p:spPr>
      </p:sp>
      <p:sp>
        <p:nvSpPr>
          <p:cNvPr id="4" name="Text 2"/>
          <p:cNvSpPr txBox="1"/>
          <p:nvPr/>
        </p:nvSpPr>
        <p:spPr>
          <a:xfrm>
            <a:off x="868680" y="1572768"/>
            <a:ext cx="4777740" cy="320040"/>
          </a:xfrm>
          <a:prstGeom prst="rect">
            <a:avLst/>
          </a:prstGeom>
          <a:noFill/>
          <a:ln/>
        </p:spPr>
        <p:txBody>
          <a:bodyPr wrap="square" lIns="0" tIns="0" rIns="0" bIns="0" rtlCol="0" anchor="t"/>
          <a:lstStyle/>
          <a:p>
            <a:pPr marL="0" indent="0">
              <a:buNone/>
            </a:pPr>
            <a:r>
              <a:rPr lang="en-US" sz="1300" b="1" kern="0" spc="100" dirty="0">
                <a:solidFill>
                  <a:schemeClr val="accent1"/>
                </a:solidFill>
              </a:rPr>
              <a:t>FUNCTIONAL REQUIREMENTS</a:t>
            </a:r>
            <a:endParaRPr lang="en-US" sz="1300" dirty="0"/>
          </a:p>
        </p:txBody>
      </p:sp>
      <p:sp>
        <p:nvSpPr>
          <p:cNvPr id="5" name="Registration &amp; login circle"/>
          <p:cNvSpPr/>
          <p:nvPr/>
        </p:nvSpPr>
        <p:spPr>
          <a:xfrm>
            <a:off x="868680" y="2103120"/>
            <a:ext cx="502920" cy="502920"/>
          </a:xfrm>
          <a:prstGeom prst="ellipse">
            <a:avLst/>
          </a:prstGeom>
          <a:solidFill>
            <a:schemeClr val="accent1"/>
          </a:solidFill>
          <a:ln w="12700">
            <a:solidFill>
              <a:schemeClr val="accent1"/>
            </a:solidFill>
            <a:prstDash val="solid"/>
          </a:ln>
        </p:spPr>
      </p:sp>
      <p:pic>
        <p:nvPicPr>
          <p:cNvPr id="6" name="Registration &amp; login icon" descr="preencoded.png"/>
          <p:cNvPicPr>
            <a:picLocks noChangeAspect="1"/>
          </p:cNvPicPr>
          <p:nvPr/>
        </p:nvPicPr>
        <p:blipFill>
          <a:blip r:embed="rId3"/>
          <a:stretch>
            <a:fillRect/>
          </a:stretch>
        </p:blipFill>
        <p:spPr>
          <a:xfrm>
            <a:off x="999439" y="2233879"/>
            <a:ext cx="241402" cy="241402"/>
          </a:xfrm>
          <a:prstGeom prst="rect">
            <a:avLst/>
          </a:prstGeom>
        </p:spPr>
      </p:pic>
      <p:sp>
        <p:nvSpPr>
          <p:cNvPr id="7" name="Text 4"/>
          <p:cNvSpPr txBox="1"/>
          <p:nvPr/>
        </p:nvSpPr>
        <p:spPr>
          <a:xfrm>
            <a:off x="1554480" y="2057400"/>
            <a:ext cx="4137660" cy="658368"/>
          </a:xfrm>
          <a:prstGeom prst="rect">
            <a:avLst/>
          </a:prstGeom>
          <a:noFill/>
          <a:ln/>
        </p:spPr>
        <p:txBody>
          <a:bodyPr wrap="square" lIns="0" tIns="0" rIns="0" bIns="0" rtlCol="0" anchor="ctr"/>
          <a:lstStyle/>
          <a:p>
            <a:pPr marL="0" indent="0">
              <a:buNone/>
            </a:pPr>
            <a:r>
              <a:rPr lang="en-US" sz="1600" b="1" dirty="0">
                <a:solidFill>
                  <a:schemeClr val="tx1"/>
                </a:solidFill>
              </a:rPr>
              <a:t>Registration &amp; login</a:t>
            </a:r>
            <a:endParaRPr lang="en-US" sz="1400" dirty="0"/>
          </a:p>
          <a:p>
            <a:pPr marL="0" indent="0">
              <a:buNone/>
            </a:pPr>
            <a:r>
              <a:rPr lang="en-US" sz="1400" dirty="0">
                <a:solidFill>
                  <a:schemeClr val="tx2"/>
                </a:solidFill>
              </a:rPr>
              <a:t>Secure access to each user's own data</a:t>
            </a:r>
            <a:endParaRPr lang="en-US" sz="1400" dirty="0"/>
          </a:p>
        </p:txBody>
      </p:sp>
      <p:sp>
        <p:nvSpPr>
          <p:cNvPr id="8" name="CRUD operations circle"/>
          <p:cNvSpPr/>
          <p:nvPr/>
        </p:nvSpPr>
        <p:spPr>
          <a:xfrm>
            <a:off x="868680" y="2862072"/>
            <a:ext cx="502920" cy="502920"/>
          </a:xfrm>
          <a:prstGeom prst="ellipse">
            <a:avLst/>
          </a:prstGeom>
          <a:solidFill>
            <a:schemeClr val="accent1"/>
          </a:solidFill>
          <a:ln w="12700">
            <a:solidFill>
              <a:schemeClr val="accent1"/>
            </a:solidFill>
            <a:prstDash val="solid"/>
          </a:ln>
        </p:spPr>
      </p:sp>
      <p:pic>
        <p:nvPicPr>
          <p:cNvPr id="9" name="CRUD operations icon" descr="preencoded.png"/>
          <p:cNvPicPr>
            <a:picLocks noChangeAspect="1"/>
          </p:cNvPicPr>
          <p:nvPr/>
        </p:nvPicPr>
        <p:blipFill>
          <a:blip r:embed="rId4"/>
          <a:stretch>
            <a:fillRect/>
          </a:stretch>
        </p:blipFill>
        <p:spPr>
          <a:xfrm>
            <a:off x="999439" y="2992831"/>
            <a:ext cx="241402" cy="241402"/>
          </a:xfrm>
          <a:prstGeom prst="rect">
            <a:avLst/>
          </a:prstGeom>
        </p:spPr>
      </p:pic>
      <p:sp>
        <p:nvSpPr>
          <p:cNvPr id="10" name="Text 6"/>
          <p:cNvSpPr txBox="1"/>
          <p:nvPr/>
        </p:nvSpPr>
        <p:spPr>
          <a:xfrm>
            <a:off x="1554480" y="2816352"/>
            <a:ext cx="4137660" cy="658368"/>
          </a:xfrm>
          <a:prstGeom prst="rect">
            <a:avLst/>
          </a:prstGeom>
          <a:noFill/>
          <a:ln/>
        </p:spPr>
        <p:txBody>
          <a:bodyPr wrap="square" lIns="0" tIns="0" rIns="0" bIns="0" rtlCol="0" anchor="ctr"/>
          <a:lstStyle/>
          <a:p>
            <a:pPr marL="0" indent="0">
              <a:buNone/>
            </a:pPr>
            <a:r>
              <a:rPr lang="en-US" sz="1600" b="1" dirty="0">
                <a:solidFill>
                  <a:schemeClr val="tx1"/>
                </a:solidFill>
              </a:rPr>
              <a:t>CRUD operations</a:t>
            </a:r>
            <a:endParaRPr lang="en-US" sz="1400" dirty="0"/>
          </a:p>
          <a:p>
            <a:pPr marL="0" indent="0">
              <a:buNone/>
            </a:pPr>
            <a:r>
              <a:rPr lang="en-US" sz="1400" dirty="0">
                <a:solidFill>
                  <a:schemeClr val="tx2"/>
                </a:solidFill>
              </a:rPr>
              <a:t>Create, read, update, delete across all modules</a:t>
            </a:r>
            <a:endParaRPr lang="en-US" sz="1400" dirty="0"/>
          </a:p>
        </p:txBody>
      </p:sp>
      <p:sp>
        <p:nvSpPr>
          <p:cNvPr id="11" name="Weekly analytics circle"/>
          <p:cNvSpPr/>
          <p:nvPr/>
        </p:nvSpPr>
        <p:spPr>
          <a:xfrm>
            <a:off x="868680" y="3621024"/>
            <a:ext cx="502920" cy="502920"/>
          </a:xfrm>
          <a:prstGeom prst="ellipse">
            <a:avLst/>
          </a:prstGeom>
          <a:solidFill>
            <a:schemeClr val="accent1"/>
          </a:solidFill>
          <a:ln w="12700">
            <a:solidFill>
              <a:schemeClr val="accent1"/>
            </a:solidFill>
            <a:prstDash val="solid"/>
          </a:ln>
        </p:spPr>
      </p:sp>
      <p:pic>
        <p:nvPicPr>
          <p:cNvPr id="12" name="Weekly analytics icon" descr="preencoded.png"/>
          <p:cNvPicPr>
            <a:picLocks noChangeAspect="1"/>
          </p:cNvPicPr>
          <p:nvPr/>
        </p:nvPicPr>
        <p:blipFill>
          <a:blip r:embed="rId5"/>
          <a:stretch>
            <a:fillRect/>
          </a:stretch>
        </p:blipFill>
        <p:spPr>
          <a:xfrm>
            <a:off x="999439" y="3751783"/>
            <a:ext cx="241402" cy="241402"/>
          </a:xfrm>
          <a:prstGeom prst="rect">
            <a:avLst/>
          </a:prstGeom>
        </p:spPr>
      </p:pic>
      <p:sp>
        <p:nvSpPr>
          <p:cNvPr id="13" name="Text 8"/>
          <p:cNvSpPr txBox="1"/>
          <p:nvPr/>
        </p:nvSpPr>
        <p:spPr>
          <a:xfrm>
            <a:off x="1554480" y="3575304"/>
            <a:ext cx="4137660" cy="658368"/>
          </a:xfrm>
          <a:prstGeom prst="rect">
            <a:avLst/>
          </a:prstGeom>
          <a:noFill/>
          <a:ln/>
        </p:spPr>
        <p:txBody>
          <a:bodyPr wrap="square" lIns="0" tIns="0" rIns="0" bIns="0" rtlCol="0" anchor="ctr"/>
          <a:lstStyle/>
          <a:p>
            <a:pPr marL="0" indent="0">
              <a:buNone/>
            </a:pPr>
            <a:r>
              <a:rPr lang="en-US" sz="1600" b="1" dirty="0">
                <a:solidFill>
                  <a:schemeClr val="tx1"/>
                </a:solidFill>
              </a:rPr>
              <a:t>Weekly analytics</a:t>
            </a:r>
            <a:endParaRPr lang="en-US" sz="1400" dirty="0"/>
          </a:p>
          <a:p>
            <a:pPr marL="0" indent="0">
              <a:buNone/>
            </a:pPr>
            <a:r>
              <a:rPr lang="en-US" sz="1400" dirty="0">
                <a:solidFill>
                  <a:schemeClr val="tx2"/>
                </a:solidFill>
              </a:rPr>
              <a:t>Overview chart and goal progress</a:t>
            </a:r>
            <a:endParaRPr lang="en-US" sz="1400" dirty="0"/>
          </a:p>
        </p:txBody>
      </p:sp>
      <p:sp>
        <p:nvSpPr>
          <p:cNvPr id="14" name="History pages circle"/>
          <p:cNvSpPr/>
          <p:nvPr/>
        </p:nvSpPr>
        <p:spPr>
          <a:xfrm>
            <a:off x="868680" y="4379976"/>
            <a:ext cx="502920" cy="502920"/>
          </a:xfrm>
          <a:prstGeom prst="ellipse">
            <a:avLst/>
          </a:prstGeom>
          <a:solidFill>
            <a:schemeClr val="accent1"/>
          </a:solidFill>
          <a:ln w="12700">
            <a:solidFill>
              <a:schemeClr val="accent1"/>
            </a:solidFill>
            <a:prstDash val="solid"/>
          </a:ln>
        </p:spPr>
      </p:sp>
      <p:pic>
        <p:nvPicPr>
          <p:cNvPr id="15" name="History pages icon" descr="preencoded.png"/>
          <p:cNvPicPr>
            <a:picLocks noChangeAspect="1"/>
          </p:cNvPicPr>
          <p:nvPr/>
        </p:nvPicPr>
        <p:blipFill>
          <a:blip r:embed="rId6"/>
          <a:stretch>
            <a:fillRect/>
          </a:stretch>
        </p:blipFill>
        <p:spPr>
          <a:xfrm>
            <a:off x="999439" y="4510735"/>
            <a:ext cx="241402" cy="241402"/>
          </a:xfrm>
          <a:prstGeom prst="rect">
            <a:avLst/>
          </a:prstGeom>
        </p:spPr>
      </p:pic>
      <p:sp>
        <p:nvSpPr>
          <p:cNvPr id="16" name="Text 10"/>
          <p:cNvSpPr txBox="1"/>
          <p:nvPr/>
        </p:nvSpPr>
        <p:spPr>
          <a:xfrm>
            <a:off x="1554480" y="4334256"/>
            <a:ext cx="4137660" cy="658368"/>
          </a:xfrm>
          <a:prstGeom prst="rect">
            <a:avLst/>
          </a:prstGeom>
          <a:noFill/>
          <a:ln/>
        </p:spPr>
        <p:txBody>
          <a:bodyPr wrap="square" lIns="0" tIns="0" rIns="0" bIns="0" rtlCol="0" anchor="ctr"/>
          <a:lstStyle/>
          <a:p>
            <a:pPr marL="0" indent="0">
              <a:buNone/>
            </a:pPr>
            <a:r>
              <a:rPr lang="en-US" sz="1600" b="1" dirty="0">
                <a:solidFill>
                  <a:schemeClr val="tx1"/>
                </a:solidFill>
              </a:rPr>
              <a:t>History pages</a:t>
            </a:r>
            <a:endParaRPr lang="en-US" sz="1400" dirty="0"/>
          </a:p>
          <a:p>
            <a:pPr marL="0" indent="0">
              <a:buNone/>
            </a:pPr>
            <a:r>
              <a:rPr lang="en-US" sz="1400" dirty="0">
                <a:solidFill>
                  <a:schemeClr val="tx2"/>
                </a:solidFill>
              </a:rPr>
              <a:t>Review previously logged entries</a:t>
            </a:r>
            <a:endParaRPr lang="en-US" sz="1400" dirty="0"/>
          </a:p>
        </p:txBody>
      </p:sp>
      <p:sp>
        <p:nvSpPr>
          <p:cNvPr id="17" name="REST API circle"/>
          <p:cNvSpPr/>
          <p:nvPr/>
        </p:nvSpPr>
        <p:spPr>
          <a:xfrm>
            <a:off x="868680" y="5138928"/>
            <a:ext cx="502920" cy="502920"/>
          </a:xfrm>
          <a:prstGeom prst="ellipse">
            <a:avLst/>
          </a:prstGeom>
          <a:solidFill>
            <a:schemeClr val="accent1"/>
          </a:solidFill>
          <a:ln w="12700">
            <a:solidFill>
              <a:schemeClr val="accent1"/>
            </a:solidFill>
            <a:prstDash val="solid"/>
          </a:ln>
        </p:spPr>
      </p:sp>
      <p:pic>
        <p:nvPicPr>
          <p:cNvPr id="18" name="REST API icon" descr="preencoded.png"/>
          <p:cNvPicPr>
            <a:picLocks noChangeAspect="1"/>
          </p:cNvPicPr>
          <p:nvPr/>
        </p:nvPicPr>
        <p:blipFill>
          <a:blip r:embed="rId7"/>
          <a:stretch>
            <a:fillRect/>
          </a:stretch>
        </p:blipFill>
        <p:spPr>
          <a:xfrm>
            <a:off x="999439" y="5269687"/>
            <a:ext cx="241402" cy="241402"/>
          </a:xfrm>
          <a:prstGeom prst="rect">
            <a:avLst/>
          </a:prstGeom>
        </p:spPr>
      </p:pic>
      <p:sp>
        <p:nvSpPr>
          <p:cNvPr id="19" name="Text 12"/>
          <p:cNvSpPr txBox="1"/>
          <p:nvPr/>
        </p:nvSpPr>
        <p:spPr>
          <a:xfrm>
            <a:off x="1554480" y="5093208"/>
            <a:ext cx="4137660" cy="658368"/>
          </a:xfrm>
          <a:prstGeom prst="rect">
            <a:avLst/>
          </a:prstGeom>
          <a:noFill/>
          <a:ln/>
        </p:spPr>
        <p:txBody>
          <a:bodyPr wrap="square" lIns="0" tIns="0" rIns="0" bIns="0" rtlCol="0" anchor="ctr"/>
          <a:lstStyle/>
          <a:p>
            <a:pPr marL="0" indent="0">
              <a:buNone/>
            </a:pPr>
            <a:r>
              <a:rPr lang="en-US" sz="1600" b="1" dirty="0">
                <a:solidFill>
                  <a:schemeClr val="tx1"/>
                </a:solidFill>
              </a:rPr>
              <a:t>REST API</a:t>
            </a:r>
            <a:endParaRPr lang="en-US" sz="1400" dirty="0"/>
          </a:p>
          <a:p>
            <a:pPr marL="0" indent="0">
              <a:buNone/>
            </a:pPr>
            <a:r>
              <a:rPr lang="en-US" sz="1400" dirty="0">
                <a:solidFill>
                  <a:schemeClr val="tx2"/>
                </a:solidFill>
              </a:rPr>
              <a:t>Frontend ↔ backend over RESTful endpoints</a:t>
            </a:r>
            <a:endParaRPr lang="en-US" sz="1400" dirty="0"/>
          </a:p>
        </p:txBody>
      </p:sp>
      <p:sp>
        <p:nvSpPr>
          <p:cNvPr id="20" name="Non-functional card"/>
          <p:cNvSpPr/>
          <p:nvPr/>
        </p:nvSpPr>
        <p:spPr>
          <a:xfrm>
            <a:off x="6195060" y="1371600"/>
            <a:ext cx="5417820" cy="4572000"/>
          </a:xfrm>
          <a:prstGeom prst="roundRect">
            <a:avLst>
              <a:gd name="adj" fmla="val 2400"/>
            </a:avLst>
          </a:prstGeom>
          <a:solidFill>
            <a:schemeClr val="bg2"/>
          </a:solidFill>
          <a:ln w="12700">
            <a:solidFill>
              <a:schemeClr val="bg2"/>
            </a:solidFill>
            <a:prstDash val="solid"/>
          </a:ln>
        </p:spPr>
      </p:sp>
      <p:sp>
        <p:nvSpPr>
          <p:cNvPr id="21" name="Text 14"/>
          <p:cNvSpPr txBox="1"/>
          <p:nvPr/>
        </p:nvSpPr>
        <p:spPr>
          <a:xfrm>
            <a:off x="6515100" y="1572768"/>
            <a:ext cx="4777740" cy="320040"/>
          </a:xfrm>
          <a:prstGeom prst="rect">
            <a:avLst/>
          </a:prstGeom>
          <a:noFill/>
          <a:ln/>
        </p:spPr>
        <p:txBody>
          <a:bodyPr wrap="square" lIns="0" tIns="0" rIns="0" bIns="0" rtlCol="0" anchor="t"/>
          <a:lstStyle/>
          <a:p>
            <a:pPr marL="0" indent="0">
              <a:buNone/>
            </a:pPr>
            <a:r>
              <a:rPr lang="en-US" sz="1300" b="1" kern="0" spc="100" dirty="0">
                <a:solidFill>
                  <a:schemeClr val="tx2"/>
                </a:solidFill>
              </a:rPr>
              <a:t>NON-FUNCTIONAL REQUIREMENTS</a:t>
            </a:r>
            <a:endParaRPr lang="en-US" sz="1300" dirty="0"/>
          </a:p>
        </p:txBody>
      </p:sp>
      <p:sp>
        <p:nvSpPr>
          <p:cNvPr id="22" name="Secure circle"/>
          <p:cNvSpPr/>
          <p:nvPr/>
        </p:nvSpPr>
        <p:spPr>
          <a:xfrm>
            <a:off x="6515100" y="2103120"/>
            <a:ext cx="502920" cy="502920"/>
          </a:xfrm>
          <a:prstGeom prst="ellipse">
            <a:avLst/>
          </a:prstGeom>
          <a:solidFill>
            <a:schemeClr val="tx2"/>
          </a:solidFill>
          <a:ln w="12700">
            <a:solidFill>
              <a:schemeClr val="tx2"/>
            </a:solidFill>
            <a:prstDash val="solid"/>
          </a:ln>
        </p:spPr>
      </p:sp>
      <p:pic>
        <p:nvPicPr>
          <p:cNvPr id="23" name="Secure icon" descr="preencoded.png"/>
          <p:cNvPicPr>
            <a:picLocks noChangeAspect="1"/>
          </p:cNvPicPr>
          <p:nvPr/>
        </p:nvPicPr>
        <p:blipFill>
          <a:blip r:embed="rId8"/>
          <a:stretch>
            <a:fillRect/>
          </a:stretch>
        </p:blipFill>
        <p:spPr>
          <a:xfrm>
            <a:off x="6645859" y="2233879"/>
            <a:ext cx="241402" cy="241402"/>
          </a:xfrm>
          <a:prstGeom prst="rect">
            <a:avLst/>
          </a:prstGeom>
        </p:spPr>
      </p:pic>
      <p:sp>
        <p:nvSpPr>
          <p:cNvPr id="24" name="Text 16"/>
          <p:cNvSpPr txBox="1"/>
          <p:nvPr/>
        </p:nvSpPr>
        <p:spPr>
          <a:xfrm>
            <a:off x="7200900" y="2057400"/>
            <a:ext cx="4137660" cy="658368"/>
          </a:xfrm>
          <a:prstGeom prst="rect">
            <a:avLst/>
          </a:prstGeom>
          <a:noFill/>
          <a:ln/>
        </p:spPr>
        <p:txBody>
          <a:bodyPr wrap="square" lIns="0" tIns="0" rIns="0" bIns="0" rtlCol="0" anchor="ctr"/>
          <a:lstStyle/>
          <a:p>
            <a:pPr marL="0" indent="0">
              <a:buNone/>
            </a:pPr>
            <a:r>
              <a:rPr lang="en-US" sz="1600" b="1" dirty="0">
                <a:solidFill>
                  <a:schemeClr val="tx1"/>
                </a:solidFill>
              </a:rPr>
              <a:t>Secure</a:t>
            </a:r>
            <a:endParaRPr lang="en-US" sz="1400" dirty="0"/>
          </a:p>
          <a:p>
            <a:pPr marL="0" indent="0">
              <a:buNone/>
            </a:pPr>
            <a:r>
              <a:rPr lang="en-US" sz="1400" dirty="0">
                <a:solidFill>
                  <a:schemeClr val="tx2"/>
                </a:solidFill>
              </a:rPr>
              <a:t>Hashed passwords, JWT-protected routes</a:t>
            </a:r>
            <a:endParaRPr lang="en-US" sz="1400" dirty="0"/>
          </a:p>
        </p:txBody>
      </p:sp>
      <p:sp>
        <p:nvSpPr>
          <p:cNvPr id="25" name="Responsive circle"/>
          <p:cNvSpPr/>
          <p:nvPr/>
        </p:nvSpPr>
        <p:spPr>
          <a:xfrm>
            <a:off x="6515100" y="2862072"/>
            <a:ext cx="502920" cy="502920"/>
          </a:xfrm>
          <a:prstGeom prst="ellipse">
            <a:avLst/>
          </a:prstGeom>
          <a:solidFill>
            <a:schemeClr val="tx2"/>
          </a:solidFill>
          <a:ln w="12700">
            <a:solidFill>
              <a:schemeClr val="tx2"/>
            </a:solidFill>
            <a:prstDash val="solid"/>
          </a:ln>
        </p:spPr>
      </p:sp>
      <p:pic>
        <p:nvPicPr>
          <p:cNvPr id="26" name="Responsive icon" descr="preencoded.png"/>
          <p:cNvPicPr>
            <a:picLocks noChangeAspect="1"/>
          </p:cNvPicPr>
          <p:nvPr/>
        </p:nvPicPr>
        <p:blipFill>
          <a:blip r:embed="rId9"/>
          <a:stretch>
            <a:fillRect/>
          </a:stretch>
        </p:blipFill>
        <p:spPr>
          <a:xfrm>
            <a:off x="6645859" y="2992831"/>
            <a:ext cx="241402" cy="241402"/>
          </a:xfrm>
          <a:prstGeom prst="rect">
            <a:avLst/>
          </a:prstGeom>
        </p:spPr>
      </p:pic>
      <p:sp>
        <p:nvSpPr>
          <p:cNvPr id="27" name="Text 18"/>
          <p:cNvSpPr txBox="1"/>
          <p:nvPr/>
        </p:nvSpPr>
        <p:spPr>
          <a:xfrm>
            <a:off x="7200900" y="2816352"/>
            <a:ext cx="4137660" cy="658368"/>
          </a:xfrm>
          <a:prstGeom prst="rect">
            <a:avLst/>
          </a:prstGeom>
          <a:noFill/>
          <a:ln/>
        </p:spPr>
        <p:txBody>
          <a:bodyPr wrap="square" lIns="0" tIns="0" rIns="0" bIns="0" rtlCol="0" anchor="ctr"/>
          <a:lstStyle/>
          <a:p>
            <a:pPr marL="0" indent="0">
              <a:buNone/>
            </a:pPr>
            <a:r>
              <a:rPr lang="en-US" sz="1600" b="1" dirty="0">
                <a:solidFill>
                  <a:schemeClr val="tx1"/>
                </a:solidFill>
              </a:rPr>
              <a:t>Responsive</a:t>
            </a:r>
            <a:endParaRPr lang="en-US" sz="1400" dirty="0"/>
          </a:p>
          <a:p>
            <a:pPr marL="0" indent="0">
              <a:buNone/>
            </a:pPr>
            <a:r>
              <a:rPr lang="en-US" sz="1400" dirty="0">
                <a:solidFill>
                  <a:schemeClr val="tx2"/>
                </a:solidFill>
              </a:rPr>
              <a:t>Layouts adapt for tablet and mobile</a:t>
            </a:r>
            <a:endParaRPr lang="en-US" sz="1400" dirty="0"/>
          </a:p>
        </p:txBody>
      </p:sp>
      <p:sp>
        <p:nvSpPr>
          <p:cNvPr id="28" name="Reliable circle"/>
          <p:cNvSpPr/>
          <p:nvPr/>
        </p:nvSpPr>
        <p:spPr>
          <a:xfrm>
            <a:off x="6515100" y="3621024"/>
            <a:ext cx="502920" cy="502920"/>
          </a:xfrm>
          <a:prstGeom prst="ellipse">
            <a:avLst/>
          </a:prstGeom>
          <a:solidFill>
            <a:schemeClr val="tx2"/>
          </a:solidFill>
          <a:ln w="12700">
            <a:solidFill>
              <a:schemeClr val="tx2"/>
            </a:solidFill>
            <a:prstDash val="solid"/>
          </a:ln>
        </p:spPr>
      </p:sp>
      <p:pic>
        <p:nvPicPr>
          <p:cNvPr id="29" name="Reliable icon" descr="preencoded.png"/>
          <p:cNvPicPr>
            <a:picLocks noChangeAspect="1"/>
          </p:cNvPicPr>
          <p:nvPr/>
        </p:nvPicPr>
        <p:blipFill>
          <a:blip r:embed="rId10"/>
          <a:stretch>
            <a:fillRect/>
          </a:stretch>
        </p:blipFill>
        <p:spPr>
          <a:xfrm>
            <a:off x="6645859" y="3751783"/>
            <a:ext cx="241402" cy="241402"/>
          </a:xfrm>
          <a:prstGeom prst="rect">
            <a:avLst/>
          </a:prstGeom>
        </p:spPr>
      </p:pic>
      <p:sp>
        <p:nvSpPr>
          <p:cNvPr id="30" name="Text 20"/>
          <p:cNvSpPr txBox="1"/>
          <p:nvPr/>
        </p:nvSpPr>
        <p:spPr>
          <a:xfrm>
            <a:off x="7200900" y="3575304"/>
            <a:ext cx="4137660" cy="658368"/>
          </a:xfrm>
          <a:prstGeom prst="rect">
            <a:avLst/>
          </a:prstGeom>
          <a:noFill/>
          <a:ln/>
        </p:spPr>
        <p:txBody>
          <a:bodyPr wrap="square" lIns="0" tIns="0" rIns="0" bIns="0" rtlCol="0" anchor="ctr"/>
          <a:lstStyle/>
          <a:p>
            <a:pPr marL="0" indent="0">
              <a:buNone/>
            </a:pPr>
            <a:r>
              <a:rPr lang="en-US" sz="1600" b="1" dirty="0">
                <a:solidFill>
                  <a:schemeClr val="tx1"/>
                </a:solidFill>
              </a:rPr>
              <a:t>Reliable</a:t>
            </a:r>
            <a:endParaRPr lang="en-US" sz="1400" dirty="0"/>
          </a:p>
          <a:p>
            <a:pPr marL="0" indent="0">
              <a:buNone/>
            </a:pPr>
            <a:r>
              <a:rPr lang="en-US" sz="1400" dirty="0">
                <a:solidFill>
                  <a:schemeClr val="tx2"/>
                </a:solidFill>
              </a:rPr>
              <a:t>Validated input; clear 400/401 errors</a:t>
            </a:r>
            <a:endParaRPr lang="en-US" sz="1400" dirty="0"/>
          </a:p>
        </p:txBody>
      </p:sp>
      <p:sp>
        <p:nvSpPr>
          <p:cNvPr id="31" name="Accessible circle"/>
          <p:cNvSpPr/>
          <p:nvPr/>
        </p:nvSpPr>
        <p:spPr>
          <a:xfrm>
            <a:off x="6515100" y="4379976"/>
            <a:ext cx="502920" cy="502920"/>
          </a:xfrm>
          <a:prstGeom prst="ellipse">
            <a:avLst/>
          </a:prstGeom>
          <a:solidFill>
            <a:schemeClr val="tx2"/>
          </a:solidFill>
          <a:ln w="12700">
            <a:solidFill>
              <a:schemeClr val="tx2"/>
            </a:solidFill>
            <a:prstDash val="solid"/>
          </a:ln>
        </p:spPr>
      </p:sp>
      <p:pic>
        <p:nvPicPr>
          <p:cNvPr id="32" name="Accessible icon" descr="preencoded.png"/>
          <p:cNvPicPr>
            <a:picLocks noChangeAspect="1"/>
          </p:cNvPicPr>
          <p:nvPr/>
        </p:nvPicPr>
        <p:blipFill>
          <a:blip r:embed="rId11"/>
          <a:stretch>
            <a:fillRect/>
          </a:stretch>
        </p:blipFill>
        <p:spPr>
          <a:xfrm>
            <a:off x="6645859" y="4510735"/>
            <a:ext cx="241402" cy="241402"/>
          </a:xfrm>
          <a:prstGeom prst="rect">
            <a:avLst/>
          </a:prstGeom>
        </p:spPr>
      </p:pic>
      <p:sp>
        <p:nvSpPr>
          <p:cNvPr id="33" name="Text 22"/>
          <p:cNvSpPr txBox="1"/>
          <p:nvPr/>
        </p:nvSpPr>
        <p:spPr>
          <a:xfrm>
            <a:off x="7200900" y="4334256"/>
            <a:ext cx="4137660" cy="658368"/>
          </a:xfrm>
          <a:prstGeom prst="rect">
            <a:avLst/>
          </a:prstGeom>
          <a:noFill/>
          <a:ln/>
        </p:spPr>
        <p:txBody>
          <a:bodyPr wrap="square" lIns="0" tIns="0" rIns="0" bIns="0" rtlCol="0" anchor="ctr"/>
          <a:lstStyle/>
          <a:p>
            <a:pPr marL="0" indent="0">
              <a:buNone/>
            </a:pPr>
            <a:r>
              <a:rPr lang="en-US" sz="1600" b="1" dirty="0">
                <a:solidFill>
                  <a:schemeClr val="tx1"/>
                </a:solidFill>
              </a:rPr>
              <a:t>Accessible</a:t>
            </a:r>
            <a:endParaRPr lang="en-US" sz="1400" dirty="0"/>
          </a:p>
          <a:p>
            <a:pPr marL="0" indent="0">
              <a:buNone/>
            </a:pPr>
            <a:r>
              <a:rPr lang="en-US" sz="1400" dirty="0">
                <a:solidFill>
                  <a:schemeClr val="tx2"/>
                </a:solidFill>
              </a:rPr>
              <a:t>Linked form labels, ARIA roles, alerts</a:t>
            </a:r>
            <a:endParaRPr lang="en-US" sz="1400" dirty="0"/>
          </a:p>
        </p:txBody>
      </p:sp>
      <p:sp>
        <p:nvSpPr>
          <p:cNvPr id="34" name="Scalable circle"/>
          <p:cNvSpPr/>
          <p:nvPr/>
        </p:nvSpPr>
        <p:spPr>
          <a:xfrm>
            <a:off x="6515100" y="5138928"/>
            <a:ext cx="502920" cy="502920"/>
          </a:xfrm>
          <a:prstGeom prst="ellipse">
            <a:avLst/>
          </a:prstGeom>
          <a:solidFill>
            <a:schemeClr val="tx2"/>
          </a:solidFill>
          <a:ln w="12700">
            <a:solidFill>
              <a:schemeClr val="tx2"/>
            </a:solidFill>
            <a:prstDash val="solid"/>
          </a:ln>
        </p:spPr>
      </p:sp>
      <p:pic>
        <p:nvPicPr>
          <p:cNvPr id="35" name="Scalable icon" descr="preencoded.png"/>
          <p:cNvPicPr>
            <a:picLocks noChangeAspect="1"/>
          </p:cNvPicPr>
          <p:nvPr/>
        </p:nvPicPr>
        <p:blipFill>
          <a:blip r:embed="rId12"/>
          <a:stretch>
            <a:fillRect/>
          </a:stretch>
        </p:blipFill>
        <p:spPr>
          <a:xfrm>
            <a:off x="6645859" y="5269687"/>
            <a:ext cx="241402" cy="241402"/>
          </a:xfrm>
          <a:prstGeom prst="rect">
            <a:avLst/>
          </a:prstGeom>
        </p:spPr>
      </p:pic>
      <p:sp>
        <p:nvSpPr>
          <p:cNvPr id="36" name="Text 24"/>
          <p:cNvSpPr txBox="1"/>
          <p:nvPr/>
        </p:nvSpPr>
        <p:spPr>
          <a:xfrm>
            <a:off x="7200900" y="5093208"/>
            <a:ext cx="4137660" cy="658368"/>
          </a:xfrm>
          <a:prstGeom prst="rect">
            <a:avLst/>
          </a:prstGeom>
          <a:noFill/>
          <a:ln/>
        </p:spPr>
        <p:txBody>
          <a:bodyPr wrap="square" lIns="0" tIns="0" rIns="0" bIns="0" rtlCol="0" anchor="ctr"/>
          <a:lstStyle/>
          <a:p>
            <a:pPr marL="0" indent="0">
              <a:buNone/>
            </a:pPr>
            <a:r>
              <a:rPr lang="en-US" sz="1600" b="1" dirty="0">
                <a:solidFill>
                  <a:schemeClr val="tx1"/>
                </a:solidFill>
              </a:rPr>
              <a:t>Scalable</a:t>
            </a:r>
            <a:endParaRPr lang="en-US" sz="1400" dirty="0"/>
          </a:p>
          <a:p>
            <a:pPr marL="0" indent="0">
              <a:buNone/>
            </a:pPr>
            <a:r>
              <a:rPr lang="en-US" sz="1400" dirty="0">
                <a:solidFill>
                  <a:schemeClr val="tx2"/>
                </a:solidFill>
              </a:rPr>
              <a:t>Modular three-tier design for new features</a:t>
            </a:r>
            <a:endParaRPr lang="en-US" sz="1400" dirty="0"/>
          </a:p>
        </p:txBody>
      </p:sp>
      <p:sp>
        <p:nvSpPr>
          <p:cNvPr id="37" name="Slide Number Placeholder 0"/>
          <p:cNvSpPr>
            <a:spLocks noGrp="1"/>
          </p:cNvSpPr>
          <p:nvPr>
            <p:ph type="sldNum" sz="quarter" idx="4294967295"/>
          </p:nvPr>
        </p:nvSpPr>
        <p:spPr>
          <a:xfrm>
            <a:off x="11201400" y="6382512"/>
            <a:ext cx="41148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64240" cy="731520"/>
          </a:xfrm>
          <a:prstGeom prst="rect">
            <a:avLst/>
          </a:prstGeom>
          <a:noFill/>
          <a:ln/>
        </p:spPr>
        <p:txBody>
          <a:bodyPr wrap="square" lIns="0" tIns="0" rIns="0" bIns="0" rtlCol="0" anchor="ctr"/>
          <a:lstStyle/>
          <a:p>
            <a:pPr marL="0" indent="0" algn="l">
              <a:buNone/>
            </a:pPr>
            <a:r>
              <a:rPr lang="en-US" sz="3400" b="1" dirty="0">
                <a:solidFill>
                  <a:schemeClr val="tx1"/>
                </a:solidFill>
                <a:latin typeface="Arial" pitchFamily="34" charset="0"/>
                <a:ea typeface="Arial" pitchFamily="34" charset="-122"/>
                <a:cs typeface="Arial" pitchFamily="34" charset="-120"/>
              </a:rPr>
              <a:t>Full-stack architecture</a:t>
            </a:r>
            <a:endParaRPr lang="en-US" sz="3400" dirty="0"/>
          </a:p>
        </p:txBody>
      </p:sp>
      <p:sp>
        <p:nvSpPr>
          <p:cNvPr id="3" name="Diagram frame"/>
          <p:cNvSpPr/>
          <p:nvPr/>
        </p:nvSpPr>
        <p:spPr>
          <a:xfrm>
            <a:off x="548640" y="1371600"/>
            <a:ext cx="7223760" cy="3749040"/>
          </a:xfrm>
          <a:prstGeom prst="roundRect">
            <a:avLst>
              <a:gd name="adj" fmla="val 2927"/>
            </a:avLst>
          </a:prstGeom>
          <a:solidFill>
            <a:schemeClr val="bg1"/>
          </a:solidFill>
          <a:ln w="12700">
            <a:solidFill>
              <a:schemeClr val="bg1"/>
            </a:solidFill>
            <a:prstDash val="solid"/>
          </a:ln>
          <a:effectLst>
            <a:outerShdw blurRad="101600" dist="25400" dir="5400000" algn="bl" rotWithShape="0">
              <a:srgbClr val="1E2633">
                <a:alpha val="12000"/>
              </a:srgbClr>
            </a:outerShdw>
          </a:effectLst>
        </p:spPr>
      </p:sp>
      <p:pic>
        <p:nvPicPr>
          <p:cNvPr id="4" name="Architecture diagram" descr="Three-tier architecture: user, React frontend, Node/Express backend with JWT, PostgreSQL database"/>
          <p:cNvPicPr>
            <a:picLocks noChangeAspect="1"/>
          </p:cNvPicPr>
          <p:nvPr/>
        </p:nvPicPr>
        <p:blipFill>
          <a:blip r:embed="rId3"/>
          <a:stretch>
            <a:fillRect/>
          </a:stretch>
        </p:blipFill>
        <p:spPr>
          <a:xfrm>
            <a:off x="685800" y="1508760"/>
            <a:ext cx="6949440" cy="3474720"/>
          </a:xfrm>
          <a:prstGeom prst="rect">
            <a:avLst/>
          </a:prstGeom>
        </p:spPr>
      </p:pic>
      <p:sp>
        <p:nvSpPr>
          <p:cNvPr id="5" name="Text 2"/>
          <p:cNvSpPr txBox="1"/>
          <p:nvPr/>
        </p:nvSpPr>
        <p:spPr>
          <a:xfrm>
            <a:off x="548640" y="5257800"/>
            <a:ext cx="7223760" cy="457200"/>
          </a:xfrm>
          <a:prstGeom prst="rect">
            <a:avLst/>
          </a:prstGeom>
          <a:noFill/>
          <a:ln/>
        </p:spPr>
        <p:txBody>
          <a:bodyPr wrap="square" lIns="0" tIns="0" rIns="0" bIns="0" rtlCol="0" anchor="t"/>
          <a:lstStyle/>
          <a:p>
            <a:pPr marL="0" indent="0">
              <a:buNone/>
            </a:pPr>
            <a:r>
              <a:rPr lang="en-US" sz="1200" i="1" dirty="0">
                <a:solidFill>
                  <a:schemeClr val="accent6"/>
                </a:solidFill>
              </a:rPr>
              <a:t>Live: React on Vercel → HTTPS + JWT → Express on Render → PostgreSQL on Render, JSON back to the UI</a:t>
            </a:r>
            <a:endParaRPr lang="en-US" sz="1200" dirty="0"/>
          </a:p>
        </p:txBody>
      </p:sp>
      <p:sp>
        <p:nvSpPr>
          <p:cNvPr id="6" name="Frontend circle"/>
          <p:cNvSpPr/>
          <p:nvPr/>
        </p:nvSpPr>
        <p:spPr>
          <a:xfrm>
            <a:off x="8092440" y="1371600"/>
            <a:ext cx="548640" cy="548640"/>
          </a:xfrm>
          <a:prstGeom prst="ellipse">
            <a:avLst/>
          </a:prstGeom>
          <a:solidFill>
            <a:schemeClr val="accent3"/>
          </a:solidFill>
          <a:ln w="12700">
            <a:solidFill>
              <a:schemeClr val="accent3"/>
            </a:solidFill>
            <a:prstDash val="solid"/>
          </a:ln>
        </p:spPr>
      </p:sp>
      <p:pic>
        <p:nvPicPr>
          <p:cNvPr id="7" name="Frontend icon" descr="preencoded.png"/>
          <p:cNvPicPr>
            <a:picLocks noChangeAspect="1"/>
          </p:cNvPicPr>
          <p:nvPr/>
        </p:nvPicPr>
        <p:blipFill>
          <a:blip r:embed="rId4"/>
          <a:stretch>
            <a:fillRect/>
          </a:stretch>
        </p:blipFill>
        <p:spPr>
          <a:xfrm>
            <a:off x="8235086" y="1514246"/>
            <a:ext cx="263347" cy="263347"/>
          </a:xfrm>
          <a:prstGeom prst="rect">
            <a:avLst/>
          </a:prstGeom>
        </p:spPr>
      </p:pic>
      <p:sp>
        <p:nvSpPr>
          <p:cNvPr id="8" name="Text 4"/>
          <p:cNvSpPr txBox="1"/>
          <p:nvPr/>
        </p:nvSpPr>
        <p:spPr>
          <a:xfrm>
            <a:off x="8823960" y="1325880"/>
            <a:ext cx="2788920" cy="640080"/>
          </a:xfrm>
          <a:prstGeom prst="rect">
            <a:avLst/>
          </a:prstGeom>
          <a:noFill/>
          <a:ln/>
        </p:spPr>
        <p:txBody>
          <a:bodyPr wrap="square" lIns="0" tIns="0" rIns="0" bIns="0" rtlCol="0" anchor="ctr"/>
          <a:lstStyle/>
          <a:p>
            <a:pPr marL="0" indent="0">
              <a:buNone/>
            </a:pPr>
            <a:r>
              <a:rPr lang="en-US" sz="1600" b="1" dirty="0">
                <a:solidFill>
                  <a:schemeClr val="tx1"/>
                </a:solidFill>
              </a:rPr>
              <a:t>Frontend</a:t>
            </a:r>
            <a:endParaRPr lang="en-US" sz="1400" dirty="0"/>
          </a:p>
          <a:p>
            <a:pPr marL="0" indent="0">
              <a:buNone/>
            </a:pPr>
            <a:r>
              <a:rPr lang="en-US" sz="1400" dirty="0">
                <a:solidFill>
                  <a:schemeClr val="tx2"/>
                </a:solidFill>
              </a:rPr>
              <a:t>React + Vite</a:t>
            </a:r>
            <a:endParaRPr lang="en-US" sz="1400" dirty="0"/>
          </a:p>
        </p:txBody>
      </p:sp>
      <p:sp>
        <p:nvSpPr>
          <p:cNvPr id="9" name="Backend circle"/>
          <p:cNvSpPr/>
          <p:nvPr/>
        </p:nvSpPr>
        <p:spPr>
          <a:xfrm>
            <a:off x="8092440" y="2148840"/>
            <a:ext cx="548640" cy="548640"/>
          </a:xfrm>
          <a:prstGeom prst="ellipse">
            <a:avLst/>
          </a:prstGeom>
          <a:solidFill>
            <a:schemeClr val="accent2"/>
          </a:solidFill>
          <a:ln w="12700">
            <a:solidFill>
              <a:schemeClr val="accent2"/>
            </a:solidFill>
            <a:prstDash val="solid"/>
          </a:ln>
        </p:spPr>
      </p:sp>
      <p:pic>
        <p:nvPicPr>
          <p:cNvPr id="10" name="Backend icon" descr="preencoded.png"/>
          <p:cNvPicPr>
            <a:picLocks noChangeAspect="1"/>
          </p:cNvPicPr>
          <p:nvPr/>
        </p:nvPicPr>
        <p:blipFill>
          <a:blip r:embed="rId5"/>
          <a:stretch>
            <a:fillRect/>
          </a:stretch>
        </p:blipFill>
        <p:spPr>
          <a:xfrm>
            <a:off x="8235086" y="2291486"/>
            <a:ext cx="263347" cy="263347"/>
          </a:xfrm>
          <a:prstGeom prst="rect">
            <a:avLst/>
          </a:prstGeom>
        </p:spPr>
      </p:pic>
      <p:sp>
        <p:nvSpPr>
          <p:cNvPr id="11" name="Text 6"/>
          <p:cNvSpPr txBox="1"/>
          <p:nvPr/>
        </p:nvSpPr>
        <p:spPr>
          <a:xfrm>
            <a:off x="8823960" y="2103120"/>
            <a:ext cx="2788920" cy="640080"/>
          </a:xfrm>
          <a:prstGeom prst="rect">
            <a:avLst/>
          </a:prstGeom>
          <a:noFill/>
          <a:ln/>
        </p:spPr>
        <p:txBody>
          <a:bodyPr wrap="square" lIns="0" tIns="0" rIns="0" bIns="0" rtlCol="0" anchor="ctr"/>
          <a:lstStyle/>
          <a:p>
            <a:pPr marL="0" indent="0">
              <a:buNone/>
            </a:pPr>
            <a:r>
              <a:rPr lang="en-US" sz="1600" b="1" dirty="0">
                <a:solidFill>
                  <a:schemeClr val="tx1"/>
                </a:solidFill>
              </a:rPr>
              <a:t>Backend</a:t>
            </a:r>
            <a:endParaRPr lang="en-US" sz="1400" dirty="0"/>
          </a:p>
          <a:p>
            <a:pPr marL="0" indent="0">
              <a:buNone/>
            </a:pPr>
            <a:r>
              <a:rPr lang="en-US" sz="1400" dirty="0">
                <a:solidFill>
                  <a:schemeClr val="tx2"/>
                </a:solidFill>
              </a:rPr>
              <a:t>Node.js + Express</a:t>
            </a:r>
            <a:endParaRPr lang="en-US" sz="1400" dirty="0"/>
          </a:p>
        </p:txBody>
      </p:sp>
      <p:sp>
        <p:nvSpPr>
          <p:cNvPr id="12" name="Database circle"/>
          <p:cNvSpPr/>
          <p:nvPr/>
        </p:nvSpPr>
        <p:spPr>
          <a:xfrm>
            <a:off x="8092440" y="2926080"/>
            <a:ext cx="548640" cy="548640"/>
          </a:xfrm>
          <a:prstGeom prst="ellipse">
            <a:avLst/>
          </a:prstGeom>
          <a:solidFill>
            <a:schemeClr val="accent1"/>
          </a:solidFill>
          <a:ln w="12700">
            <a:solidFill>
              <a:schemeClr val="accent1"/>
            </a:solidFill>
            <a:prstDash val="solid"/>
          </a:ln>
        </p:spPr>
      </p:sp>
      <p:pic>
        <p:nvPicPr>
          <p:cNvPr id="13" name="Database icon" descr="preencoded.png"/>
          <p:cNvPicPr>
            <a:picLocks noChangeAspect="1"/>
          </p:cNvPicPr>
          <p:nvPr/>
        </p:nvPicPr>
        <p:blipFill>
          <a:blip r:embed="rId6"/>
          <a:stretch>
            <a:fillRect/>
          </a:stretch>
        </p:blipFill>
        <p:spPr>
          <a:xfrm>
            <a:off x="8235086" y="3068726"/>
            <a:ext cx="263347" cy="263347"/>
          </a:xfrm>
          <a:prstGeom prst="rect">
            <a:avLst/>
          </a:prstGeom>
        </p:spPr>
      </p:pic>
      <p:sp>
        <p:nvSpPr>
          <p:cNvPr id="14" name="Text 8"/>
          <p:cNvSpPr txBox="1"/>
          <p:nvPr/>
        </p:nvSpPr>
        <p:spPr>
          <a:xfrm>
            <a:off x="8823960" y="2880360"/>
            <a:ext cx="2788920" cy="640080"/>
          </a:xfrm>
          <a:prstGeom prst="rect">
            <a:avLst/>
          </a:prstGeom>
          <a:noFill/>
          <a:ln/>
        </p:spPr>
        <p:txBody>
          <a:bodyPr wrap="square" lIns="0" tIns="0" rIns="0" bIns="0" rtlCol="0" anchor="ctr"/>
          <a:lstStyle/>
          <a:p>
            <a:pPr marL="0" indent="0">
              <a:buNone/>
            </a:pPr>
            <a:r>
              <a:rPr lang="en-US" sz="1600" b="1" dirty="0">
                <a:solidFill>
                  <a:schemeClr val="tx1"/>
                </a:solidFill>
              </a:rPr>
              <a:t>Database</a:t>
            </a:r>
            <a:endParaRPr lang="en-US" sz="1400" dirty="0"/>
          </a:p>
          <a:p>
            <a:pPr marL="0" indent="0">
              <a:buNone/>
            </a:pPr>
            <a:r>
              <a:rPr lang="en-US" sz="1400" dirty="0">
                <a:solidFill>
                  <a:schemeClr val="tx2"/>
                </a:solidFill>
              </a:rPr>
              <a:t>PostgreSQL</a:t>
            </a:r>
            <a:endParaRPr lang="en-US" sz="1400" dirty="0"/>
          </a:p>
        </p:txBody>
      </p:sp>
      <p:sp>
        <p:nvSpPr>
          <p:cNvPr id="15" name="Benefits card"/>
          <p:cNvSpPr/>
          <p:nvPr/>
        </p:nvSpPr>
        <p:spPr>
          <a:xfrm>
            <a:off x="8092440" y="3886200"/>
            <a:ext cx="3520440" cy="2011680"/>
          </a:xfrm>
          <a:prstGeom prst="roundRect">
            <a:avLst>
              <a:gd name="adj" fmla="val 5455"/>
            </a:avLst>
          </a:prstGeom>
          <a:solidFill>
            <a:schemeClr val="accent1">
              <a:alpha val="12000"/>
            </a:schemeClr>
          </a:solidFill>
          <a:ln w="12700">
            <a:solidFill>
              <a:schemeClr val="accent1"/>
            </a:solidFill>
            <a:prstDash val="solid"/>
          </a:ln>
        </p:spPr>
      </p:sp>
      <p:sp>
        <p:nvSpPr>
          <p:cNvPr id="16" name="Text 10"/>
          <p:cNvSpPr txBox="1"/>
          <p:nvPr/>
        </p:nvSpPr>
        <p:spPr>
          <a:xfrm>
            <a:off x="8366760" y="4041648"/>
            <a:ext cx="2743200" cy="274320"/>
          </a:xfrm>
          <a:prstGeom prst="rect">
            <a:avLst/>
          </a:prstGeom>
          <a:noFill/>
          <a:ln/>
        </p:spPr>
        <p:txBody>
          <a:bodyPr wrap="square" lIns="0" tIns="0" rIns="0" bIns="0" rtlCol="0" anchor="t"/>
          <a:lstStyle/>
          <a:p>
            <a:pPr marL="0" indent="0">
              <a:buNone/>
            </a:pPr>
            <a:r>
              <a:rPr lang="en-US" sz="1200" b="1" kern="0" spc="100" dirty="0">
                <a:solidFill>
                  <a:schemeClr val="accent1"/>
                </a:solidFill>
              </a:rPr>
              <a:t>BENEFITS</a:t>
            </a:r>
            <a:endParaRPr lang="en-US" sz="1200" dirty="0"/>
          </a:p>
        </p:txBody>
      </p:sp>
      <p:pic>
        <p:nvPicPr>
          <p:cNvPr id="17" name="Image 4" descr="preencoded.png"/>
          <p:cNvPicPr>
            <a:picLocks noChangeAspect="1"/>
          </p:cNvPicPr>
          <p:nvPr/>
        </p:nvPicPr>
        <p:blipFill>
          <a:blip r:embed="rId7"/>
          <a:stretch>
            <a:fillRect/>
          </a:stretch>
        </p:blipFill>
        <p:spPr>
          <a:xfrm>
            <a:off x="8366760" y="4498848"/>
            <a:ext cx="201168" cy="201168"/>
          </a:xfrm>
          <a:prstGeom prst="rect">
            <a:avLst/>
          </a:prstGeom>
        </p:spPr>
      </p:pic>
      <p:sp>
        <p:nvSpPr>
          <p:cNvPr id="18" name="Text 11"/>
          <p:cNvSpPr txBox="1"/>
          <p:nvPr/>
        </p:nvSpPr>
        <p:spPr>
          <a:xfrm>
            <a:off x="8686800" y="4443984"/>
            <a:ext cx="2697480" cy="320040"/>
          </a:xfrm>
          <a:prstGeom prst="rect">
            <a:avLst/>
          </a:prstGeom>
          <a:noFill/>
          <a:ln/>
        </p:spPr>
        <p:txBody>
          <a:bodyPr wrap="square" lIns="0" tIns="0" rIns="0" bIns="0" rtlCol="0" anchor="ctr"/>
          <a:lstStyle/>
          <a:p>
            <a:pPr marL="0" indent="0">
              <a:buNone/>
            </a:pPr>
            <a:r>
              <a:rPr lang="en-US" sz="1500" dirty="0">
                <a:solidFill>
                  <a:schemeClr val="tx1"/>
                </a:solidFill>
              </a:rPr>
              <a:t>Separation of concerns</a:t>
            </a:r>
            <a:endParaRPr lang="en-US" sz="1500" dirty="0"/>
          </a:p>
        </p:txBody>
      </p:sp>
      <p:pic>
        <p:nvPicPr>
          <p:cNvPr id="19" name="Image 5" descr="preencoded.png"/>
          <p:cNvPicPr>
            <a:picLocks noChangeAspect="1"/>
          </p:cNvPicPr>
          <p:nvPr/>
        </p:nvPicPr>
        <p:blipFill>
          <a:blip r:embed="rId7"/>
          <a:stretch>
            <a:fillRect/>
          </a:stretch>
        </p:blipFill>
        <p:spPr>
          <a:xfrm>
            <a:off x="8366760" y="4928616"/>
            <a:ext cx="201168" cy="201168"/>
          </a:xfrm>
          <a:prstGeom prst="rect">
            <a:avLst/>
          </a:prstGeom>
        </p:spPr>
      </p:pic>
      <p:sp>
        <p:nvSpPr>
          <p:cNvPr id="20" name="Text 12"/>
          <p:cNvSpPr txBox="1"/>
          <p:nvPr/>
        </p:nvSpPr>
        <p:spPr>
          <a:xfrm>
            <a:off x="8686800" y="4873752"/>
            <a:ext cx="2697480" cy="320040"/>
          </a:xfrm>
          <a:prstGeom prst="rect">
            <a:avLst/>
          </a:prstGeom>
          <a:noFill/>
          <a:ln/>
        </p:spPr>
        <p:txBody>
          <a:bodyPr wrap="square" lIns="0" tIns="0" rIns="0" bIns="0" rtlCol="0" anchor="ctr"/>
          <a:lstStyle/>
          <a:p>
            <a:pPr marL="0" indent="0">
              <a:buNone/>
            </a:pPr>
            <a:r>
              <a:rPr lang="en-US" sz="1500" dirty="0">
                <a:solidFill>
                  <a:schemeClr val="tx1"/>
                </a:solidFill>
              </a:rPr>
              <a:t>Maintainability</a:t>
            </a:r>
            <a:endParaRPr lang="en-US" sz="1500" dirty="0"/>
          </a:p>
        </p:txBody>
      </p:sp>
      <p:pic>
        <p:nvPicPr>
          <p:cNvPr id="21" name="Image 6" descr="preencoded.png"/>
          <p:cNvPicPr>
            <a:picLocks noChangeAspect="1"/>
          </p:cNvPicPr>
          <p:nvPr/>
        </p:nvPicPr>
        <p:blipFill>
          <a:blip r:embed="rId7"/>
          <a:stretch>
            <a:fillRect/>
          </a:stretch>
        </p:blipFill>
        <p:spPr>
          <a:xfrm>
            <a:off x="8366760" y="5358384"/>
            <a:ext cx="201168" cy="201168"/>
          </a:xfrm>
          <a:prstGeom prst="rect">
            <a:avLst/>
          </a:prstGeom>
        </p:spPr>
      </p:pic>
      <p:sp>
        <p:nvSpPr>
          <p:cNvPr id="22" name="Text 13"/>
          <p:cNvSpPr txBox="1"/>
          <p:nvPr/>
        </p:nvSpPr>
        <p:spPr>
          <a:xfrm>
            <a:off x="8686800" y="5303520"/>
            <a:ext cx="2697480" cy="320040"/>
          </a:xfrm>
          <a:prstGeom prst="rect">
            <a:avLst/>
          </a:prstGeom>
          <a:noFill/>
          <a:ln/>
        </p:spPr>
        <p:txBody>
          <a:bodyPr wrap="square" lIns="0" tIns="0" rIns="0" bIns="0" rtlCol="0" anchor="ctr"/>
          <a:lstStyle/>
          <a:p>
            <a:pPr marL="0" indent="0">
              <a:buNone/>
            </a:pPr>
            <a:r>
              <a:rPr lang="en-US" sz="1500" dirty="0">
                <a:solidFill>
                  <a:schemeClr val="tx1"/>
                </a:solidFill>
              </a:rPr>
              <a:t>Clean data flow</a:t>
            </a:r>
            <a:endParaRPr lang="en-US" sz="1500" dirty="0"/>
          </a:p>
        </p:txBody>
      </p:sp>
      <p:sp>
        <p:nvSpPr>
          <p:cNvPr id="23" name="Source"/>
          <p:cNvSpPr txBox="1"/>
          <p:nvPr/>
        </p:nvSpPr>
        <p:spPr>
          <a:xfrm>
            <a:off x="548640" y="6053328"/>
            <a:ext cx="11064240" cy="256032"/>
          </a:xfrm>
          <a:prstGeom prst="rect">
            <a:avLst/>
          </a:prstGeom>
          <a:noFill/>
          <a:ln/>
        </p:spPr>
        <p:txBody>
          <a:bodyPr wrap="square" lIns="0" tIns="0" rIns="0" bIns="0" rtlCol="0" anchor="b"/>
          <a:lstStyle/>
          <a:p>
            <a:pPr marL="0" indent="0">
              <a:buNone/>
            </a:pPr>
            <a:r>
              <a:rPr lang="en-US" sz="1000" i="1" dirty="0">
                <a:solidFill>
                  <a:schemeClr val="accent6"/>
                </a:solidFill>
              </a:rPr>
              <a:t>Sources: Castilho (2023); Mamun (2021)</a:t>
            </a:r>
            <a:endParaRPr lang="en-US" sz="1000" dirty="0"/>
          </a:p>
        </p:txBody>
      </p:sp>
      <p:sp>
        <p:nvSpPr>
          <p:cNvPr id="25" name="Slide Number Placeholder 0"/>
          <p:cNvSpPr>
            <a:spLocks noGrp="1"/>
          </p:cNvSpPr>
          <p:nvPr>
            <p:ph type="sldNum" sz="quarter" idx="4294967295"/>
          </p:nvPr>
        </p:nvSpPr>
        <p:spPr>
          <a:xfrm>
            <a:off x="11201400" y="6382512"/>
            <a:ext cx="41148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64240" cy="731520"/>
          </a:xfrm>
          <a:prstGeom prst="rect">
            <a:avLst/>
          </a:prstGeom>
          <a:noFill/>
          <a:ln/>
        </p:spPr>
        <p:txBody>
          <a:bodyPr wrap="square" lIns="0" tIns="0" rIns="0" bIns="0" rtlCol="0" anchor="ctr"/>
          <a:lstStyle/>
          <a:p>
            <a:pPr marL="0" indent="0" algn="l">
              <a:buNone/>
            </a:pPr>
            <a:r>
              <a:rPr lang="en-US" sz="3400" b="1" dirty="0">
                <a:solidFill>
                  <a:schemeClr val="tx1"/>
                </a:solidFill>
                <a:latin typeface="Arial" pitchFamily="34" charset="0"/>
                <a:ea typeface="Arial" pitchFamily="34" charset="-122"/>
                <a:cs typeface="Arial" pitchFamily="34" charset="-120"/>
              </a:rPr>
              <a:t>Frontend overview</a:t>
            </a:r>
            <a:endParaRPr lang="en-US" sz="3400" dirty="0"/>
          </a:p>
        </p:txBody>
      </p:sp>
      <p:pic>
        <p:nvPicPr>
          <p:cNvPr id="3" name="Dashboard screenshot" descr="Dashboard screenshot"/>
          <p:cNvPicPr>
            <a:picLocks noChangeAspect="1"/>
          </p:cNvPicPr>
          <p:nvPr/>
        </p:nvPicPr>
        <p:blipFill>
          <a:blip r:embed="rId3"/>
          <a:stretch>
            <a:fillRect/>
          </a:stretch>
        </p:blipFill>
        <p:spPr>
          <a:xfrm>
            <a:off x="548640" y="1417320"/>
            <a:ext cx="7223760" cy="3443136"/>
          </a:xfrm>
          <a:prstGeom prst="rect">
            <a:avLst/>
          </a:prstGeom>
          <a:effectLst>
            <a:outerShdw blurRad="101600" dist="25400" dir="5400000" algn="bl" rotWithShape="0">
              <a:srgbClr val="1E2633">
                <a:alpha val="12000"/>
              </a:srgbClr>
            </a:outerShdw>
          </a:effectLst>
        </p:spPr>
      </p:pic>
      <p:sp>
        <p:nvSpPr>
          <p:cNvPr id="4" name="Text 1"/>
          <p:cNvSpPr txBox="1"/>
          <p:nvPr/>
        </p:nvSpPr>
        <p:spPr>
          <a:xfrm>
            <a:off x="548640" y="4997616"/>
            <a:ext cx="7223760" cy="457200"/>
          </a:xfrm>
          <a:prstGeom prst="rect">
            <a:avLst/>
          </a:prstGeom>
          <a:noFill/>
          <a:ln/>
        </p:spPr>
        <p:txBody>
          <a:bodyPr wrap="square" lIns="0" tIns="0" rIns="0" bIns="0" rtlCol="0" anchor="t"/>
          <a:lstStyle/>
          <a:p>
            <a:pPr marL="0" indent="0">
              <a:buNone/>
            </a:pPr>
            <a:r>
              <a:rPr lang="en-US" sz="1200" i="1" dirty="0">
                <a:solidFill>
                  <a:schemeClr val="accent6"/>
                </a:solidFill>
              </a:rPr>
              <a:t>Dashboard: summary cards, weekly wellness overview (hover for daily detail) and weekly goals progress</a:t>
            </a:r>
            <a:endParaRPr lang="en-US" sz="1200" dirty="0"/>
          </a:p>
        </p:txBody>
      </p:sp>
      <p:sp>
        <p:nvSpPr>
          <p:cNvPr id="5" name="Text 2"/>
          <p:cNvSpPr txBox="1"/>
          <p:nvPr/>
        </p:nvSpPr>
        <p:spPr>
          <a:xfrm>
            <a:off x="8183880" y="1417320"/>
            <a:ext cx="3429000" cy="274320"/>
          </a:xfrm>
          <a:prstGeom prst="rect">
            <a:avLst/>
          </a:prstGeom>
          <a:noFill/>
          <a:ln/>
        </p:spPr>
        <p:txBody>
          <a:bodyPr wrap="square" lIns="0" tIns="0" rIns="0" bIns="0" rtlCol="0" anchor="t"/>
          <a:lstStyle/>
          <a:p>
            <a:pPr marL="0" indent="0">
              <a:buNone/>
            </a:pPr>
            <a:r>
              <a:rPr lang="en-US" sz="1200" b="1" kern="0" spc="100" dirty="0">
                <a:solidFill>
                  <a:schemeClr val="accent1"/>
                </a:solidFill>
              </a:rPr>
              <a:t>TECHNOLOGIES</a:t>
            </a:r>
            <a:endParaRPr lang="en-US" sz="1200" dirty="0"/>
          </a:p>
        </p:txBody>
      </p:sp>
      <p:sp>
        <p:nvSpPr>
          <p:cNvPr id="6" name="Shape 3"/>
          <p:cNvSpPr/>
          <p:nvPr/>
        </p:nvSpPr>
        <p:spPr>
          <a:xfrm>
            <a:off x="8183880" y="1783080"/>
            <a:ext cx="1051560" cy="347472"/>
          </a:xfrm>
          <a:prstGeom prst="roundRect">
            <a:avLst>
              <a:gd name="adj" fmla="val 50000"/>
            </a:avLst>
          </a:prstGeom>
          <a:solidFill>
            <a:schemeClr val="tx2"/>
          </a:solidFill>
          <a:ln w="12700">
            <a:solidFill>
              <a:schemeClr val="tx2"/>
            </a:solidFill>
            <a:prstDash val="solid"/>
          </a:ln>
        </p:spPr>
      </p:sp>
      <p:sp>
        <p:nvSpPr>
          <p:cNvPr id="7" name="Text 4"/>
          <p:cNvSpPr txBox="1"/>
          <p:nvPr/>
        </p:nvSpPr>
        <p:spPr>
          <a:xfrm>
            <a:off x="8183880" y="1783080"/>
            <a:ext cx="1051560" cy="347472"/>
          </a:xfrm>
          <a:prstGeom prst="rect">
            <a:avLst/>
          </a:prstGeom>
          <a:noFill/>
          <a:ln/>
        </p:spPr>
        <p:txBody>
          <a:bodyPr wrap="square" lIns="0" tIns="0" rIns="0" bIns="0" rtlCol="0" anchor="ctr"/>
          <a:lstStyle/>
          <a:p>
            <a:pPr marL="0" indent="0" algn="ctr">
              <a:buNone/>
            </a:pPr>
            <a:r>
              <a:rPr lang="en-US" sz="1200" b="1" dirty="0">
                <a:solidFill>
                  <a:schemeClr val="bg1"/>
                </a:solidFill>
              </a:rPr>
              <a:t>React 19</a:t>
            </a:r>
            <a:endParaRPr lang="en-US" sz="1200" dirty="0"/>
          </a:p>
        </p:txBody>
      </p:sp>
      <p:sp>
        <p:nvSpPr>
          <p:cNvPr id="8" name="Shape 5"/>
          <p:cNvSpPr/>
          <p:nvPr/>
        </p:nvSpPr>
        <p:spPr>
          <a:xfrm>
            <a:off x="9345168" y="1783080"/>
            <a:ext cx="1600200" cy="347472"/>
          </a:xfrm>
          <a:prstGeom prst="roundRect">
            <a:avLst>
              <a:gd name="adj" fmla="val 50000"/>
            </a:avLst>
          </a:prstGeom>
          <a:solidFill>
            <a:schemeClr val="tx2"/>
          </a:solidFill>
          <a:ln w="12700">
            <a:solidFill>
              <a:schemeClr val="tx2"/>
            </a:solidFill>
            <a:prstDash val="solid"/>
          </a:ln>
        </p:spPr>
      </p:sp>
      <p:sp>
        <p:nvSpPr>
          <p:cNvPr id="9" name="Text 6"/>
          <p:cNvSpPr txBox="1"/>
          <p:nvPr/>
        </p:nvSpPr>
        <p:spPr>
          <a:xfrm>
            <a:off x="9345168" y="1783080"/>
            <a:ext cx="1600200" cy="347472"/>
          </a:xfrm>
          <a:prstGeom prst="rect">
            <a:avLst/>
          </a:prstGeom>
          <a:noFill/>
          <a:ln/>
        </p:spPr>
        <p:txBody>
          <a:bodyPr wrap="square" lIns="0" tIns="0" rIns="0" bIns="0" rtlCol="0" anchor="ctr"/>
          <a:lstStyle/>
          <a:p>
            <a:pPr marL="0" indent="0" algn="ctr">
              <a:buNone/>
            </a:pPr>
            <a:r>
              <a:rPr lang="en-US" sz="1200" b="1" dirty="0">
                <a:solidFill>
                  <a:schemeClr val="bg1"/>
                </a:solidFill>
              </a:rPr>
              <a:t>React Router v7</a:t>
            </a:r>
            <a:endParaRPr lang="en-US" sz="1200" dirty="0"/>
          </a:p>
        </p:txBody>
      </p:sp>
      <p:sp>
        <p:nvSpPr>
          <p:cNvPr id="10" name="Shape 7"/>
          <p:cNvSpPr/>
          <p:nvPr/>
        </p:nvSpPr>
        <p:spPr>
          <a:xfrm>
            <a:off x="8183880" y="2240280"/>
            <a:ext cx="1234440" cy="347472"/>
          </a:xfrm>
          <a:prstGeom prst="roundRect">
            <a:avLst>
              <a:gd name="adj" fmla="val 50000"/>
            </a:avLst>
          </a:prstGeom>
          <a:solidFill>
            <a:schemeClr val="tx2"/>
          </a:solidFill>
          <a:ln w="12700">
            <a:solidFill>
              <a:schemeClr val="tx2"/>
            </a:solidFill>
            <a:prstDash val="solid"/>
          </a:ln>
        </p:spPr>
      </p:sp>
      <p:sp>
        <p:nvSpPr>
          <p:cNvPr id="11" name="Text 8"/>
          <p:cNvSpPr txBox="1"/>
          <p:nvPr/>
        </p:nvSpPr>
        <p:spPr>
          <a:xfrm>
            <a:off x="8183880" y="2240280"/>
            <a:ext cx="1234440" cy="347472"/>
          </a:xfrm>
          <a:prstGeom prst="rect">
            <a:avLst/>
          </a:prstGeom>
          <a:noFill/>
          <a:ln/>
        </p:spPr>
        <p:txBody>
          <a:bodyPr wrap="square" lIns="0" tIns="0" rIns="0" bIns="0" rtlCol="0" anchor="ctr"/>
          <a:lstStyle/>
          <a:p>
            <a:pPr marL="0" indent="0" algn="ctr">
              <a:buNone/>
            </a:pPr>
            <a:r>
              <a:rPr lang="en-US" sz="1200" b="1" dirty="0">
                <a:solidFill>
                  <a:schemeClr val="bg1"/>
                </a:solidFill>
              </a:rPr>
              <a:t>Context API</a:t>
            </a:r>
            <a:endParaRPr lang="en-US" sz="1200" dirty="0"/>
          </a:p>
        </p:txBody>
      </p:sp>
      <p:sp>
        <p:nvSpPr>
          <p:cNvPr id="12" name="Text 9"/>
          <p:cNvSpPr txBox="1"/>
          <p:nvPr/>
        </p:nvSpPr>
        <p:spPr>
          <a:xfrm>
            <a:off x="8183880" y="2788920"/>
            <a:ext cx="3429000" cy="274320"/>
          </a:xfrm>
          <a:prstGeom prst="rect">
            <a:avLst/>
          </a:prstGeom>
          <a:noFill/>
          <a:ln/>
        </p:spPr>
        <p:txBody>
          <a:bodyPr wrap="square" lIns="0" tIns="0" rIns="0" bIns="0" rtlCol="0" anchor="t"/>
          <a:lstStyle/>
          <a:p>
            <a:pPr marL="0" indent="0">
              <a:buNone/>
            </a:pPr>
            <a:r>
              <a:rPr lang="en-US" sz="1200" b="1" kern="0" spc="100" dirty="0">
                <a:solidFill>
                  <a:schemeClr val="accent1"/>
                </a:solidFill>
              </a:rPr>
              <a:t>KEY FEATURES</a:t>
            </a:r>
            <a:endParaRPr lang="en-US" sz="1200" dirty="0"/>
          </a:p>
        </p:txBody>
      </p:sp>
      <p:sp>
        <p:nvSpPr>
          <p:cNvPr id="13" name="Dashboard circle"/>
          <p:cNvSpPr/>
          <p:nvPr/>
        </p:nvSpPr>
        <p:spPr>
          <a:xfrm>
            <a:off x="8183880" y="3154680"/>
            <a:ext cx="411480" cy="411480"/>
          </a:xfrm>
          <a:prstGeom prst="ellipse">
            <a:avLst/>
          </a:prstGeom>
          <a:solidFill>
            <a:schemeClr val="accent1"/>
          </a:solidFill>
          <a:ln w="12700">
            <a:solidFill>
              <a:schemeClr val="accent1"/>
            </a:solidFill>
            <a:prstDash val="solid"/>
          </a:ln>
        </p:spPr>
      </p:sp>
      <p:pic>
        <p:nvPicPr>
          <p:cNvPr id="14" name="Dashboard icon" descr="preencoded.png"/>
          <p:cNvPicPr>
            <a:picLocks noChangeAspect="1"/>
          </p:cNvPicPr>
          <p:nvPr/>
        </p:nvPicPr>
        <p:blipFill>
          <a:blip r:embed="rId4"/>
          <a:stretch>
            <a:fillRect/>
          </a:stretch>
        </p:blipFill>
        <p:spPr>
          <a:xfrm>
            <a:off x="8290865" y="3261665"/>
            <a:ext cx="197510" cy="197510"/>
          </a:xfrm>
          <a:prstGeom prst="rect">
            <a:avLst/>
          </a:prstGeom>
        </p:spPr>
      </p:pic>
      <p:sp>
        <p:nvSpPr>
          <p:cNvPr id="15" name="Text 11"/>
          <p:cNvSpPr txBox="1"/>
          <p:nvPr/>
        </p:nvSpPr>
        <p:spPr>
          <a:xfrm>
            <a:off x="8750808" y="3154680"/>
            <a:ext cx="2862072" cy="411480"/>
          </a:xfrm>
          <a:prstGeom prst="rect">
            <a:avLst/>
          </a:prstGeom>
          <a:noFill/>
          <a:ln/>
        </p:spPr>
        <p:txBody>
          <a:bodyPr wrap="square" lIns="0" tIns="0" rIns="0" bIns="0" rtlCol="0" anchor="ctr"/>
          <a:lstStyle/>
          <a:p>
            <a:pPr marL="0" indent="0">
              <a:buNone/>
            </a:pPr>
            <a:r>
              <a:rPr lang="en-US" sz="1500" dirty="0">
                <a:solidFill>
                  <a:schemeClr val="tx1"/>
                </a:solidFill>
              </a:rPr>
              <a:t>Dashboard</a:t>
            </a:r>
            <a:endParaRPr lang="en-US" sz="1500" dirty="0"/>
          </a:p>
        </p:txBody>
      </p:sp>
      <p:sp>
        <p:nvSpPr>
          <p:cNvPr id="16" name="Logging modules circle"/>
          <p:cNvSpPr/>
          <p:nvPr/>
        </p:nvSpPr>
        <p:spPr>
          <a:xfrm>
            <a:off x="8183880" y="3703320"/>
            <a:ext cx="411480" cy="411480"/>
          </a:xfrm>
          <a:prstGeom prst="ellipse">
            <a:avLst/>
          </a:prstGeom>
          <a:solidFill>
            <a:schemeClr val="accent1"/>
          </a:solidFill>
          <a:ln w="12700">
            <a:solidFill>
              <a:schemeClr val="accent1"/>
            </a:solidFill>
            <a:prstDash val="solid"/>
          </a:ln>
        </p:spPr>
      </p:sp>
      <p:pic>
        <p:nvPicPr>
          <p:cNvPr id="17" name="Logging modules icon" descr="preencoded.png"/>
          <p:cNvPicPr>
            <a:picLocks noChangeAspect="1"/>
          </p:cNvPicPr>
          <p:nvPr/>
        </p:nvPicPr>
        <p:blipFill>
          <a:blip r:embed="rId5"/>
          <a:stretch>
            <a:fillRect/>
          </a:stretch>
        </p:blipFill>
        <p:spPr>
          <a:xfrm>
            <a:off x="8290865" y="3810305"/>
            <a:ext cx="197510" cy="197510"/>
          </a:xfrm>
          <a:prstGeom prst="rect">
            <a:avLst/>
          </a:prstGeom>
        </p:spPr>
      </p:pic>
      <p:sp>
        <p:nvSpPr>
          <p:cNvPr id="18" name="Text 13"/>
          <p:cNvSpPr txBox="1"/>
          <p:nvPr/>
        </p:nvSpPr>
        <p:spPr>
          <a:xfrm>
            <a:off x="8750808" y="3703320"/>
            <a:ext cx="2862072" cy="411480"/>
          </a:xfrm>
          <a:prstGeom prst="rect">
            <a:avLst/>
          </a:prstGeom>
          <a:noFill/>
          <a:ln/>
        </p:spPr>
        <p:txBody>
          <a:bodyPr wrap="square" lIns="0" tIns="0" rIns="0" bIns="0" rtlCol="0" anchor="ctr"/>
          <a:lstStyle/>
          <a:p>
            <a:pPr marL="0" indent="0">
              <a:buNone/>
            </a:pPr>
            <a:r>
              <a:rPr lang="en-US" sz="1500" dirty="0">
                <a:solidFill>
                  <a:schemeClr val="tx1"/>
                </a:solidFill>
              </a:rPr>
              <a:t>Logging modules</a:t>
            </a:r>
            <a:endParaRPr lang="en-US" sz="1500" dirty="0"/>
          </a:p>
        </p:txBody>
      </p:sp>
      <p:sp>
        <p:nvSpPr>
          <p:cNvPr id="19" name="History pages circle"/>
          <p:cNvSpPr/>
          <p:nvPr/>
        </p:nvSpPr>
        <p:spPr>
          <a:xfrm>
            <a:off x="8183880" y="4251960"/>
            <a:ext cx="411480" cy="411480"/>
          </a:xfrm>
          <a:prstGeom prst="ellipse">
            <a:avLst/>
          </a:prstGeom>
          <a:solidFill>
            <a:schemeClr val="accent1"/>
          </a:solidFill>
          <a:ln w="12700">
            <a:solidFill>
              <a:schemeClr val="accent1"/>
            </a:solidFill>
            <a:prstDash val="solid"/>
          </a:ln>
        </p:spPr>
      </p:sp>
      <p:pic>
        <p:nvPicPr>
          <p:cNvPr id="20" name="History pages icon" descr="preencoded.png"/>
          <p:cNvPicPr>
            <a:picLocks noChangeAspect="1"/>
          </p:cNvPicPr>
          <p:nvPr/>
        </p:nvPicPr>
        <p:blipFill>
          <a:blip r:embed="rId6"/>
          <a:stretch>
            <a:fillRect/>
          </a:stretch>
        </p:blipFill>
        <p:spPr>
          <a:xfrm>
            <a:off x="8290865" y="4358945"/>
            <a:ext cx="197510" cy="197510"/>
          </a:xfrm>
          <a:prstGeom prst="rect">
            <a:avLst/>
          </a:prstGeom>
        </p:spPr>
      </p:pic>
      <p:sp>
        <p:nvSpPr>
          <p:cNvPr id="21" name="Text 15"/>
          <p:cNvSpPr txBox="1"/>
          <p:nvPr/>
        </p:nvSpPr>
        <p:spPr>
          <a:xfrm>
            <a:off x="8750808" y="4251960"/>
            <a:ext cx="2862072" cy="411480"/>
          </a:xfrm>
          <a:prstGeom prst="rect">
            <a:avLst/>
          </a:prstGeom>
          <a:noFill/>
          <a:ln/>
        </p:spPr>
        <p:txBody>
          <a:bodyPr wrap="square" lIns="0" tIns="0" rIns="0" bIns="0" rtlCol="0" anchor="ctr"/>
          <a:lstStyle/>
          <a:p>
            <a:pPr marL="0" indent="0">
              <a:buNone/>
            </a:pPr>
            <a:r>
              <a:rPr lang="en-US" sz="1500" dirty="0">
                <a:solidFill>
                  <a:schemeClr val="tx1"/>
                </a:solidFill>
              </a:rPr>
              <a:t>History pages</a:t>
            </a:r>
            <a:endParaRPr lang="en-US" sz="1500" dirty="0"/>
          </a:p>
        </p:txBody>
      </p:sp>
      <p:sp>
        <p:nvSpPr>
          <p:cNvPr id="22" name="Profile &amp; weekly goals circle"/>
          <p:cNvSpPr/>
          <p:nvPr/>
        </p:nvSpPr>
        <p:spPr>
          <a:xfrm>
            <a:off x="8183880" y="4800600"/>
            <a:ext cx="411480" cy="411480"/>
          </a:xfrm>
          <a:prstGeom prst="ellipse">
            <a:avLst/>
          </a:prstGeom>
          <a:solidFill>
            <a:schemeClr val="accent1"/>
          </a:solidFill>
          <a:ln w="12700">
            <a:solidFill>
              <a:schemeClr val="accent1"/>
            </a:solidFill>
            <a:prstDash val="solid"/>
          </a:ln>
        </p:spPr>
      </p:sp>
      <p:pic>
        <p:nvPicPr>
          <p:cNvPr id="23" name="Profile &amp; weekly goals icon" descr="preencoded.png"/>
          <p:cNvPicPr>
            <a:picLocks noChangeAspect="1"/>
          </p:cNvPicPr>
          <p:nvPr/>
        </p:nvPicPr>
        <p:blipFill>
          <a:blip r:embed="rId7"/>
          <a:stretch>
            <a:fillRect/>
          </a:stretch>
        </p:blipFill>
        <p:spPr>
          <a:xfrm>
            <a:off x="8290865" y="4907585"/>
            <a:ext cx="197510" cy="197510"/>
          </a:xfrm>
          <a:prstGeom prst="rect">
            <a:avLst/>
          </a:prstGeom>
        </p:spPr>
      </p:pic>
      <p:sp>
        <p:nvSpPr>
          <p:cNvPr id="24" name="Text 17"/>
          <p:cNvSpPr txBox="1"/>
          <p:nvPr/>
        </p:nvSpPr>
        <p:spPr>
          <a:xfrm>
            <a:off x="8750808" y="4800600"/>
            <a:ext cx="2862072" cy="411480"/>
          </a:xfrm>
          <a:prstGeom prst="rect">
            <a:avLst/>
          </a:prstGeom>
          <a:noFill/>
          <a:ln/>
        </p:spPr>
        <p:txBody>
          <a:bodyPr wrap="square" lIns="0" tIns="0" rIns="0" bIns="0" rtlCol="0" anchor="ctr"/>
          <a:lstStyle/>
          <a:p>
            <a:pPr marL="0" indent="0">
              <a:buNone/>
            </a:pPr>
            <a:r>
              <a:rPr lang="en-US" sz="1500" dirty="0">
                <a:solidFill>
                  <a:schemeClr val="tx1"/>
                </a:solidFill>
              </a:rPr>
              <a:t>Profile &amp; weekly goals</a:t>
            </a:r>
            <a:endParaRPr lang="en-US" sz="1500" dirty="0"/>
          </a:p>
        </p:txBody>
      </p:sp>
      <p:sp>
        <p:nvSpPr>
          <p:cNvPr id="25" name="Progress charts circle"/>
          <p:cNvSpPr/>
          <p:nvPr/>
        </p:nvSpPr>
        <p:spPr>
          <a:xfrm>
            <a:off x="8183880" y="5349240"/>
            <a:ext cx="411480" cy="411480"/>
          </a:xfrm>
          <a:prstGeom prst="ellipse">
            <a:avLst/>
          </a:prstGeom>
          <a:solidFill>
            <a:schemeClr val="accent1"/>
          </a:solidFill>
          <a:ln w="12700">
            <a:solidFill>
              <a:schemeClr val="accent1"/>
            </a:solidFill>
            <a:prstDash val="solid"/>
          </a:ln>
        </p:spPr>
      </p:sp>
      <p:pic>
        <p:nvPicPr>
          <p:cNvPr id="26" name="Progress charts icon" descr="preencoded.png"/>
          <p:cNvPicPr>
            <a:picLocks noChangeAspect="1"/>
          </p:cNvPicPr>
          <p:nvPr/>
        </p:nvPicPr>
        <p:blipFill>
          <a:blip r:embed="rId8"/>
          <a:stretch>
            <a:fillRect/>
          </a:stretch>
        </p:blipFill>
        <p:spPr>
          <a:xfrm>
            <a:off x="8290865" y="5456225"/>
            <a:ext cx="197510" cy="197510"/>
          </a:xfrm>
          <a:prstGeom prst="rect">
            <a:avLst/>
          </a:prstGeom>
        </p:spPr>
      </p:pic>
      <p:sp>
        <p:nvSpPr>
          <p:cNvPr id="27" name="Text 19"/>
          <p:cNvSpPr txBox="1"/>
          <p:nvPr/>
        </p:nvSpPr>
        <p:spPr>
          <a:xfrm>
            <a:off x="8750808" y="5349240"/>
            <a:ext cx="2862072" cy="411480"/>
          </a:xfrm>
          <a:prstGeom prst="rect">
            <a:avLst/>
          </a:prstGeom>
          <a:noFill/>
          <a:ln/>
        </p:spPr>
        <p:txBody>
          <a:bodyPr wrap="square" lIns="0" tIns="0" rIns="0" bIns="0" rtlCol="0" anchor="ctr"/>
          <a:lstStyle/>
          <a:p>
            <a:pPr marL="0" indent="0">
              <a:buNone/>
            </a:pPr>
            <a:r>
              <a:rPr lang="en-US" sz="1500" dirty="0">
                <a:solidFill>
                  <a:schemeClr val="tx1"/>
                </a:solidFill>
              </a:rPr>
              <a:t>Progress charts</a:t>
            </a:r>
            <a:endParaRPr lang="en-US" sz="1500" dirty="0"/>
          </a:p>
        </p:txBody>
      </p:sp>
      <p:sp>
        <p:nvSpPr>
          <p:cNvPr id="28" name="Source"/>
          <p:cNvSpPr txBox="1"/>
          <p:nvPr/>
        </p:nvSpPr>
        <p:spPr>
          <a:xfrm>
            <a:off x="548640" y="6053328"/>
            <a:ext cx="11064240" cy="256032"/>
          </a:xfrm>
          <a:prstGeom prst="rect">
            <a:avLst/>
          </a:prstGeom>
          <a:noFill/>
          <a:ln/>
        </p:spPr>
        <p:txBody>
          <a:bodyPr wrap="square" lIns="0" tIns="0" rIns="0" bIns="0" rtlCol="0" anchor="b"/>
          <a:lstStyle/>
          <a:p>
            <a:pPr marL="0" indent="0">
              <a:buNone/>
            </a:pPr>
            <a:r>
              <a:rPr lang="en-US" sz="1000" i="1" dirty="0">
                <a:solidFill>
                  <a:schemeClr val="accent6"/>
                </a:solidFill>
              </a:rPr>
              <a:t>Source: Chen et al. (2019)</a:t>
            </a:r>
            <a:endParaRPr lang="en-US" sz="1000" dirty="0"/>
          </a:p>
        </p:txBody>
      </p:sp>
      <p:sp>
        <p:nvSpPr>
          <p:cNvPr id="29" name="Slide Number Placeholder 0"/>
          <p:cNvSpPr>
            <a:spLocks noGrp="1"/>
          </p:cNvSpPr>
          <p:nvPr>
            <p:ph type="sldNum" sz="quarter" idx="4294967295"/>
          </p:nvPr>
        </p:nvSpPr>
        <p:spPr>
          <a:xfrm>
            <a:off x="11201400" y="6382512"/>
            <a:ext cx="41148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64240" cy="731520"/>
          </a:xfrm>
          <a:prstGeom prst="rect">
            <a:avLst/>
          </a:prstGeom>
          <a:noFill/>
          <a:ln/>
        </p:spPr>
        <p:txBody>
          <a:bodyPr wrap="square" lIns="0" tIns="0" rIns="0" bIns="0" rtlCol="0" anchor="ctr"/>
          <a:lstStyle/>
          <a:p>
            <a:pPr marL="0" indent="0" algn="l">
              <a:buNone/>
            </a:pPr>
            <a:r>
              <a:rPr lang="en-US" sz="3400" b="1" dirty="0">
                <a:solidFill>
                  <a:schemeClr val="tx1"/>
                </a:solidFill>
                <a:latin typeface="Arial" pitchFamily="34" charset="0"/>
                <a:ea typeface="Arial" pitchFamily="34" charset="-122"/>
                <a:cs typeface="Arial" pitchFamily="34" charset="-120"/>
              </a:rPr>
              <a:t>Backend overview</a:t>
            </a:r>
            <a:endParaRPr lang="en-US" sz="3400" dirty="0"/>
          </a:p>
        </p:txBody>
      </p:sp>
      <p:sp>
        <p:nvSpPr>
          <p:cNvPr id="3" name="Text 1"/>
          <p:cNvSpPr txBox="1"/>
          <p:nvPr/>
        </p:nvSpPr>
        <p:spPr>
          <a:xfrm>
            <a:off x="548640" y="1143000"/>
            <a:ext cx="11064240" cy="365760"/>
          </a:xfrm>
          <a:prstGeom prst="rect">
            <a:avLst/>
          </a:prstGeom>
          <a:noFill/>
          <a:ln/>
        </p:spPr>
        <p:txBody>
          <a:bodyPr wrap="square" lIns="0" tIns="0" rIns="0" bIns="0" rtlCol="0" anchor="t"/>
          <a:lstStyle/>
          <a:p>
            <a:pPr marL="0" indent="0">
              <a:buNone/>
            </a:pPr>
            <a:r>
              <a:rPr lang="en-US" sz="1600" dirty="0">
                <a:solidFill>
                  <a:schemeClr val="accent6"/>
                </a:solidFill>
              </a:rPr>
              <a:t>How every protected request is handled</a:t>
            </a:r>
            <a:endParaRPr lang="en-US" sz="1600" dirty="0"/>
          </a:p>
        </p:txBody>
      </p:sp>
      <p:sp>
        <p:nvSpPr>
          <p:cNvPr id="4" name="Request circle"/>
          <p:cNvSpPr/>
          <p:nvPr/>
        </p:nvSpPr>
        <p:spPr>
          <a:xfrm>
            <a:off x="960120" y="1737360"/>
            <a:ext cx="777240" cy="777240"/>
          </a:xfrm>
          <a:prstGeom prst="ellipse">
            <a:avLst/>
          </a:prstGeom>
          <a:solidFill>
            <a:schemeClr val="tx2"/>
          </a:solidFill>
          <a:ln w="12700">
            <a:solidFill>
              <a:schemeClr val="tx2"/>
            </a:solidFill>
            <a:prstDash val="solid"/>
          </a:ln>
        </p:spPr>
      </p:sp>
      <p:pic>
        <p:nvPicPr>
          <p:cNvPr id="5" name="Request icon" descr="preencoded.png"/>
          <p:cNvPicPr>
            <a:picLocks noChangeAspect="1"/>
          </p:cNvPicPr>
          <p:nvPr/>
        </p:nvPicPr>
        <p:blipFill>
          <a:blip r:embed="rId3"/>
          <a:stretch>
            <a:fillRect/>
          </a:stretch>
        </p:blipFill>
        <p:spPr>
          <a:xfrm>
            <a:off x="1162202" y="1939442"/>
            <a:ext cx="373075" cy="373075"/>
          </a:xfrm>
          <a:prstGeom prst="rect">
            <a:avLst/>
          </a:prstGeom>
        </p:spPr>
      </p:pic>
      <p:sp>
        <p:nvSpPr>
          <p:cNvPr id="6" name="Text 3"/>
          <p:cNvSpPr txBox="1"/>
          <p:nvPr/>
        </p:nvSpPr>
        <p:spPr>
          <a:xfrm>
            <a:off x="548640" y="2651760"/>
            <a:ext cx="1600200" cy="320040"/>
          </a:xfrm>
          <a:prstGeom prst="rect">
            <a:avLst/>
          </a:prstGeom>
          <a:noFill/>
          <a:ln/>
        </p:spPr>
        <p:txBody>
          <a:bodyPr wrap="square" lIns="0" tIns="0" rIns="0" bIns="0" rtlCol="0" anchor="t"/>
          <a:lstStyle/>
          <a:p>
            <a:pPr marL="0" indent="0" algn="ctr">
              <a:buNone/>
            </a:pPr>
            <a:r>
              <a:rPr lang="en-US" sz="1500" b="1" dirty="0">
                <a:solidFill>
                  <a:schemeClr val="tx1"/>
                </a:solidFill>
              </a:rPr>
              <a:t>Request</a:t>
            </a:r>
            <a:endParaRPr lang="en-US" sz="1500" dirty="0"/>
          </a:p>
        </p:txBody>
      </p:sp>
      <p:sp>
        <p:nvSpPr>
          <p:cNvPr id="7" name="Text 4"/>
          <p:cNvSpPr txBox="1"/>
          <p:nvPr/>
        </p:nvSpPr>
        <p:spPr>
          <a:xfrm>
            <a:off x="548640" y="2971800"/>
            <a:ext cx="1600200" cy="640080"/>
          </a:xfrm>
          <a:prstGeom prst="rect">
            <a:avLst/>
          </a:prstGeom>
          <a:noFill/>
          <a:ln/>
        </p:spPr>
        <p:txBody>
          <a:bodyPr wrap="square" lIns="0" tIns="0" rIns="0" bIns="0" rtlCol="0" anchor="t"/>
          <a:lstStyle/>
          <a:p>
            <a:pPr marL="0" indent="0" algn="ctr">
              <a:buNone/>
            </a:pPr>
            <a:r>
              <a:rPr lang="en-US" sz="1300" dirty="0">
                <a:solidFill>
                  <a:schemeClr val="tx2"/>
                </a:solidFill>
              </a:rPr>
              <a:t>React api.js sends JWT in header</a:t>
            </a:r>
            <a:endParaRPr lang="en-US" sz="1300" dirty="0"/>
          </a:p>
        </p:txBody>
      </p:sp>
      <p:pic>
        <p:nvPicPr>
          <p:cNvPr id="8" name="Image 1" descr="preencoded.png"/>
          <p:cNvPicPr>
            <a:picLocks noChangeAspect="1"/>
          </p:cNvPicPr>
          <p:nvPr/>
        </p:nvPicPr>
        <p:blipFill>
          <a:blip r:embed="rId4"/>
          <a:stretch>
            <a:fillRect/>
          </a:stretch>
        </p:blipFill>
        <p:spPr>
          <a:xfrm>
            <a:off x="2212848" y="2011680"/>
            <a:ext cx="164592" cy="228600"/>
          </a:xfrm>
          <a:prstGeom prst="rect">
            <a:avLst/>
          </a:prstGeom>
        </p:spPr>
      </p:pic>
      <p:sp>
        <p:nvSpPr>
          <p:cNvPr id="9" name="Authenticate circle"/>
          <p:cNvSpPr/>
          <p:nvPr/>
        </p:nvSpPr>
        <p:spPr>
          <a:xfrm>
            <a:off x="2852928" y="1737360"/>
            <a:ext cx="777240" cy="777240"/>
          </a:xfrm>
          <a:prstGeom prst="ellipse">
            <a:avLst/>
          </a:prstGeom>
          <a:solidFill>
            <a:schemeClr val="accent1"/>
          </a:solidFill>
          <a:ln w="12700">
            <a:solidFill>
              <a:schemeClr val="accent1"/>
            </a:solidFill>
            <a:prstDash val="solid"/>
          </a:ln>
        </p:spPr>
      </p:sp>
      <p:pic>
        <p:nvPicPr>
          <p:cNvPr id="10" name="Authenticate icon" descr="preencoded.png"/>
          <p:cNvPicPr>
            <a:picLocks noChangeAspect="1"/>
          </p:cNvPicPr>
          <p:nvPr/>
        </p:nvPicPr>
        <p:blipFill>
          <a:blip r:embed="rId5"/>
          <a:stretch>
            <a:fillRect/>
          </a:stretch>
        </p:blipFill>
        <p:spPr>
          <a:xfrm>
            <a:off x="3055010" y="1939442"/>
            <a:ext cx="373075" cy="373075"/>
          </a:xfrm>
          <a:prstGeom prst="rect">
            <a:avLst/>
          </a:prstGeom>
        </p:spPr>
      </p:pic>
      <p:sp>
        <p:nvSpPr>
          <p:cNvPr id="11" name="Text 6"/>
          <p:cNvSpPr txBox="1"/>
          <p:nvPr/>
        </p:nvSpPr>
        <p:spPr>
          <a:xfrm>
            <a:off x="2441448" y="2651760"/>
            <a:ext cx="1600200" cy="320040"/>
          </a:xfrm>
          <a:prstGeom prst="rect">
            <a:avLst/>
          </a:prstGeom>
          <a:noFill/>
          <a:ln/>
        </p:spPr>
        <p:txBody>
          <a:bodyPr wrap="square" lIns="0" tIns="0" rIns="0" bIns="0" rtlCol="0" anchor="t"/>
          <a:lstStyle/>
          <a:p>
            <a:pPr marL="0" indent="0" algn="ctr">
              <a:buNone/>
            </a:pPr>
            <a:r>
              <a:rPr lang="en-US" sz="1500" b="1" dirty="0">
                <a:solidFill>
                  <a:schemeClr val="tx1"/>
                </a:solidFill>
              </a:rPr>
              <a:t>Authenticate</a:t>
            </a:r>
            <a:endParaRPr lang="en-US" sz="1500" dirty="0"/>
          </a:p>
        </p:txBody>
      </p:sp>
      <p:sp>
        <p:nvSpPr>
          <p:cNvPr id="12" name="Text 7"/>
          <p:cNvSpPr txBox="1"/>
          <p:nvPr/>
        </p:nvSpPr>
        <p:spPr>
          <a:xfrm>
            <a:off x="2441448" y="2971800"/>
            <a:ext cx="1600200" cy="640080"/>
          </a:xfrm>
          <a:prstGeom prst="rect">
            <a:avLst/>
          </a:prstGeom>
          <a:noFill/>
          <a:ln/>
        </p:spPr>
        <p:txBody>
          <a:bodyPr wrap="square" lIns="0" tIns="0" rIns="0" bIns="0" rtlCol="0" anchor="t"/>
          <a:lstStyle/>
          <a:p>
            <a:pPr marL="0" indent="0" algn="ctr">
              <a:buNone/>
            </a:pPr>
            <a:r>
              <a:rPr lang="en-US" sz="1300" dirty="0">
                <a:solidFill>
                  <a:schemeClr val="tx2"/>
                </a:solidFill>
              </a:rPr>
              <a:t>Verify JWT; bcrypt for passwords</a:t>
            </a:r>
            <a:endParaRPr lang="en-US" sz="1300" dirty="0"/>
          </a:p>
        </p:txBody>
      </p:sp>
      <p:pic>
        <p:nvPicPr>
          <p:cNvPr id="13" name="Image 3" descr="preencoded.png"/>
          <p:cNvPicPr>
            <a:picLocks noChangeAspect="1"/>
          </p:cNvPicPr>
          <p:nvPr/>
        </p:nvPicPr>
        <p:blipFill>
          <a:blip r:embed="rId4"/>
          <a:stretch>
            <a:fillRect/>
          </a:stretch>
        </p:blipFill>
        <p:spPr>
          <a:xfrm>
            <a:off x="4105656" y="2011680"/>
            <a:ext cx="164592" cy="228600"/>
          </a:xfrm>
          <a:prstGeom prst="rect">
            <a:avLst/>
          </a:prstGeom>
        </p:spPr>
      </p:pic>
      <p:sp>
        <p:nvSpPr>
          <p:cNvPr id="14" name="Validate circle"/>
          <p:cNvSpPr/>
          <p:nvPr/>
        </p:nvSpPr>
        <p:spPr>
          <a:xfrm>
            <a:off x="4745736" y="1737360"/>
            <a:ext cx="777240" cy="777240"/>
          </a:xfrm>
          <a:prstGeom prst="ellipse">
            <a:avLst/>
          </a:prstGeom>
          <a:solidFill>
            <a:schemeClr val="tx2"/>
          </a:solidFill>
          <a:ln w="12700">
            <a:solidFill>
              <a:schemeClr val="tx2"/>
            </a:solidFill>
            <a:prstDash val="solid"/>
          </a:ln>
        </p:spPr>
      </p:sp>
      <p:pic>
        <p:nvPicPr>
          <p:cNvPr id="15" name="Validate icon" descr="preencoded.png"/>
          <p:cNvPicPr>
            <a:picLocks noChangeAspect="1"/>
          </p:cNvPicPr>
          <p:nvPr/>
        </p:nvPicPr>
        <p:blipFill>
          <a:blip r:embed="rId6"/>
          <a:stretch>
            <a:fillRect/>
          </a:stretch>
        </p:blipFill>
        <p:spPr>
          <a:xfrm>
            <a:off x="4947818" y="1939442"/>
            <a:ext cx="373075" cy="373075"/>
          </a:xfrm>
          <a:prstGeom prst="rect">
            <a:avLst/>
          </a:prstGeom>
        </p:spPr>
      </p:pic>
      <p:sp>
        <p:nvSpPr>
          <p:cNvPr id="16" name="Text 9"/>
          <p:cNvSpPr txBox="1"/>
          <p:nvPr/>
        </p:nvSpPr>
        <p:spPr>
          <a:xfrm>
            <a:off x="4334256" y="2651760"/>
            <a:ext cx="1600200" cy="320040"/>
          </a:xfrm>
          <a:prstGeom prst="rect">
            <a:avLst/>
          </a:prstGeom>
          <a:noFill/>
          <a:ln/>
        </p:spPr>
        <p:txBody>
          <a:bodyPr wrap="square" lIns="0" tIns="0" rIns="0" bIns="0" rtlCol="0" anchor="t"/>
          <a:lstStyle/>
          <a:p>
            <a:pPr marL="0" indent="0" algn="ctr">
              <a:buNone/>
            </a:pPr>
            <a:r>
              <a:rPr lang="en-US" sz="1500" b="1" dirty="0">
                <a:solidFill>
                  <a:schemeClr val="tx1"/>
                </a:solidFill>
              </a:rPr>
              <a:t>Validate</a:t>
            </a:r>
            <a:endParaRPr lang="en-US" sz="1500" dirty="0"/>
          </a:p>
        </p:txBody>
      </p:sp>
      <p:sp>
        <p:nvSpPr>
          <p:cNvPr id="17" name="Text 10"/>
          <p:cNvSpPr txBox="1"/>
          <p:nvPr/>
        </p:nvSpPr>
        <p:spPr>
          <a:xfrm>
            <a:off x="4334256" y="2971800"/>
            <a:ext cx="1600200" cy="640080"/>
          </a:xfrm>
          <a:prstGeom prst="rect">
            <a:avLst/>
          </a:prstGeom>
          <a:noFill/>
          <a:ln/>
        </p:spPr>
        <p:txBody>
          <a:bodyPr wrap="square" lIns="0" tIns="0" rIns="0" bIns="0" rtlCol="0" anchor="t"/>
          <a:lstStyle/>
          <a:p>
            <a:pPr marL="0" indent="0" algn="ctr">
              <a:buNone/>
            </a:pPr>
            <a:r>
              <a:rPr lang="en-US" sz="1300" dirty="0">
                <a:solidFill>
                  <a:schemeClr val="tx2"/>
                </a:solidFill>
              </a:rPr>
              <a:t>Check submitted data</a:t>
            </a:r>
            <a:endParaRPr lang="en-US" sz="1300" dirty="0"/>
          </a:p>
        </p:txBody>
      </p:sp>
      <p:pic>
        <p:nvPicPr>
          <p:cNvPr id="18" name="Image 5" descr="preencoded.png"/>
          <p:cNvPicPr>
            <a:picLocks noChangeAspect="1"/>
          </p:cNvPicPr>
          <p:nvPr/>
        </p:nvPicPr>
        <p:blipFill>
          <a:blip r:embed="rId4"/>
          <a:stretch>
            <a:fillRect/>
          </a:stretch>
        </p:blipFill>
        <p:spPr>
          <a:xfrm>
            <a:off x="5998464" y="2011680"/>
            <a:ext cx="164592" cy="228600"/>
          </a:xfrm>
          <a:prstGeom prst="rect">
            <a:avLst/>
          </a:prstGeom>
        </p:spPr>
      </p:pic>
      <p:sp>
        <p:nvSpPr>
          <p:cNvPr id="19" name="Business logic circle"/>
          <p:cNvSpPr/>
          <p:nvPr/>
        </p:nvSpPr>
        <p:spPr>
          <a:xfrm>
            <a:off x="6638544" y="1737360"/>
            <a:ext cx="777240" cy="777240"/>
          </a:xfrm>
          <a:prstGeom prst="ellipse">
            <a:avLst/>
          </a:prstGeom>
          <a:solidFill>
            <a:schemeClr val="tx2"/>
          </a:solidFill>
          <a:ln w="12700">
            <a:solidFill>
              <a:schemeClr val="tx2"/>
            </a:solidFill>
            <a:prstDash val="solid"/>
          </a:ln>
        </p:spPr>
      </p:sp>
      <p:pic>
        <p:nvPicPr>
          <p:cNvPr id="20" name="Business logic icon" descr="preencoded.png"/>
          <p:cNvPicPr>
            <a:picLocks noChangeAspect="1"/>
          </p:cNvPicPr>
          <p:nvPr/>
        </p:nvPicPr>
        <p:blipFill>
          <a:blip r:embed="rId7"/>
          <a:stretch>
            <a:fillRect/>
          </a:stretch>
        </p:blipFill>
        <p:spPr>
          <a:xfrm>
            <a:off x="6840626" y="1939442"/>
            <a:ext cx="373075" cy="373075"/>
          </a:xfrm>
          <a:prstGeom prst="rect">
            <a:avLst/>
          </a:prstGeom>
        </p:spPr>
      </p:pic>
      <p:sp>
        <p:nvSpPr>
          <p:cNvPr id="21" name="Text 12"/>
          <p:cNvSpPr txBox="1"/>
          <p:nvPr/>
        </p:nvSpPr>
        <p:spPr>
          <a:xfrm>
            <a:off x="6227064" y="2651760"/>
            <a:ext cx="1600200" cy="320040"/>
          </a:xfrm>
          <a:prstGeom prst="rect">
            <a:avLst/>
          </a:prstGeom>
          <a:noFill/>
          <a:ln/>
        </p:spPr>
        <p:txBody>
          <a:bodyPr wrap="square" lIns="0" tIns="0" rIns="0" bIns="0" rtlCol="0" anchor="t"/>
          <a:lstStyle/>
          <a:p>
            <a:pPr marL="0" indent="0" algn="ctr">
              <a:buNone/>
            </a:pPr>
            <a:r>
              <a:rPr lang="en-US" sz="1500" b="1" dirty="0">
                <a:solidFill>
                  <a:schemeClr val="tx1"/>
                </a:solidFill>
              </a:rPr>
              <a:t>Business logic</a:t>
            </a:r>
            <a:endParaRPr lang="en-US" sz="1500" dirty="0"/>
          </a:p>
        </p:txBody>
      </p:sp>
      <p:sp>
        <p:nvSpPr>
          <p:cNvPr id="22" name="Text 13"/>
          <p:cNvSpPr txBox="1"/>
          <p:nvPr/>
        </p:nvSpPr>
        <p:spPr>
          <a:xfrm>
            <a:off x="6227064" y="2971800"/>
            <a:ext cx="1600200" cy="640080"/>
          </a:xfrm>
          <a:prstGeom prst="rect">
            <a:avLst/>
          </a:prstGeom>
          <a:noFill/>
          <a:ln/>
        </p:spPr>
        <p:txBody>
          <a:bodyPr wrap="square" lIns="0" tIns="0" rIns="0" bIns="0" rtlCol="0" anchor="t"/>
          <a:lstStyle/>
          <a:p>
            <a:pPr marL="0" indent="0" algn="ctr">
              <a:buNone/>
            </a:pPr>
            <a:r>
              <a:rPr lang="en-US" sz="1300" dirty="0">
                <a:solidFill>
                  <a:schemeClr val="tx2"/>
                </a:solidFill>
              </a:rPr>
              <a:t>Apply CRUD rules</a:t>
            </a:r>
            <a:endParaRPr lang="en-US" sz="1300" dirty="0"/>
          </a:p>
        </p:txBody>
      </p:sp>
      <p:pic>
        <p:nvPicPr>
          <p:cNvPr id="23" name="Image 7" descr="preencoded.png"/>
          <p:cNvPicPr>
            <a:picLocks noChangeAspect="1"/>
          </p:cNvPicPr>
          <p:nvPr/>
        </p:nvPicPr>
        <p:blipFill>
          <a:blip r:embed="rId4"/>
          <a:stretch>
            <a:fillRect/>
          </a:stretch>
        </p:blipFill>
        <p:spPr>
          <a:xfrm>
            <a:off x="7891272" y="2011680"/>
            <a:ext cx="164592" cy="228600"/>
          </a:xfrm>
          <a:prstGeom prst="rect">
            <a:avLst/>
          </a:prstGeom>
        </p:spPr>
      </p:pic>
      <p:sp>
        <p:nvSpPr>
          <p:cNvPr id="24" name="Query circle"/>
          <p:cNvSpPr/>
          <p:nvPr/>
        </p:nvSpPr>
        <p:spPr>
          <a:xfrm>
            <a:off x="8531352" y="1737360"/>
            <a:ext cx="777240" cy="777240"/>
          </a:xfrm>
          <a:prstGeom prst="ellipse">
            <a:avLst/>
          </a:prstGeom>
          <a:solidFill>
            <a:schemeClr val="tx2"/>
          </a:solidFill>
          <a:ln w="12700">
            <a:solidFill>
              <a:schemeClr val="tx2"/>
            </a:solidFill>
            <a:prstDash val="solid"/>
          </a:ln>
        </p:spPr>
      </p:sp>
      <p:pic>
        <p:nvPicPr>
          <p:cNvPr id="25" name="Query icon" descr="preencoded.png"/>
          <p:cNvPicPr>
            <a:picLocks noChangeAspect="1"/>
          </p:cNvPicPr>
          <p:nvPr/>
        </p:nvPicPr>
        <p:blipFill>
          <a:blip r:embed="rId8"/>
          <a:stretch>
            <a:fillRect/>
          </a:stretch>
        </p:blipFill>
        <p:spPr>
          <a:xfrm>
            <a:off x="8733434" y="1939442"/>
            <a:ext cx="373075" cy="373075"/>
          </a:xfrm>
          <a:prstGeom prst="rect">
            <a:avLst/>
          </a:prstGeom>
        </p:spPr>
      </p:pic>
      <p:sp>
        <p:nvSpPr>
          <p:cNvPr id="26" name="Text 15"/>
          <p:cNvSpPr txBox="1"/>
          <p:nvPr/>
        </p:nvSpPr>
        <p:spPr>
          <a:xfrm>
            <a:off x="8119872" y="2651760"/>
            <a:ext cx="1600200" cy="320040"/>
          </a:xfrm>
          <a:prstGeom prst="rect">
            <a:avLst/>
          </a:prstGeom>
          <a:noFill/>
          <a:ln/>
        </p:spPr>
        <p:txBody>
          <a:bodyPr wrap="square" lIns="0" tIns="0" rIns="0" bIns="0" rtlCol="0" anchor="t"/>
          <a:lstStyle/>
          <a:p>
            <a:pPr marL="0" indent="0" algn="ctr">
              <a:buNone/>
            </a:pPr>
            <a:r>
              <a:rPr lang="en-US" sz="1500" b="1" dirty="0">
                <a:solidFill>
                  <a:schemeClr val="tx1"/>
                </a:solidFill>
              </a:rPr>
              <a:t>Query</a:t>
            </a:r>
            <a:endParaRPr lang="en-US" sz="1500" dirty="0"/>
          </a:p>
        </p:txBody>
      </p:sp>
      <p:sp>
        <p:nvSpPr>
          <p:cNvPr id="27" name="Text 16"/>
          <p:cNvSpPr txBox="1"/>
          <p:nvPr/>
        </p:nvSpPr>
        <p:spPr>
          <a:xfrm>
            <a:off x="8119872" y="2971800"/>
            <a:ext cx="1600200" cy="640080"/>
          </a:xfrm>
          <a:prstGeom prst="rect">
            <a:avLst/>
          </a:prstGeom>
          <a:noFill/>
          <a:ln/>
        </p:spPr>
        <p:txBody>
          <a:bodyPr wrap="square" lIns="0" tIns="0" rIns="0" bIns="0" rtlCol="0" anchor="t"/>
          <a:lstStyle/>
          <a:p>
            <a:pPr marL="0" indent="0" algn="ctr">
              <a:buNone/>
            </a:pPr>
            <a:r>
              <a:rPr lang="en-US" sz="1300" dirty="0">
                <a:solidFill>
                  <a:schemeClr val="tx2"/>
                </a:solidFill>
              </a:rPr>
              <a:t>Read / write PostgreSQL</a:t>
            </a:r>
            <a:endParaRPr lang="en-US" sz="1300" dirty="0"/>
          </a:p>
        </p:txBody>
      </p:sp>
      <p:pic>
        <p:nvPicPr>
          <p:cNvPr id="28" name="Image 9" descr="preencoded.png"/>
          <p:cNvPicPr>
            <a:picLocks noChangeAspect="1"/>
          </p:cNvPicPr>
          <p:nvPr/>
        </p:nvPicPr>
        <p:blipFill>
          <a:blip r:embed="rId4"/>
          <a:stretch>
            <a:fillRect/>
          </a:stretch>
        </p:blipFill>
        <p:spPr>
          <a:xfrm>
            <a:off x="9784080" y="2011680"/>
            <a:ext cx="164592" cy="228600"/>
          </a:xfrm>
          <a:prstGeom prst="rect">
            <a:avLst/>
          </a:prstGeom>
        </p:spPr>
      </p:pic>
      <p:sp>
        <p:nvSpPr>
          <p:cNvPr id="29" name="Respond circle"/>
          <p:cNvSpPr/>
          <p:nvPr/>
        </p:nvSpPr>
        <p:spPr>
          <a:xfrm>
            <a:off x="10424160" y="1737360"/>
            <a:ext cx="777240" cy="777240"/>
          </a:xfrm>
          <a:prstGeom prst="ellipse">
            <a:avLst/>
          </a:prstGeom>
          <a:solidFill>
            <a:schemeClr val="tx2"/>
          </a:solidFill>
          <a:ln w="12700">
            <a:solidFill>
              <a:schemeClr val="tx2"/>
            </a:solidFill>
            <a:prstDash val="solid"/>
          </a:ln>
        </p:spPr>
      </p:sp>
      <p:pic>
        <p:nvPicPr>
          <p:cNvPr id="30" name="Respond icon" descr="preencoded.png"/>
          <p:cNvPicPr>
            <a:picLocks noChangeAspect="1"/>
          </p:cNvPicPr>
          <p:nvPr/>
        </p:nvPicPr>
        <p:blipFill>
          <a:blip r:embed="rId9"/>
          <a:stretch>
            <a:fillRect/>
          </a:stretch>
        </p:blipFill>
        <p:spPr>
          <a:xfrm>
            <a:off x="10626242" y="1939442"/>
            <a:ext cx="373075" cy="373075"/>
          </a:xfrm>
          <a:prstGeom prst="rect">
            <a:avLst/>
          </a:prstGeom>
        </p:spPr>
      </p:pic>
      <p:sp>
        <p:nvSpPr>
          <p:cNvPr id="31" name="Text 18"/>
          <p:cNvSpPr txBox="1"/>
          <p:nvPr/>
        </p:nvSpPr>
        <p:spPr>
          <a:xfrm>
            <a:off x="10012680" y="2651760"/>
            <a:ext cx="1600200" cy="320040"/>
          </a:xfrm>
          <a:prstGeom prst="rect">
            <a:avLst/>
          </a:prstGeom>
          <a:noFill/>
          <a:ln/>
        </p:spPr>
        <p:txBody>
          <a:bodyPr wrap="square" lIns="0" tIns="0" rIns="0" bIns="0" rtlCol="0" anchor="t"/>
          <a:lstStyle/>
          <a:p>
            <a:pPr marL="0" indent="0" algn="ctr">
              <a:buNone/>
            </a:pPr>
            <a:r>
              <a:rPr lang="en-US" sz="1500" b="1" dirty="0">
                <a:solidFill>
                  <a:schemeClr val="tx1"/>
                </a:solidFill>
              </a:rPr>
              <a:t>Respond</a:t>
            </a:r>
            <a:endParaRPr lang="en-US" sz="1500" dirty="0"/>
          </a:p>
        </p:txBody>
      </p:sp>
      <p:sp>
        <p:nvSpPr>
          <p:cNvPr id="32" name="Text 19"/>
          <p:cNvSpPr txBox="1"/>
          <p:nvPr/>
        </p:nvSpPr>
        <p:spPr>
          <a:xfrm>
            <a:off x="10012680" y="2971800"/>
            <a:ext cx="1600200" cy="640080"/>
          </a:xfrm>
          <a:prstGeom prst="rect">
            <a:avLst/>
          </a:prstGeom>
          <a:noFill/>
          <a:ln/>
        </p:spPr>
        <p:txBody>
          <a:bodyPr wrap="square" lIns="0" tIns="0" rIns="0" bIns="0" rtlCol="0" anchor="t"/>
          <a:lstStyle/>
          <a:p>
            <a:pPr marL="0" indent="0" algn="ctr">
              <a:buNone/>
            </a:pPr>
            <a:r>
              <a:rPr lang="en-US" sz="1300" dirty="0">
                <a:solidFill>
                  <a:schemeClr val="tx2"/>
                </a:solidFill>
              </a:rPr>
              <a:t>JSON back to the UI</a:t>
            </a:r>
            <a:endParaRPr lang="en-US" sz="1300" dirty="0"/>
          </a:p>
        </p:txBody>
      </p:sp>
      <p:sp>
        <p:nvSpPr>
          <p:cNvPr id="33" name="Tech card"/>
          <p:cNvSpPr/>
          <p:nvPr/>
        </p:nvSpPr>
        <p:spPr>
          <a:xfrm>
            <a:off x="548640" y="3931920"/>
            <a:ext cx="4937760" cy="1965960"/>
          </a:xfrm>
          <a:prstGeom prst="roundRect">
            <a:avLst>
              <a:gd name="adj" fmla="val 5581"/>
            </a:avLst>
          </a:prstGeom>
          <a:solidFill>
            <a:schemeClr val="bg2"/>
          </a:solidFill>
          <a:ln w="12700">
            <a:solidFill>
              <a:schemeClr val="bg2"/>
            </a:solidFill>
            <a:prstDash val="solid"/>
          </a:ln>
        </p:spPr>
      </p:sp>
      <p:sp>
        <p:nvSpPr>
          <p:cNvPr id="34" name="Text 21"/>
          <p:cNvSpPr txBox="1"/>
          <p:nvPr/>
        </p:nvSpPr>
        <p:spPr>
          <a:xfrm>
            <a:off x="822960" y="4114800"/>
            <a:ext cx="3657600" cy="274320"/>
          </a:xfrm>
          <a:prstGeom prst="rect">
            <a:avLst/>
          </a:prstGeom>
          <a:noFill/>
          <a:ln/>
        </p:spPr>
        <p:txBody>
          <a:bodyPr wrap="square" lIns="0" tIns="0" rIns="0" bIns="0" rtlCol="0" anchor="t"/>
          <a:lstStyle/>
          <a:p>
            <a:pPr marL="0" indent="0">
              <a:buNone/>
            </a:pPr>
            <a:r>
              <a:rPr lang="en-US" sz="1200" b="1" kern="0" spc="100" dirty="0">
                <a:solidFill>
                  <a:schemeClr val="accent1"/>
                </a:solidFill>
              </a:rPr>
              <a:t>TECHNOLOGIES</a:t>
            </a:r>
            <a:endParaRPr lang="en-US" sz="1200" dirty="0"/>
          </a:p>
        </p:txBody>
      </p:sp>
      <p:sp>
        <p:nvSpPr>
          <p:cNvPr id="35" name="Shape 22"/>
          <p:cNvSpPr/>
          <p:nvPr/>
        </p:nvSpPr>
        <p:spPr>
          <a:xfrm>
            <a:off x="822960" y="4526280"/>
            <a:ext cx="868680" cy="347472"/>
          </a:xfrm>
          <a:prstGeom prst="roundRect">
            <a:avLst>
              <a:gd name="adj" fmla="val 50000"/>
            </a:avLst>
          </a:prstGeom>
          <a:solidFill>
            <a:schemeClr val="tx2"/>
          </a:solidFill>
          <a:ln w="12700">
            <a:solidFill>
              <a:schemeClr val="tx2"/>
            </a:solidFill>
            <a:prstDash val="solid"/>
          </a:ln>
        </p:spPr>
      </p:sp>
      <p:sp>
        <p:nvSpPr>
          <p:cNvPr id="36" name="Text 23"/>
          <p:cNvSpPr txBox="1"/>
          <p:nvPr/>
        </p:nvSpPr>
        <p:spPr>
          <a:xfrm>
            <a:off x="822960" y="4526280"/>
            <a:ext cx="868680" cy="347472"/>
          </a:xfrm>
          <a:prstGeom prst="rect">
            <a:avLst/>
          </a:prstGeom>
          <a:noFill/>
          <a:ln/>
        </p:spPr>
        <p:txBody>
          <a:bodyPr wrap="square" lIns="0" tIns="0" rIns="0" bIns="0" rtlCol="0" anchor="ctr"/>
          <a:lstStyle/>
          <a:p>
            <a:pPr marL="0" indent="0" algn="ctr">
              <a:buNone/>
            </a:pPr>
            <a:r>
              <a:rPr lang="en-US" sz="1200" b="1" dirty="0">
                <a:solidFill>
                  <a:schemeClr val="bg1"/>
                </a:solidFill>
              </a:rPr>
              <a:t>Node.js</a:t>
            </a:r>
            <a:endParaRPr lang="en-US" sz="1200" dirty="0"/>
          </a:p>
        </p:txBody>
      </p:sp>
      <p:sp>
        <p:nvSpPr>
          <p:cNvPr id="37" name="Shape 24"/>
          <p:cNvSpPr/>
          <p:nvPr/>
        </p:nvSpPr>
        <p:spPr>
          <a:xfrm>
            <a:off x="1801368" y="4526280"/>
            <a:ext cx="960120" cy="347472"/>
          </a:xfrm>
          <a:prstGeom prst="roundRect">
            <a:avLst>
              <a:gd name="adj" fmla="val 50000"/>
            </a:avLst>
          </a:prstGeom>
          <a:solidFill>
            <a:schemeClr val="tx2"/>
          </a:solidFill>
          <a:ln w="12700">
            <a:solidFill>
              <a:schemeClr val="tx2"/>
            </a:solidFill>
            <a:prstDash val="solid"/>
          </a:ln>
        </p:spPr>
      </p:sp>
      <p:sp>
        <p:nvSpPr>
          <p:cNvPr id="38" name="Text 25"/>
          <p:cNvSpPr txBox="1"/>
          <p:nvPr/>
        </p:nvSpPr>
        <p:spPr>
          <a:xfrm>
            <a:off x="1801368" y="4526280"/>
            <a:ext cx="960120" cy="347472"/>
          </a:xfrm>
          <a:prstGeom prst="rect">
            <a:avLst/>
          </a:prstGeom>
          <a:noFill/>
          <a:ln/>
        </p:spPr>
        <p:txBody>
          <a:bodyPr wrap="square" lIns="0" tIns="0" rIns="0" bIns="0" rtlCol="0" anchor="ctr"/>
          <a:lstStyle/>
          <a:p>
            <a:pPr marL="0" indent="0" algn="ctr">
              <a:buNone/>
            </a:pPr>
            <a:r>
              <a:rPr lang="en-US" sz="1200" b="1" dirty="0">
                <a:solidFill>
                  <a:schemeClr val="bg1"/>
                </a:solidFill>
              </a:rPr>
              <a:t>Express.js</a:t>
            </a:r>
            <a:endParaRPr lang="en-US" sz="1200" dirty="0"/>
          </a:p>
        </p:txBody>
      </p:sp>
      <p:sp>
        <p:nvSpPr>
          <p:cNvPr id="39" name="Shape 26"/>
          <p:cNvSpPr/>
          <p:nvPr/>
        </p:nvSpPr>
        <p:spPr>
          <a:xfrm>
            <a:off x="2871216" y="4526280"/>
            <a:ext cx="914400" cy="347472"/>
          </a:xfrm>
          <a:prstGeom prst="roundRect">
            <a:avLst>
              <a:gd name="adj" fmla="val 50000"/>
            </a:avLst>
          </a:prstGeom>
          <a:solidFill>
            <a:schemeClr val="tx2"/>
          </a:solidFill>
          <a:ln w="12700">
            <a:solidFill>
              <a:schemeClr val="tx2"/>
            </a:solidFill>
            <a:prstDash val="solid"/>
          </a:ln>
        </p:spPr>
      </p:sp>
      <p:sp>
        <p:nvSpPr>
          <p:cNvPr id="40" name="Text 27"/>
          <p:cNvSpPr txBox="1"/>
          <p:nvPr/>
        </p:nvSpPr>
        <p:spPr>
          <a:xfrm>
            <a:off x="2871216" y="4526280"/>
            <a:ext cx="914400" cy="347472"/>
          </a:xfrm>
          <a:prstGeom prst="rect">
            <a:avLst/>
          </a:prstGeom>
          <a:noFill/>
          <a:ln/>
        </p:spPr>
        <p:txBody>
          <a:bodyPr wrap="square" lIns="0" tIns="0" rIns="0" bIns="0" rtlCol="0" anchor="ctr"/>
          <a:lstStyle/>
          <a:p>
            <a:pPr marL="0" indent="0" algn="ctr">
              <a:buNone/>
            </a:pPr>
            <a:r>
              <a:rPr lang="en-US" sz="1200" b="1" dirty="0">
                <a:solidFill>
                  <a:schemeClr val="bg1"/>
                </a:solidFill>
              </a:rPr>
              <a:t>REST API</a:t>
            </a:r>
            <a:endParaRPr lang="en-US" sz="1200" dirty="0"/>
          </a:p>
        </p:txBody>
      </p:sp>
      <p:sp>
        <p:nvSpPr>
          <p:cNvPr id="41" name="Shape 28"/>
          <p:cNvSpPr/>
          <p:nvPr/>
        </p:nvSpPr>
        <p:spPr>
          <a:xfrm>
            <a:off x="3895344" y="4526280"/>
            <a:ext cx="548640" cy="347472"/>
          </a:xfrm>
          <a:prstGeom prst="roundRect">
            <a:avLst>
              <a:gd name="adj" fmla="val 50000"/>
            </a:avLst>
          </a:prstGeom>
          <a:solidFill>
            <a:schemeClr val="tx2"/>
          </a:solidFill>
          <a:ln w="12700">
            <a:solidFill>
              <a:schemeClr val="tx2"/>
            </a:solidFill>
            <a:prstDash val="solid"/>
          </a:ln>
        </p:spPr>
      </p:sp>
      <p:sp>
        <p:nvSpPr>
          <p:cNvPr id="42" name="Text 29"/>
          <p:cNvSpPr txBox="1"/>
          <p:nvPr/>
        </p:nvSpPr>
        <p:spPr>
          <a:xfrm>
            <a:off x="3895344" y="4526280"/>
            <a:ext cx="548640" cy="347472"/>
          </a:xfrm>
          <a:prstGeom prst="rect">
            <a:avLst/>
          </a:prstGeom>
          <a:noFill/>
          <a:ln/>
        </p:spPr>
        <p:txBody>
          <a:bodyPr wrap="square" lIns="0" tIns="0" rIns="0" bIns="0" rtlCol="0" anchor="ctr"/>
          <a:lstStyle/>
          <a:p>
            <a:pPr marL="0" indent="0" algn="ctr">
              <a:buNone/>
            </a:pPr>
            <a:r>
              <a:rPr lang="en-US" sz="1200" b="1" dirty="0">
                <a:solidFill>
                  <a:schemeClr val="bg1"/>
                </a:solidFill>
              </a:rPr>
              <a:t>JWT</a:t>
            </a:r>
            <a:endParaRPr lang="en-US" sz="1200" dirty="0"/>
          </a:p>
        </p:txBody>
      </p:sp>
      <p:sp>
        <p:nvSpPr>
          <p:cNvPr id="43" name="Shape 30"/>
          <p:cNvSpPr/>
          <p:nvPr/>
        </p:nvSpPr>
        <p:spPr>
          <a:xfrm>
            <a:off x="4553712" y="4526280"/>
            <a:ext cx="731520" cy="347472"/>
          </a:xfrm>
          <a:prstGeom prst="roundRect">
            <a:avLst>
              <a:gd name="adj" fmla="val 50000"/>
            </a:avLst>
          </a:prstGeom>
          <a:solidFill>
            <a:schemeClr val="tx2"/>
          </a:solidFill>
          <a:ln w="12700">
            <a:solidFill>
              <a:schemeClr val="tx2"/>
            </a:solidFill>
            <a:prstDash val="solid"/>
          </a:ln>
        </p:spPr>
      </p:sp>
      <p:sp>
        <p:nvSpPr>
          <p:cNvPr id="44" name="Text 31"/>
          <p:cNvSpPr txBox="1"/>
          <p:nvPr/>
        </p:nvSpPr>
        <p:spPr>
          <a:xfrm>
            <a:off x="4553712" y="4526280"/>
            <a:ext cx="731520" cy="347472"/>
          </a:xfrm>
          <a:prstGeom prst="rect">
            <a:avLst/>
          </a:prstGeom>
          <a:noFill/>
          <a:ln/>
        </p:spPr>
        <p:txBody>
          <a:bodyPr wrap="square" lIns="0" tIns="0" rIns="0" bIns="0" rtlCol="0" anchor="ctr"/>
          <a:lstStyle/>
          <a:p>
            <a:pPr marL="0" indent="0" algn="ctr">
              <a:buNone/>
            </a:pPr>
            <a:r>
              <a:rPr lang="en-US" sz="1200" b="1" dirty="0">
                <a:solidFill>
                  <a:schemeClr val="bg1"/>
                </a:solidFill>
              </a:rPr>
              <a:t>bcrypt</a:t>
            </a:r>
            <a:endParaRPr lang="en-US" sz="1200" dirty="0"/>
          </a:p>
        </p:txBody>
      </p:sp>
      <p:sp>
        <p:nvSpPr>
          <p:cNvPr id="45" name="Text 32"/>
          <p:cNvSpPr txBox="1"/>
          <p:nvPr/>
        </p:nvSpPr>
        <p:spPr>
          <a:xfrm>
            <a:off x="822960" y="5440680"/>
            <a:ext cx="4480560" cy="320040"/>
          </a:xfrm>
          <a:prstGeom prst="rect">
            <a:avLst/>
          </a:prstGeom>
          <a:noFill/>
          <a:ln/>
        </p:spPr>
        <p:txBody>
          <a:bodyPr wrap="square" lIns="0" tIns="0" rIns="0" bIns="0" rtlCol="0" anchor="t"/>
          <a:lstStyle/>
          <a:p>
            <a:pPr marL="0" indent="0">
              <a:buNone/>
            </a:pPr>
            <a:r>
              <a:rPr lang="en-US" sz="1400" dirty="0">
                <a:solidFill>
                  <a:schemeClr val="tx2"/>
                </a:solidFill>
              </a:rPr>
              <a:t>One language (JavaScript) on client and server</a:t>
            </a:r>
            <a:endParaRPr lang="en-US" sz="1400" dirty="0"/>
          </a:p>
        </p:txBody>
      </p:sp>
      <p:sp>
        <p:nvSpPr>
          <p:cNvPr id="46" name="REST methods card"/>
          <p:cNvSpPr/>
          <p:nvPr/>
        </p:nvSpPr>
        <p:spPr>
          <a:xfrm>
            <a:off x="5715000" y="3931920"/>
            <a:ext cx="5897880" cy="1965960"/>
          </a:xfrm>
          <a:prstGeom prst="roundRect">
            <a:avLst>
              <a:gd name="adj" fmla="val 5581"/>
            </a:avLst>
          </a:prstGeom>
          <a:solidFill>
            <a:schemeClr val="bg2"/>
          </a:solidFill>
          <a:ln w="12700">
            <a:solidFill>
              <a:schemeClr val="bg2"/>
            </a:solidFill>
            <a:prstDash val="solid"/>
          </a:ln>
        </p:spPr>
      </p:sp>
      <p:sp>
        <p:nvSpPr>
          <p:cNvPr id="47" name="Text 34"/>
          <p:cNvSpPr txBox="1"/>
          <p:nvPr/>
        </p:nvSpPr>
        <p:spPr>
          <a:xfrm>
            <a:off x="5989320" y="4114800"/>
            <a:ext cx="3657600" cy="274320"/>
          </a:xfrm>
          <a:prstGeom prst="rect">
            <a:avLst/>
          </a:prstGeom>
          <a:noFill/>
          <a:ln/>
        </p:spPr>
        <p:txBody>
          <a:bodyPr wrap="square" lIns="0" tIns="0" rIns="0" bIns="0" rtlCol="0" anchor="t"/>
          <a:lstStyle/>
          <a:p>
            <a:pPr marL="0" indent="0">
              <a:buNone/>
            </a:pPr>
            <a:r>
              <a:rPr lang="en-US" sz="1200" b="1" kern="0" spc="100" dirty="0">
                <a:solidFill>
                  <a:schemeClr val="accent1"/>
                </a:solidFill>
              </a:rPr>
              <a:t>REST METHODS</a:t>
            </a:r>
            <a:endParaRPr lang="en-US" sz="1200" dirty="0"/>
          </a:p>
        </p:txBody>
      </p:sp>
      <p:sp>
        <p:nvSpPr>
          <p:cNvPr id="48" name="Shape 35"/>
          <p:cNvSpPr/>
          <p:nvPr/>
        </p:nvSpPr>
        <p:spPr>
          <a:xfrm>
            <a:off x="5989320" y="4526280"/>
            <a:ext cx="868680" cy="365760"/>
          </a:xfrm>
          <a:prstGeom prst="roundRect">
            <a:avLst>
              <a:gd name="adj" fmla="val 20000"/>
            </a:avLst>
          </a:prstGeom>
          <a:solidFill>
            <a:schemeClr val="accent3"/>
          </a:solidFill>
          <a:ln w="12700">
            <a:solidFill>
              <a:schemeClr val="accent3"/>
            </a:solidFill>
            <a:prstDash val="solid"/>
          </a:ln>
        </p:spPr>
      </p:sp>
      <p:sp>
        <p:nvSpPr>
          <p:cNvPr id="49" name="Text 36"/>
          <p:cNvSpPr txBox="1"/>
          <p:nvPr/>
        </p:nvSpPr>
        <p:spPr>
          <a:xfrm>
            <a:off x="5989320" y="4526280"/>
            <a:ext cx="868680" cy="365760"/>
          </a:xfrm>
          <a:prstGeom prst="rect">
            <a:avLst/>
          </a:prstGeom>
          <a:noFill/>
          <a:ln/>
        </p:spPr>
        <p:txBody>
          <a:bodyPr wrap="square" lIns="0" tIns="0" rIns="0" bIns="0" rtlCol="0" anchor="ctr"/>
          <a:lstStyle/>
          <a:p>
            <a:pPr marL="0" indent="0" algn="ctr">
              <a:buNone/>
            </a:pPr>
            <a:r>
              <a:rPr lang="en-US" sz="1200" b="1" dirty="0">
                <a:solidFill>
                  <a:schemeClr val="bg1"/>
                </a:solidFill>
                <a:latin typeface="Arial" pitchFamily="34" charset="0"/>
                <a:ea typeface="Arial" pitchFamily="34" charset="-122"/>
                <a:cs typeface="Arial" pitchFamily="34" charset="-120"/>
              </a:rPr>
              <a:t>GET</a:t>
            </a:r>
            <a:endParaRPr lang="en-US" sz="1200" dirty="0"/>
          </a:p>
        </p:txBody>
      </p:sp>
      <p:sp>
        <p:nvSpPr>
          <p:cNvPr id="50" name="Text 37"/>
          <p:cNvSpPr txBox="1"/>
          <p:nvPr/>
        </p:nvSpPr>
        <p:spPr>
          <a:xfrm>
            <a:off x="6995160" y="4526280"/>
            <a:ext cx="1645920" cy="365760"/>
          </a:xfrm>
          <a:prstGeom prst="rect">
            <a:avLst/>
          </a:prstGeom>
          <a:noFill/>
          <a:ln/>
        </p:spPr>
        <p:txBody>
          <a:bodyPr wrap="square" lIns="0" tIns="0" rIns="0" bIns="0" rtlCol="0" anchor="ctr"/>
          <a:lstStyle/>
          <a:p>
            <a:pPr marL="0" indent="0">
              <a:buNone/>
            </a:pPr>
            <a:r>
              <a:rPr lang="en-US" sz="1400" dirty="0">
                <a:solidFill>
                  <a:schemeClr val="tx1"/>
                </a:solidFill>
              </a:rPr>
              <a:t>Read records</a:t>
            </a:r>
            <a:endParaRPr lang="en-US" sz="1400" dirty="0"/>
          </a:p>
        </p:txBody>
      </p:sp>
      <p:sp>
        <p:nvSpPr>
          <p:cNvPr id="51" name="Shape 38"/>
          <p:cNvSpPr/>
          <p:nvPr/>
        </p:nvSpPr>
        <p:spPr>
          <a:xfrm>
            <a:off x="8732520" y="4526280"/>
            <a:ext cx="868680" cy="365760"/>
          </a:xfrm>
          <a:prstGeom prst="roundRect">
            <a:avLst>
              <a:gd name="adj" fmla="val 20000"/>
            </a:avLst>
          </a:prstGeom>
          <a:solidFill>
            <a:schemeClr val="accent2"/>
          </a:solidFill>
          <a:ln w="12700">
            <a:solidFill>
              <a:schemeClr val="accent2"/>
            </a:solidFill>
            <a:prstDash val="solid"/>
          </a:ln>
        </p:spPr>
      </p:sp>
      <p:sp>
        <p:nvSpPr>
          <p:cNvPr id="52" name="Text 39"/>
          <p:cNvSpPr txBox="1"/>
          <p:nvPr/>
        </p:nvSpPr>
        <p:spPr>
          <a:xfrm>
            <a:off x="8732520" y="4526280"/>
            <a:ext cx="868680" cy="365760"/>
          </a:xfrm>
          <a:prstGeom prst="rect">
            <a:avLst/>
          </a:prstGeom>
          <a:noFill/>
          <a:ln/>
        </p:spPr>
        <p:txBody>
          <a:bodyPr wrap="square" lIns="0" tIns="0" rIns="0" bIns="0" rtlCol="0" anchor="ctr"/>
          <a:lstStyle/>
          <a:p>
            <a:pPr marL="0" indent="0" algn="ctr">
              <a:buNone/>
            </a:pPr>
            <a:r>
              <a:rPr lang="en-US" sz="1200" b="1" dirty="0">
                <a:solidFill>
                  <a:schemeClr val="bg1"/>
                </a:solidFill>
                <a:latin typeface="Arial" pitchFamily="34" charset="0"/>
                <a:ea typeface="Arial" pitchFamily="34" charset="-122"/>
                <a:cs typeface="Arial" pitchFamily="34" charset="-120"/>
              </a:rPr>
              <a:t>POST</a:t>
            </a:r>
            <a:endParaRPr lang="en-US" sz="1200" dirty="0"/>
          </a:p>
        </p:txBody>
      </p:sp>
      <p:sp>
        <p:nvSpPr>
          <p:cNvPr id="53" name="Text 40"/>
          <p:cNvSpPr txBox="1"/>
          <p:nvPr/>
        </p:nvSpPr>
        <p:spPr>
          <a:xfrm>
            <a:off x="9738360" y="4526280"/>
            <a:ext cx="1645920" cy="365760"/>
          </a:xfrm>
          <a:prstGeom prst="rect">
            <a:avLst/>
          </a:prstGeom>
          <a:noFill/>
          <a:ln/>
        </p:spPr>
        <p:txBody>
          <a:bodyPr wrap="square" lIns="0" tIns="0" rIns="0" bIns="0" rtlCol="0" anchor="ctr"/>
          <a:lstStyle/>
          <a:p>
            <a:pPr marL="0" indent="0">
              <a:buNone/>
            </a:pPr>
            <a:r>
              <a:rPr lang="en-US" sz="1400" dirty="0">
                <a:solidFill>
                  <a:schemeClr val="tx1"/>
                </a:solidFill>
              </a:rPr>
              <a:t>Create entry</a:t>
            </a:r>
            <a:endParaRPr lang="en-US" sz="1400" dirty="0"/>
          </a:p>
        </p:txBody>
      </p:sp>
      <p:sp>
        <p:nvSpPr>
          <p:cNvPr id="54" name="Shape 41"/>
          <p:cNvSpPr/>
          <p:nvPr/>
        </p:nvSpPr>
        <p:spPr>
          <a:xfrm>
            <a:off x="5989320" y="5093208"/>
            <a:ext cx="868680" cy="365760"/>
          </a:xfrm>
          <a:prstGeom prst="roundRect">
            <a:avLst>
              <a:gd name="adj" fmla="val 20000"/>
            </a:avLst>
          </a:prstGeom>
          <a:solidFill>
            <a:schemeClr val="accent1"/>
          </a:solidFill>
          <a:ln w="12700">
            <a:solidFill>
              <a:schemeClr val="accent1"/>
            </a:solidFill>
            <a:prstDash val="solid"/>
          </a:ln>
        </p:spPr>
      </p:sp>
      <p:sp>
        <p:nvSpPr>
          <p:cNvPr id="55" name="Text 42"/>
          <p:cNvSpPr txBox="1"/>
          <p:nvPr/>
        </p:nvSpPr>
        <p:spPr>
          <a:xfrm>
            <a:off x="5989320" y="5093208"/>
            <a:ext cx="868680" cy="365760"/>
          </a:xfrm>
          <a:prstGeom prst="rect">
            <a:avLst/>
          </a:prstGeom>
          <a:noFill/>
          <a:ln/>
        </p:spPr>
        <p:txBody>
          <a:bodyPr wrap="square" lIns="0" tIns="0" rIns="0" bIns="0" rtlCol="0" anchor="ctr"/>
          <a:lstStyle/>
          <a:p>
            <a:pPr marL="0" indent="0" algn="ctr">
              <a:buNone/>
            </a:pPr>
            <a:r>
              <a:rPr lang="en-US" sz="1200" b="1" dirty="0">
                <a:solidFill>
                  <a:schemeClr val="bg1"/>
                </a:solidFill>
                <a:latin typeface="Arial" pitchFamily="34" charset="0"/>
                <a:ea typeface="Arial" pitchFamily="34" charset="-122"/>
                <a:cs typeface="Arial" pitchFamily="34" charset="-120"/>
              </a:rPr>
              <a:t>PUT</a:t>
            </a:r>
            <a:endParaRPr lang="en-US" sz="1200" dirty="0"/>
          </a:p>
        </p:txBody>
      </p:sp>
      <p:sp>
        <p:nvSpPr>
          <p:cNvPr id="56" name="Text 43"/>
          <p:cNvSpPr txBox="1"/>
          <p:nvPr/>
        </p:nvSpPr>
        <p:spPr>
          <a:xfrm>
            <a:off x="6995160" y="5093208"/>
            <a:ext cx="1645920" cy="365760"/>
          </a:xfrm>
          <a:prstGeom prst="rect">
            <a:avLst/>
          </a:prstGeom>
          <a:noFill/>
          <a:ln/>
        </p:spPr>
        <p:txBody>
          <a:bodyPr wrap="square" lIns="0" tIns="0" rIns="0" bIns="0" rtlCol="0" anchor="ctr"/>
          <a:lstStyle/>
          <a:p>
            <a:pPr marL="0" indent="0">
              <a:buNone/>
            </a:pPr>
            <a:r>
              <a:rPr lang="en-US" sz="1400" dirty="0">
                <a:solidFill>
                  <a:schemeClr val="tx1"/>
                </a:solidFill>
              </a:rPr>
              <a:t>Update entry</a:t>
            </a:r>
            <a:endParaRPr lang="en-US" sz="1400" dirty="0"/>
          </a:p>
        </p:txBody>
      </p:sp>
      <p:sp>
        <p:nvSpPr>
          <p:cNvPr id="57" name="Shape 44"/>
          <p:cNvSpPr/>
          <p:nvPr/>
        </p:nvSpPr>
        <p:spPr>
          <a:xfrm>
            <a:off x="8732520" y="5093208"/>
            <a:ext cx="868680" cy="365760"/>
          </a:xfrm>
          <a:prstGeom prst="roundRect">
            <a:avLst>
              <a:gd name="adj" fmla="val 20000"/>
            </a:avLst>
          </a:prstGeom>
          <a:solidFill>
            <a:schemeClr val="accent5"/>
          </a:solidFill>
          <a:ln w="12700">
            <a:solidFill>
              <a:schemeClr val="accent5"/>
            </a:solidFill>
            <a:prstDash val="solid"/>
          </a:ln>
        </p:spPr>
      </p:sp>
      <p:sp>
        <p:nvSpPr>
          <p:cNvPr id="58" name="Text 45"/>
          <p:cNvSpPr txBox="1"/>
          <p:nvPr/>
        </p:nvSpPr>
        <p:spPr>
          <a:xfrm>
            <a:off x="8732520" y="5093208"/>
            <a:ext cx="868680" cy="365760"/>
          </a:xfrm>
          <a:prstGeom prst="rect">
            <a:avLst/>
          </a:prstGeom>
          <a:noFill/>
          <a:ln/>
        </p:spPr>
        <p:txBody>
          <a:bodyPr wrap="square" lIns="0" tIns="0" rIns="0" bIns="0" rtlCol="0" anchor="ctr"/>
          <a:lstStyle/>
          <a:p>
            <a:pPr marL="0" indent="0" algn="ctr">
              <a:buNone/>
            </a:pPr>
            <a:r>
              <a:rPr lang="en-US" sz="1200" b="1" dirty="0">
                <a:solidFill>
                  <a:schemeClr val="bg1"/>
                </a:solidFill>
                <a:latin typeface="Arial" pitchFamily="34" charset="0"/>
                <a:ea typeface="Arial" pitchFamily="34" charset="-122"/>
                <a:cs typeface="Arial" pitchFamily="34" charset="-120"/>
              </a:rPr>
              <a:t>DELETE</a:t>
            </a:r>
            <a:endParaRPr lang="en-US" sz="1200" dirty="0"/>
          </a:p>
        </p:txBody>
      </p:sp>
      <p:sp>
        <p:nvSpPr>
          <p:cNvPr id="59" name="Text 46"/>
          <p:cNvSpPr txBox="1"/>
          <p:nvPr/>
        </p:nvSpPr>
        <p:spPr>
          <a:xfrm>
            <a:off x="9738360" y="5093208"/>
            <a:ext cx="1645920" cy="365760"/>
          </a:xfrm>
          <a:prstGeom prst="rect">
            <a:avLst/>
          </a:prstGeom>
          <a:noFill/>
          <a:ln/>
        </p:spPr>
        <p:txBody>
          <a:bodyPr wrap="square" lIns="0" tIns="0" rIns="0" bIns="0" rtlCol="0" anchor="ctr"/>
          <a:lstStyle/>
          <a:p>
            <a:pPr marL="0" indent="0">
              <a:buNone/>
            </a:pPr>
            <a:r>
              <a:rPr lang="en-US" sz="1400" dirty="0">
                <a:solidFill>
                  <a:schemeClr val="tx1"/>
                </a:solidFill>
              </a:rPr>
              <a:t>Remove entry</a:t>
            </a:r>
            <a:endParaRPr lang="en-US" sz="1400" dirty="0"/>
          </a:p>
        </p:txBody>
      </p:sp>
      <p:sp>
        <p:nvSpPr>
          <p:cNvPr id="60" name="Source"/>
          <p:cNvSpPr txBox="1"/>
          <p:nvPr/>
        </p:nvSpPr>
        <p:spPr>
          <a:xfrm>
            <a:off x="548640" y="6053328"/>
            <a:ext cx="11064240" cy="256032"/>
          </a:xfrm>
          <a:prstGeom prst="rect">
            <a:avLst/>
          </a:prstGeom>
          <a:noFill/>
          <a:ln/>
        </p:spPr>
        <p:txBody>
          <a:bodyPr wrap="square" lIns="0" tIns="0" rIns="0" bIns="0" rtlCol="0" anchor="b"/>
          <a:lstStyle/>
          <a:p>
            <a:pPr marL="0" indent="0">
              <a:buNone/>
            </a:pPr>
            <a:r>
              <a:rPr lang="en-US" sz="1000" i="1" dirty="0">
                <a:solidFill>
                  <a:schemeClr val="accent6"/>
                </a:solidFill>
              </a:rPr>
              <a:t>Source: Donham (2017)</a:t>
            </a:r>
            <a:endParaRPr lang="en-US" sz="1000" dirty="0"/>
          </a:p>
        </p:txBody>
      </p:sp>
      <p:sp>
        <p:nvSpPr>
          <p:cNvPr id="61" name="Slide Number Placeholder 0"/>
          <p:cNvSpPr>
            <a:spLocks noGrp="1"/>
          </p:cNvSpPr>
          <p:nvPr>
            <p:ph type="sldNum" sz="quarter" idx="4294967295"/>
          </p:nvPr>
        </p:nvSpPr>
        <p:spPr>
          <a:xfrm>
            <a:off x="11201400" y="6382512"/>
            <a:ext cx="41148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64240" cy="731520"/>
          </a:xfrm>
          <a:prstGeom prst="rect">
            <a:avLst/>
          </a:prstGeom>
          <a:noFill/>
          <a:ln/>
        </p:spPr>
        <p:txBody>
          <a:bodyPr wrap="square" lIns="0" tIns="0" rIns="0" bIns="0" rtlCol="0" anchor="ctr"/>
          <a:lstStyle/>
          <a:p>
            <a:pPr marL="0" indent="0" algn="l">
              <a:buNone/>
            </a:pPr>
            <a:r>
              <a:rPr lang="en-US" sz="3400" b="1" dirty="0">
                <a:solidFill>
                  <a:schemeClr val="tx1"/>
                </a:solidFill>
                <a:latin typeface="Arial" pitchFamily="34" charset="0"/>
                <a:ea typeface="Arial" pitchFamily="34" charset="-122"/>
                <a:cs typeface="Arial" pitchFamily="34" charset="-120"/>
              </a:rPr>
              <a:t>Database design</a:t>
            </a:r>
            <a:endParaRPr lang="en-US" sz="3400" dirty="0"/>
          </a:p>
        </p:txBody>
      </p:sp>
      <p:pic>
        <p:nvPicPr>
          <p:cNvPr id="3" name="pgAdmin users table" descr="pgAdmin 4 column view of the users table"/>
          <p:cNvPicPr>
            <a:picLocks noChangeAspect="1"/>
          </p:cNvPicPr>
          <p:nvPr/>
        </p:nvPicPr>
        <p:blipFill>
          <a:blip r:embed="rId3"/>
          <a:stretch>
            <a:fillRect/>
          </a:stretch>
        </p:blipFill>
        <p:spPr>
          <a:xfrm>
            <a:off x="548640" y="1371600"/>
            <a:ext cx="5758787" cy="4343400"/>
          </a:xfrm>
          <a:prstGeom prst="rect">
            <a:avLst/>
          </a:prstGeom>
          <a:effectLst>
            <a:outerShdw blurRad="101600" dist="25400" dir="5400000" algn="bl" rotWithShape="0">
              <a:srgbClr val="1E2633">
                <a:alpha val="12000"/>
              </a:srgbClr>
            </a:outerShdw>
          </a:effectLst>
        </p:spPr>
      </p:pic>
      <p:sp>
        <p:nvSpPr>
          <p:cNvPr id="4" name="Text 1"/>
          <p:cNvSpPr txBox="1"/>
          <p:nvPr/>
        </p:nvSpPr>
        <p:spPr>
          <a:xfrm>
            <a:off x="548640" y="5824728"/>
            <a:ext cx="5758787" cy="320040"/>
          </a:xfrm>
          <a:prstGeom prst="rect">
            <a:avLst/>
          </a:prstGeom>
          <a:noFill/>
          <a:ln/>
        </p:spPr>
        <p:txBody>
          <a:bodyPr wrap="square" lIns="0" tIns="0" rIns="0" bIns="0" rtlCol="0" anchor="t"/>
          <a:lstStyle/>
          <a:p>
            <a:pPr marL="0" indent="0">
              <a:buNone/>
            </a:pPr>
            <a:r>
              <a:rPr lang="en-US" sz="1200" i="1" dirty="0">
                <a:solidFill>
                  <a:schemeClr val="accent6"/>
                </a:solidFill>
              </a:rPr>
              <a:t>users table in pgAdmin 4: id (PK), full_name, email, password_hash, created_at</a:t>
            </a:r>
            <a:endParaRPr lang="en-US" sz="1200" dirty="0"/>
          </a:p>
        </p:txBody>
      </p:sp>
      <p:sp>
        <p:nvSpPr>
          <p:cNvPr id="5" name="Text 2"/>
          <p:cNvSpPr txBox="1"/>
          <p:nvPr/>
        </p:nvSpPr>
        <p:spPr>
          <a:xfrm>
            <a:off x="6629400" y="1371600"/>
            <a:ext cx="4983480" cy="274320"/>
          </a:xfrm>
          <a:prstGeom prst="rect">
            <a:avLst/>
          </a:prstGeom>
          <a:noFill/>
          <a:ln/>
        </p:spPr>
        <p:txBody>
          <a:bodyPr wrap="square" lIns="0" tIns="0" rIns="0" bIns="0" rtlCol="0" anchor="t"/>
          <a:lstStyle/>
          <a:p>
            <a:pPr marL="0" indent="0">
              <a:buNone/>
            </a:pPr>
            <a:r>
              <a:rPr lang="en-US" sz="1200" b="1" kern="0" spc="100" dirty="0">
                <a:solidFill>
                  <a:schemeClr val="accent1"/>
                </a:solidFill>
              </a:rPr>
              <a:t>POSTGRESQL SCHEMA — 7 TABLES</a:t>
            </a:r>
            <a:endParaRPr lang="en-US" sz="1200" dirty="0"/>
          </a:p>
        </p:txBody>
      </p:sp>
      <p:sp>
        <p:nvSpPr>
          <p:cNvPr id="6" name="Shape 3"/>
          <p:cNvSpPr/>
          <p:nvPr/>
        </p:nvSpPr>
        <p:spPr>
          <a:xfrm>
            <a:off x="6629400" y="1783080"/>
            <a:ext cx="2377440" cy="393192"/>
          </a:xfrm>
          <a:prstGeom prst="roundRect">
            <a:avLst>
              <a:gd name="adj" fmla="val 18605"/>
            </a:avLst>
          </a:prstGeom>
          <a:solidFill>
            <a:schemeClr val="tx2"/>
          </a:solidFill>
          <a:ln w="12700">
            <a:solidFill>
              <a:schemeClr val="tx2"/>
            </a:solidFill>
            <a:prstDash val="solid"/>
          </a:ln>
        </p:spPr>
      </p:sp>
      <p:pic>
        <p:nvPicPr>
          <p:cNvPr id="7" name="Image 1" descr="preencoded.png"/>
          <p:cNvPicPr>
            <a:picLocks noChangeAspect="1"/>
          </p:cNvPicPr>
          <p:nvPr/>
        </p:nvPicPr>
        <p:blipFill>
          <a:blip r:embed="rId4"/>
          <a:stretch>
            <a:fillRect/>
          </a:stretch>
        </p:blipFill>
        <p:spPr>
          <a:xfrm>
            <a:off x="6766560" y="1883664"/>
            <a:ext cx="192024" cy="192024"/>
          </a:xfrm>
          <a:prstGeom prst="rect">
            <a:avLst/>
          </a:prstGeom>
        </p:spPr>
      </p:pic>
      <p:sp>
        <p:nvSpPr>
          <p:cNvPr id="8" name="Text 4"/>
          <p:cNvSpPr txBox="1"/>
          <p:nvPr/>
        </p:nvSpPr>
        <p:spPr>
          <a:xfrm>
            <a:off x="7086600" y="1783080"/>
            <a:ext cx="1828800" cy="393192"/>
          </a:xfrm>
          <a:prstGeom prst="rect">
            <a:avLst/>
          </a:prstGeom>
          <a:noFill/>
          <a:ln/>
        </p:spPr>
        <p:txBody>
          <a:bodyPr wrap="square" lIns="0" tIns="0" rIns="0" bIns="0" rtlCol="0" anchor="ctr"/>
          <a:lstStyle/>
          <a:p>
            <a:pPr marL="0" indent="0">
              <a:buNone/>
            </a:pPr>
            <a:r>
              <a:rPr lang="en-US" sz="1400" dirty="0">
                <a:solidFill>
                  <a:schemeClr val="bg1"/>
                </a:solidFill>
                <a:latin typeface="Courier New" pitchFamily="34" charset="0"/>
                <a:ea typeface="Courier New" pitchFamily="34" charset="-122"/>
                <a:cs typeface="Courier New" pitchFamily="34" charset="-120"/>
              </a:rPr>
              <a:t>users</a:t>
            </a:r>
            <a:endParaRPr lang="en-US" sz="1400" dirty="0"/>
          </a:p>
        </p:txBody>
      </p:sp>
      <p:sp>
        <p:nvSpPr>
          <p:cNvPr id="9" name="Shape 5"/>
          <p:cNvSpPr/>
          <p:nvPr/>
        </p:nvSpPr>
        <p:spPr>
          <a:xfrm>
            <a:off x="9189720" y="1783080"/>
            <a:ext cx="2377440" cy="393192"/>
          </a:xfrm>
          <a:prstGeom prst="roundRect">
            <a:avLst>
              <a:gd name="adj" fmla="val 18605"/>
            </a:avLst>
          </a:prstGeom>
          <a:solidFill>
            <a:schemeClr val="bg2"/>
          </a:solidFill>
          <a:ln w="12700">
            <a:solidFill>
              <a:schemeClr val="bg2"/>
            </a:solidFill>
            <a:prstDash val="solid"/>
          </a:ln>
        </p:spPr>
      </p:sp>
      <p:pic>
        <p:nvPicPr>
          <p:cNvPr id="10" name="Image 2" descr="preencoded.png"/>
          <p:cNvPicPr>
            <a:picLocks noChangeAspect="1"/>
          </p:cNvPicPr>
          <p:nvPr/>
        </p:nvPicPr>
        <p:blipFill>
          <a:blip r:embed="rId5"/>
          <a:stretch>
            <a:fillRect/>
          </a:stretch>
        </p:blipFill>
        <p:spPr>
          <a:xfrm>
            <a:off x="9326880" y="1883664"/>
            <a:ext cx="192024" cy="192024"/>
          </a:xfrm>
          <a:prstGeom prst="rect">
            <a:avLst/>
          </a:prstGeom>
        </p:spPr>
      </p:pic>
      <p:sp>
        <p:nvSpPr>
          <p:cNvPr id="11" name="Text 6"/>
          <p:cNvSpPr txBox="1"/>
          <p:nvPr/>
        </p:nvSpPr>
        <p:spPr>
          <a:xfrm>
            <a:off x="9646920" y="1783080"/>
            <a:ext cx="1828800" cy="393192"/>
          </a:xfrm>
          <a:prstGeom prst="rect">
            <a:avLst/>
          </a:prstGeom>
          <a:noFill/>
          <a:ln/>
        </p:spPr>
        <p:txBody>
          <a:bodyPr wrap="square" lIns="0" tIns="0" rIns="0" bIns="0" rtlCol="0" anchor="ctr"/>
          <a:lstStyle/>
          <a:p>
            <a:pPr marL="0" indent="0">
              <a:buNone/>
            </a:pPr>
            <a:r>
              <a:rPr lang="en-US" sz="1400" dirty="0">
                <a:solidFill>
                  <a:schemeClr val="tx1"/>
                </a:solidFill>
                <a:latin typeface="Courier New" pitchFamily="34" charset="0"/>
                <a:ea typeface="Courier New" pitchFamily="34" charset="-122"/>
                <a:cs typeface="Courier New" pitchFamily="34" charset="-120"/>
              </a:rPr>
              <a:t>user_settings</a:t>
            </a:r>
            <a:endParaRPr lang="en-US" sz="1400" dirty="0"/>
          </a:p>
        </p:txBody>
      </p:sp>
      <p:sp>
        <p:nvSpPr>
          <p:cNvPr id="12" name="Shape 7"/>
          <p:cNvSpPr/>
          <p:nvPr/>
        </p:nvSpPr>
        <p:spPr>
          <a:xfrm>
            <a:off x="6629400" y="2286000"/>
            <a:ext cx="2377440" cy="393192"/>
          </a:xfrm>
          <a:prstGeom prst="roundRect">
            <a:avLst>
              <a:gd name="adj" fmla="val 18605"/>
            </a:avLst>
          </a:prstGeom>
          <a:solidFill>
            <a:schemeClr val="bg2"/>
          </a:solidFill>
          <a:ln w="12700">
            <a:solidFill>
              <a:schemeClr val="bg2"/>
            </a:solidFill>
            <a:prstDash val="solid"/>
          </a:ln>
        </p:spPr>
      </p:sp>
      <p:pic>
        <p:nvPicPr>
          <p:cNvPr id="13" name="Image 3" descr="preencoded.png"/>
          <p:cNvPicPr>
            <a:picLocks noChangeAspect="1"/>
          </p:cNvPicPr>
          <p:nvPr/>
        </p:nvPicPr>
        <p:blipFill>
          <a:blip r:embed="rId5"/>
          <a:stretch>
            <a:fillRect/>
          </a:stretch>
        </p:blipFill>
        <p:spPr>
          <a:xfrm>
            <a:off x="6766560" y="2386584"/>
            <a:ext cx="192024" cy="192024"/>
          </a:xfrm>
          <a:prstGeom prst="rect">
            <a:avLst/>
          </a:prstGeom>
        </p:spPr>
      </p:pic>
      <p:sp>
        <p:nvSpPr>
          <p:cNvPr id="14" name="Text 8"/>
          <p:cNvSpPr txBox="1"/>
          <p:nvPr/>
        </p:nvSpPr>
        <p:spPr>
          <a:xfrm>
            <a:off x="7086600" y="2286000"/>
            <a:ext cx="1828800" cy="393192"/>
          </a:xfrm>
          <a:prstGeom prst="rect">
            <a:avLst/>
          </a:prstGeom>
          <a:noFill/>
          <a:ln/>
        </p:spPr>
        <p:txBody>
          <a:bodyPr wrap="square" lIns="0" tIns="0" rIns="0" bIns="0" rtlCol="0" anchor="ctr"/>
          <a:lstStyle/>
          <a:p>
            <a:pPr marL="0" indent="0">
              <a:buNone/>
            </a:pPr>
            <a:r>
              <a:rPr lang="en-US" sz="1400" dirty="0">
                <a:solidFill>
                  <a:schemeClr val="tx1"/>
                </a:solidFill>
                <a:latin typeface="Courier New" pitchFamily="34" charset="0"/>
                <a:ea typeface="Courier New" pitchFamily="34" charset="-122"/>
                <a:cs typeface="Courier New" pitchFamily="34" charset="-120"/>
              </a:rPr>
              <a:t>activities</a:t>
            </a:r>
            <a:endParaRPr lang="en-US" sz="1400" dirty="0"/>
          </a:p>
        </p:txBody>
      </p:sp>
      <p:sp>
        <p:nvSpPr>
          <p:cNvPr id="15" name="Shape 9"/>
          <p:cNvSpPr/>
          <p:nvPr/>
        </p:nvSpPr>
        <p:spPr>
          <a:xfrm>
            <a:off x="9189720" y="2286000"/>
            <a:ext cx="2377440" cy="393192"/>
          </a:xfrm>
          <a:prstGeom prst="roundRect">
            <a:avLst>
              <a:gd name="adj" fmla="val 18605"/>
            </a:avLst>
          </a:prstGeom>
          <a:solidFill>
            <a:schemeClr val="bg2"/>
          </a:solidFill>
          <a:ln w="12700">
            <a:solidFill>
              <a:schemeClr val="bg2"/>
            </a:solidFill>
            <a:prstDash val="solid"/>
          </a:ln>
        </p:spPr>
      </p:sp>
      <p:pic>
        <p:nvPicPr>
          <p:cNvPr id="16" name="Image 4" descr="preencoded.png"/>
          <p:cNvPicPr>
            <a:picLocks noChangeAspect="1"/>
          </p:cNvPicPr>
          <p:nvPr/>
        </p:nvPicPr>
        <p:blipFill>
          <a:blip r:embed="rId5"/>
          <a:stretch>
            <a:fillRect/>
          </a:stretch>
        </p:blipFill>
        <p:spPr>
          <a:xfrm>
            <a:off x="9326880" y="2386584"/>
            <a:ext cx="192024" cy="192024"/>
          </a:xfrm>
          <a:prstGeom prst="rect">
            <a:avLst/>
          </a:prstGeom>
        </p:spPr>
      </p:pic>
      <p:sp>
        <p:nvSpPr>
          <p:cNvPr id="17" name="Text 10"/>
          <p:cNvSpPr txBox="1"/>
          <p:nvPr/>
        </p:nvSpPr>
        <p:spPr>
          <a:xfrm>
            <a:off x="9646920" y="2286000"/>
            <a:ext cx="1828800" cy="393192"/>
          </a:xfrm>
          <a:prstGeom prst="rect">
            <a:avLst/>
          </a:prstGeom>
          <a:noFill/>
          <a:ln/>
        </p:spPr>
        <p:txBody>
          <a:bodyPr wrap="square" lIns="0" tIns="0" rIns="0" bIns="0" rtlCol="0" anchor="ctr"/>
          <a:lstStyle/>
          <a:p>
            <a:pPr marL="0" indent="0">
              <a:buNone/>
            </a:pPr>
            <a:r>
              <a:rPr lang="en-US" sz="1400" dirty="0">
                <a:solidFill>
                  <a:schemeClr val="tx1"/>
                </a:solidFill>
                <a:latin typeface="Courier New" pitchFamily="34" charset="0"/>
                <a:ea typeface="Courier New" pitchFamily="34" charset="-122"/>
                <a:cs typeface="Courier New" pitchFamily="34" charset="-120"/>
              </a:rPr>
              <a:t>appointments</a:t>
            </a:r>
            <a:endParaRPr lang="en-US" sz="1400" dirty="0"/>
          </a:p>
        </p:txBody>
      </p:sp>
      <p:sp>
        <p:nvSpPr>
          <p:cNvPr id="18" name="Shape 11"/>
          <p:cNvSpPr/>
          <p:nvPr/>
        </p:nvSpPr>
        <p:spPr>
          <a:xfrm>
            <a:off x="6629400" y="2788920"/>
            <a:ext cx="2377440" cy="393192"/>
          </a:xfrm>
          <a:prstGeom prst="roundRect">
            <a:avLst>
              <a:gd name="adj" fmla="val 18605"/>
            </a:avLst>
          </a:prstGeom>
          <a:solidFill>
            <a:schemeClr val="bg2"/>
          </a:solidFill>
          <a:ln w="12700">
            <a:solidFill>
              <a:schemeClr val="bg2"/>
            </a:solidFill>
            <a:prstDash val="solid"/>
          </a:ln>
        </p:spPr>
      </p:sp>
      <p:pic>
        <p:nvPicPr>
          <p:cNvPr id="19" name="Image 5" descr="preencoded.png"/>
          <p:cNvPicPr>
            <a:picLocks noChangeAspect="1"/>
          </p:cNvPicPr>
          <p:nvPr/>
        </p:nvPicPr>
        <p:blipFill>
          <a:blip r:embed="rId5"/>
          <a:stretch>
            <a:fillRect/>
          </a:stretch>
        </p:blipFill>
        <p:spPr>
          <a:xfrm>
            <a:off x="6766560" y="2889504"/>
            <a:ext cx="192024" cy="192024"/>
          </a:xfrm>
          <a:prstGeom prst="rect">
            <a:avLst/>
          </a:prstGeom>
        </p:spPr>
      </p:pic>
      <p:sp>
        <p:nvSpPr>
          <p:cNvPr id="20" name="Text 12"/>
          <p:cNvSpPr txBox="1"/>
          <p:nvPr/>
        </p:nvSpPr>
        <p:spPr>
          <a:xfrm>
            <a:off x="7086600" y="2788920"/>
            <a:ext cx="1828800" cy="393192"/>
          </a:xfrm>
          <a:prstGeom prst="rect">
            <a:avLst/>
          </a:prstGeom>
          <a:noFill/>
          <a:ln/>
        </p:spPr>
        <p:txBody>
          <a:bodyPr wrap="square" lIns="0" tIns="0" rIns="0" bIns="0" rtlCol="0" anchor="ctr"/>
          <a:lstStyle/>
          <a:p>
            <a:pPr marL="0" indent="0">
              <a:buNone/>
            </a:pPr>
            <a:r>
              <a:rPr lang="en-US" sz="1400" dirty="0">
                <a:solidFill>
                  <a:schemeClr val="tx1"/>
                </a:solidFill>
                <a:latin typeface="Courier New" pitchFamily="34" charset="0"/>
                <a:ea typeface="Courier New" pitchFamily="34" charset="-122"/>
                <a:cs typeface="Courier New" pitchFamily="34" charset="-120"/>
              </a:rPr>
              <a:t>hydration_logs</a:t>
            </a:r>
            <a:endParaRPr lang="en-US" sz="1400" dirty="0"/>
          </a:p>
        </p:txBody>
      </p:sp>
      <p:sp>
        <p:nvSpPr>
          <p:cNvPr id="21" name="Shape 13"/>
          <p:cNvSpPr/>
          <p:nvPr/>
        </p:nvSpPr>
        <p:spPr>
          <a:xfrm>
            <a:off x="9189720" y="2788920"/>
            <a:ext cx="2377440" cy="393192"/>
          </a:xfrm>
          <a:prstGeom prst="roundRect">
            <a:avLst>
              <a:gd name="adj" fmla="val 18605"/>
            </a:avLst>
          </a:prstGeom>
          <a:solidFill>
            <a:schemeClr val="bg2"/>
          </a:solidFill>
          <a:ln w="12700">
            <a:solidFill>
              <a:schemeClr val="bg2"/>
            </a:solidFill>
            <a:prstDash val="solid"/>
          </a:ln>
        </p:spPr>
      </p:sp>
      <p:pic>
        <p:nvPicPr>
          <p:cNvPr id="22" name="Image 6" descr="preencoded.png"/>
          <p:cNvPicPr>
            <a:picLocks noChangeAspect="1"/>
          </p:cNvPicPr>
          <p:nvPr/>
        </p:nvPicPr>
        <p:blipFill>
          <a:blip r:embed="rId5"/>
          <a:stretch>
            <a:fillRect/>
          </a:stretch>
        </p:blipFill>
        <p:spPr>
          <a:xfrm>
            <a:off x="9326880" y="2889504"/>
            <a:ext cx="192024" cy="192024"/>
          </a:xfrm>
          <a:prstGeom prst="rect">
            <a:avLst/>
          </a:prstGeom>
        </p:spPr>
      </p:pic>
      <p:sp>
        <p:nvSpPr>
          <p:cNvPr id="23" name="Text 14"/>
          <p:cNvSpPr txBox="1"/>
          <p:nvPr/>
        </p:nvSpPr>
        <p:spPr>
          <a:xfrm>
            <a:off x="9646920" y="2788920"/>
            <a:ext cx="1828800" cy="393192"/>
          </a:xfrm>
          <a:prstGeom prst="rect">
            <a:avLst/>
          </a:prstGeom>
          <a:noFill/>
          <a:ln/>
        </p:spPr>
        <p:txBody>
          <a:bodyPr wrap="square" lIns="0" tIns="0" rIns="0" bIns="0" rtlCol="0" anchor="ctr"/>
          <a:lstStyle/>
          <a:p>
            <a:pPr marL="0" indent="0">
              <a:buNone/>
            </a:pPr>
            <a:r>
              <a:rPr lang="en-US" sz="1400" dirty="0">
                <a:solidFill>
                  <a:schemeClr val="tx1"/>
                </a:solidFill>
                <a:latin typeface="Courier New" pitchFamily="34" charset="0"/>
                <a:ea typeface="Courier New" pitchFamily="34" charset="-122"/>
                <a:cs typeface="Courier New" pitchFamily="34" charset="-120"/>
              </a:rPr>
              <a:t>sleep_logs</a:t>
            </a:r>
            <a:endParaRPr lang="en-US" sz="1400" dirty="0"/>
          </a:p>
        </p:txBody>
      </p:sp>
      <p:sp>
        <p:nvSpPr>
          <p:cNvPr id="24" name="Shape 15"/>
          <p:cNvSpPr/>
          <p:nvPr/>
        </p:nvSpPr>
        <p:spPr>
          <a:xfrm>
            <a:off x="6629400" y="3291840"/>
            <a:ext cx="2377440" cy="393192"/>
          </a:xfrm>
          <a:prstGeom prst="roundRect">
            <a:avLst>
              <a:gd name="adj" fmla="val 18605"/>
            </a:avLst>
          </a:prstGeom>
          <a:solidFill>
            <a:schemeClr val="bg2"/>
          </a:solidFill>
          <a:ln w="12700">
            <a:solidFill>
              <a:schemeClr val="bg2"/>
            </a:solidFill>
            <a:prstDash val="solid"/>
          </a:ln>
        </p:spPr>
      </p:sp>
      <p:pic>
        <p:nvPicPr>
          <p:cNvPr id="25" name="Image 7" descr="preencoded.png"/>
          <p:cNvPicPr>
            <a:picLocks noChangeAspect="1"/>
          </p:cNvPicPr>
          <p:nvPr/>
        </p:nvPicPr>
        <p:blipFill>
          <a:blip r:embed="rId5"/>
          <a:stretch>
            <a:fillRect/>
          </a:stretch>
        </p:blipFill>
        <p:spPr>
          <a:xfrm>
            <a:off x="6766560" y="3392424"/>
            <a:ext cx="192024" cy="192024"/>
          </a:xfrm>
          <a:prstGeom prst="rect">
            <a:avLst/>
          </a:prstGeom>
        </p:spPr>
      </p:pic>
      <p:sp>
        <p:nvSpPr>
          <p:cNvPr id="26" name="Text 16"/>
          <p:cNvSpPr txBox="1"/>
          <p:nvPr/>
        </p:nvSpPr>
        <p:spPr>
          <a:xfrm>
            <a:off x="7086600" y="3291840"/>
            <a:ext cx="1828800" cy="393192"/>
          </a:xfrm>
          <a:prstGeom prst="rect">
            <a:avLst/>
          </a:prstGeom>
          <a:noFill/>
          <a:ln/>
        </p:spPr>
        <p:txBody>
          <a:bodyPr wrap="square" lIns="0" tIns="0" rIns="0" bIns="0" rtlCol="0" anchor="ctr"/>
          <a:lstStyle/>
          <a:p>
            <a:pPr marL="0" indent="0">
              <a:buNone/>
            </a:pPr>
            <a:r>
              <a:rPr lang="en-US" sz="1400" dirty="0">
                <a:solidFill>
                  <a:schemeClr val="tx1"/>
                </a:solidFill>
                <a:latin typeface="Courier New" pitchFamily="34" charset="0"/>
                <a:ea typeface="Courier New" pitchFamily="34" charset="-122"/>
                <a:cs typeface="Courier New" pitchFamily="34" charset="-120"/>
              </a:rPr>
              <a:t>meditation_logs</a:t>
            </a:r>
            <a:endParaRPr lang="en-US" sz="1400" dirty="0"/>
          </a:p>
        </p:txBody>
      </p:sp>
      <p:sp>
        <p:nvSpPr>
          <p:cNvPr id="27" name="Text 17"/>
          <p:cNvSpPr txBox="1"/>
          <p:nvPr/>
        </p:nvSpPr>
        <p:spPr>
          <a:xfrm>
            <a:off x="6629400" y="3931920"/>
            <a:ext cx="4983480" cy="274320"/>
          </a:xfrm>
          <a:prstGeom prst="rect">
            <a:avLst/>
          </a:prstGeom>
          <a:noFill/>
          <a:ln/>
        </p:spPr>
        <p:txBody>
          <a:bodyPr wrap="square" lIns="0" tIns="0" rIns="0" bIns="0" rtlCol="0" anchor="t"/>
          <a:lstStyle/>
          <a:p>
            <a:pPr marL="0" indent="0">
              <a:buNone/>
            </a:pPr>
            <a:r>
              <a:rPr lang="en-US" sz="1200" b="1" kern="0" spc="100" dirty="0">
                <a:solidFill>
                  <a:schemeClr val="accent1"/>
                </a:solidFill>
              </a:rPr>
              <a:t>DESIGN FEATURES</a:t>
            </a:r>
            <a:endParaRPr lang="en-US" sz="1200" dirty="0"/>
          </a:p>
        </p:txBody>
      </p:sp>
      <p:sp>
        <p:nvSpPr>
          <p:cNvPr id="28" name="Relational integrity circle"/>
          <p:cNvSpPr/>
          <p:nvPr/>
        </p:nvSpPr>
        <p:spPr>
          <a:xfrm>
            <a:off x="6629400" y="4315968"/>
            <a:ext cx="438912" cy="438912"/>
          </a:xfrm>
          <a:prstGeom prst="ellipse">
            <a:avLst/>
          </a:prstGeom>
          <a:solidFill>
            <a:schemeClr val="accent1"/>
          </a:solidFill>
          <a:ln w="12700">
            <a:solidFill>
              <a:schemeClr val="accent1"/>
            </a:solidFill>
            <a:prstDash val="solid"/>
          </a:ln>
        </p:spPr>
      </p:sp>
      <p:pic>
        <p:nvPicPr>
          <p:cNvPr id="29" name="Relational integrity icon" descr="preencoded.png"/>
          <p:cNvPicPr>
            <a:picLocks noChangeAspect="1"/>
          </p:cNvPicPr>
          <p:nvPr/>
        </p:nvPicPr>
        <p:blipFill>
          <a:blip r:embed="rId6"/>
          <a:stretch>
            <a:fillRect/>
          </a:stretch>
        </p:blipFill>
        <p:spPr>
          <a:xfrm>
            <a:off x="6743517" y="4430085"/>
            <a:ext cx="210678" cy="210678"/>
          </a:xfrm>
          <a:prstGeom prst="rect">
            <a:avLst/>
          </a:prstGeom>
        </p:spPr>
      </p:pic>
      <p:sp>
        <p:nvSpPr>
          <p:cNvPr id="30" name="Text 19"/>
          <p:cNvSpPr txBox="1"/>
          <p:nvPr/>
        </p:nvSpPr>
        <p:spPr>
          <a:xfrm>
            <a:off x="7223760" y="4315968"/>
            <a:ext cx="4389120" cy="438912"/>
          </a:xfrm>
          <a:prstGeom prst="rect">
            <a:avLst/>
          </a:prstGeom>
          <a:noFill/>
          <a:ln/>
        </p:spPr>
        <p:txBody>
          <a:bodyPr wrap="square" lIns="0" tIns="0" rIns="0" bIns="0" rtlCol="0" anchor="ctr"/>
          <a:lstStyle/>
          <a:p>
            <a:pPr marL="0" indent="0">
              <a:buNone/>
            </a:pPr>
            <a:r>
              <a:rPr lang="en-US" sz="1400" b="1" dirty="0">
                <a:solidFill>
                  <a:schemeClr val="tx1"/>
                </a:solidFill>
              </a:rPr>
              <a:t>Relational integrity  </a:t>
            </a:r>
            <a:r>
              <a:rPr lang="en-US" sz="1400" dirty="0">
                <a:solidFill>
                  <a:schemeClr val="tx2"/>
                </a:solidFill>
              </a:rPr>
              <a:t>Every record belongs to a user</a:t>
            </a:r>
            <a:endParaRPr lang="en-US" sz="1400" dirty="0"/>
          </a:p>
        </p:txBody>
      </p:sp>
      <p:sp>
        <p:nvSpPr>
          <p:cNvPr id="31" name="Foreign keys circle"/>
          <p:cNvSpPr/>
          <p:nvPr/>
        </p:nvSpPr>
        <p:spPr>
          <a:xfrm>
            <a:off x="6629400" y="4882896"/>
            <a:ext cx="438912" cy="438912"/>
          </a:xfrm>
          <a:prstGeom prst="ellipse">
            <a:avLst/>
          </a:prstGeom>
          <a:solidFill>
            <a:schemeClr val="accent1"/>
          </a:solidFill>
          <a:ln w="12700">
            <a:solidFill>
              <a:schemeClr val="accent1"/>
            </a:solidFill>
            <a:prstDash val="solid"/>
          </a:ln>
        </p:spPr>
      </p:sp>
      <p:pic>
        <p:nvPicPr>
          <p:cNvPr id="32" name="Foreign keys icon" descr="preencoded.png"/>
          <p:cNvPicPr>
            <a:picLocks noChangeAspect="1"/>
          </p:cNvPicPr>
          <p:nvPr/>
        </p:nvPicPr>
        <p:blipFill>
          <a:blip r:embed="rId7"/>
          <a:stretch>
            <a:fillRect/>
          </a:stretch>
        </p:blipFill>
        <p:spPr>
          <a:xfrm>
            <a:off x="6743517" y="4997013"/>
            <a:ext cx="210678" cy="210678"/>
          </a:xfrm>
          <a:prstGeom prst="rect">
            <a:avLst/>
          </a:prstGeom>
        </p:spPr>
      </p:pic>
      <p:sp>
        <p:nvSpPr>
          <p:cNvPr id="33" name="Text 21"/>
          <p:cNvSpPr txBox="1"/>
          <p:nvPr/>
        </p:nvSpPr>
        <p:spPr>
          <a:xfrm>
            <a:off x="7223760" y="4882896"/>
            <a:ext cx="4389120" cy="438912"/>
          </a:xfrm>
          <a:prstGeom prst="rect">
            <a:avLst/>
          </a:prstGeom>
          <a:noFill/>
          <a:ln/>
        </p:spPr>
        <p:txBody>
          <a:bodyPr wrap="square" lIns="0" tIns="0" rIns="0" bIns="0" rtlCol="0" anchor="ctr"/>
          <a:lstStyle/>
          <a:p>
            <a:pPr marL="0" indent="0">
              <a:buNone/>
            </a:pPr>
            <a:r>
              <a:rPr lang="en-US" sz="1400" b="1" dirty="0">
                <a:solidFill>
                  <a:schemeClr val="tx1"/>
                </a:solidFill>
              </a:rPr>
              <a:t>Foreign keys  </a:t>
            </a:r>
            <a:r>
              <a:rPr lang="en-US" sz="1400" dirty="0">
                <a:solidFill>
                  <a:schemeClr val="tx2"/>
                </a:solidFill>
              </a:rPr>
              <a:t>user_id links logs to users</a:t>
            </a:r>
            <a:endParaRPr lang="en-US" sz="1400" dirty="0"/>
          </a:p>
        </p:txBody>
      </p:sp>
      <p:sp>
        <p:nvSpPr>
          <p:cNvPr id="34" name="Indexed fields circle"/>
          <p:cNvSpPr/>
          <p:nvPr/>
        </p:nvSpPr>
        <p:spPr>
          <a:xfrm>
            <a:off x="6629400" y="5449824"/>
            <a:ext cx="438912" cy="438912"/>
          </a:xfrm>
          <a:prstGeom prst="ellipse">
            <a:avLst/>
          </a:prstGeom>
          <a:solidFill>
            <a:schemeClr val="accent1"/>
          </a:solidFill>
          <a:ln w="12700">
            <a:solidFill>
              <a:schemeClr val="accent1"/>
            </a:solidFill>
            <a:prstDash val="solid"/>
          </a:ln>
        </p:spPr>
      </p:sp>
      <p:pic>
        <p:nvPicPr>
          <p:cNvPr id="35" name="Indexed fields icon" descr="preencoded.png"/>
          <p:cNvPicPr>
            <a:picLocks noChangeAspect="1"/>
          </p:cNvPicPr>
          <p:nvPr/>
        </p:nvPicPr>
        <p:blipFill>
          <a:blip r:embed="rId8"/>
          <a:stretch>
            <a:fillRect/>
          </a:stretch>
        </p:blipFill>
        <p:spPr>
          <a:xfrm>
            <a:off x="6743517" y="5563941"/>
            <a:ext cx="210678" cy="210678"/>
          </a:xfrm>
          <a:prstGeom prst="rect">
            <a:avLst/>
          </a:prstGeom>
        </p:spPr>
      </p:pic>
      <p:sp>
        <p:nvSpPr>
          <p:cNvPr id="36" name="Text 23"/>
          <p:cNvSpPr txBox="1"/>
          <p:nvPr/>
        </p:nvSpPr>
        <p:spPr>
          <a:xfrm>
            <a:off x="7223760" y="5449824"/>
            <a:ext cx="4389120" cy="438912"/>
          </a:xfrm>
          <a:prstGeom prst="rect">
            <a:avLst/>
          </a:prstGeom>
          <a:noFill/>
          <a:ln/>
        </p:spPr>
        <p:txBody>
          <a:bodyPr wrap="square" lIns="0" tIns="0" rIns="0" bIns="0" rtlCol="0" anchor="ctr"/>
          <a:lstStyle/>
          <a:p>
            <a:pPr marL="0" indent="0">
              <a:buNone/>
            </a:pPr>
            <a:r>
              <a:rPr lang="en-US" sz="1400" b="1" dirty="0">
                <a:solidFill>
                  <a:schemeClr val="tx1"/>
                </a:solidFill>
              </a:rPr>
              <a:t>Indexed fields  </a:t>
            </a:r>
            <a:r>
              <a:rPr lang="en-US" sz="1400" dirty="0">
                <a:solidFill>
                  <a:schemeClr val="tx2"/>
                </a:solidFill>
              </a:rPr>
              <a:t>(user_id, date) indexes on every log table</a:t>
            </a:r>
            <a:endParaRPr lang="en-US" sz="1400" dirty="0"/>
          </a:p>
        </p:txBody>
      </p:sp>
      <p:sp>
        <p:nvSpPr>
          <p:cNvPr id="37" name="Source"/>
          <p:cNvSpPr txBox="1"/>
          <p:nvPr/>
        </p:nvSpPr>
        <p:spPr>
          <a:xfrm>
            <a:off x="548640" y="6053328"/>
            <a:ext cx="11064240" cy="256032"/>
          </a:xfrm>
          <a:prstGeom prst="rect">
            <a:avLst/>
          </a:prstGeom>
          <a:noFill/>
          <a:ln/>
        </p:spPr>
        <p:txBody>
          <a:bodyPr wrap="square" lIns="0" tIns="0" rIns="0" bIns="0" rtlCol="0" anchor="b"/>
          <a:lstStyle/>
          <a:p>
            <a:pPr marL="0" indent="0">
              <a:buNone/>
            </a:pPr>
            <a:r>
              <a:rPr lang="en-US" sz="1000" i="1" dirty="0">
                <a:solidFill>
                  <a:schemeClr val="accent6"/>
                </a:solidFill>
              </a:rPr>
              <a:t>Source: Urnikiene et al. (2026)</a:t>
            </a:r>
            <a:endParaRPr lang="en-US" sz="1000" dirty="0"/>
          </a:p>
        </p:txBody>
      </p:sp>
      <p:sp>
        <p:nvSpPr>
          <p:cNvPr id="38" name="Slide Number Placeholder 0"/>
          <p:cNvSpPr>
            <a:spLocks noGrp="1"/>
          </p:cNvSpPr>
          <p:nvPr>
            <p:ph type="sldNum" sz="quarter" idx="4294967295"/>
          </p:nvPr>
        </p:nvSpPr>
        <p:spPr>
          <a:xfrm>
            <a:off x="11201400" y="6382512"/>
            <a:ext cx="41148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64240" cy="731520"/>
          </a:xfrm>
          <a:prstGeom prst="rect">
            <a:avLst/>
          </a:prstGeom>
          <a:noFill/>
          <a:ln/>
        </p:spPr>
        <p:txBody>
          <a:bodyPr wrap="square" lIns="0" tIns="0" rIns="0" bIns="0" rtlCol="0" anchor="ctr"/>
          <a:lstStyle/>
          <a:p>
            <a:pPr marL="0" indent="0" algn="l">
              <a:buNone/>
            </a:pPr>
            <a:r>
              <a:rPr lang="en-US" sz="3400" b="1" dirty="0">
                <a:solidFill>
                  <a:schemeClr val="tx1"/>
                </a:solidFill>
                <a:latin typeface="Arial" pitchFamily="34" charset="0"/>
                <a:ea typeface="Arial" pitchFamily="34" charset="-122"/>
                <a:cs typeface="Arial" pitchFamily="34" charset="-120"/>
              </a:rPr>
              <a:t>Key system features</a:t>
            </a:r>
            <a:endParaRPr lang="en-US" sz="3400" dirty="0"/>
          </a:p>
        </p:txBody>
      </p:sp>
      <p:sp>
        <p:nvSpPr>
          <p:cNvPr id="3" name="Secure login &amp; registration circle"/>
          <p:cNvSpPr/>
          <p:nvPr/>
        </p:nvSpPr>
        <p:spPr>
          <a:xfrm>
            <a:off x="548640" y="1417320"/>
            <a:ext cx="475488" cy="475488"/>
          </a:xfrm>
          <a:prstGeom prst="ellipse">
            <a:avLst/>
          </a:prstGeom>
          <a:solidFill>
            <a:schemeClr val="tx2"/>
          </a:solidFill>
          <a:ln w="12700">
            <a:solidFill>
              <a:schemeClr val="tx2"/>
            </a:solidFill>
            <a:prstDash val="solid"/>
          </a:ln>
        </p:spPr>
      </p:sp>
      <p:pic>
        <p:nvPicPr>
          <p:cNvPr id="4" name="Secure login &amp; registration icon" descr="preencoded.png"/>
          <p:cNvPicPr>
            <a:picLocks noChangeAspect="1"/>
          </p:cNvPicPr>
          <p:nvPr/>
        </p:nvPicPr>
        <p:blipFill>
          <a:blip r:embed="rId3"/>
          <a:stretch>
            <a:fillRect/>
          </a:stretch>
        </p:blipFill>
        <p:spPr>
          <a:xfrm>
            <a:off x="672267" y="1540947"/>
            <a:ext cx="228234" cy="228234"/>
          </a:xfrm>
          <a:prstGeom prst="rect">
            <a:avLst/>
          </a:prstGeom>
        </p:spPr>
      </p:pic>
      <p:sp>
        <p:nvSpPr>
          <p:cNvPr id="5" name="Text 2"/>
          <p:cNvSpPr txBox="1"/>
          <p:nvPr/>
        </p:nvSpPr>
        <p:spPr>
          <a:xfrm>
            <a:off x="1234440" y="1417320"/>
            <a:ext cx="4389120" cy="475488"/>
          </a:xfrm>
          <a:prstGeom prst="rect">
            <a:avLst/>
          </a:prstGeom>
          <a:noFill/>
          <a:ln/>
        </p:spPr>
        <p:txBody>
          <a:bodyPr wrap="square" lIns="0" tIns="0" rIns="0" bIns="0" rtlCol="0" anchor="ctr"/>
          <a:lstStyle/>
          <a:p>
            <a:pPr marL="0" indent="0">
              <a:buNone/>
            </a:pPr>
            <a:r>
              <a:rPr lang="en-US" sz="1700" dirty="0">
                <a:solidFill>
                  <a:schemeClr val="tx1"/>
                </a:solidFill>
              </a:rPr>
              <a:t>Secure login &amp; registration</a:t>
            </a:r>
            <a:endParaRPr lang="en-US" sz="1700" dirty="0"/>
          </a:p>
        </p:txBody>
      </p:sp>
      <p:sp>
        <p:nvSpPr>
          <p:cNvPr id="6" name="Dashboard overview circle"/>
          <p:cNvSpPr/>
          <p:nvPr/>
        </p:nvSpPr>
        <p:spPr>
          <a:xfrm>
            <a:off x="548640" y="2057400"/>
            <a:ext cx="475488" cy="475488"/>
          </a:xfrm>
          <a:prstGeom prst="ellipse">
            <a:avLst/>
          </a:prstGeom>
          <a:solidFill>
            <a:schemeClr val="tx2"/>
          </a:solidFill>
          <a:ln w="12700">
            <a:solidFill>
              <a:schemeClr val="tx2"/>
            </a:solidFill>
            <a:prstDash val="solid"/>
          </a:ln>
        </p:spPr>
      </p:sp>
      <p:pic>
        <p:nvPicPr>
          <p:cNvPr id="7" name="Dashboard overview icon" descr="preencoded.png"/>
          <p:cNvPicPr>
            <a:picLocks noChangeAspect="1"/>
          </p:cNvPicPr>
          <p:nvPr/>
        </p:nvPicPr>
        <p:blipFill>
          <a:blip r:embed="rId4"/>
          <a:stretch>
            <a:fillRect/>
          </a:stretch>
        </p:blipFill>
        <p:spPr>
          <a:xfrm>
            <a:off x="672267" y="2181027"/>
            <a:ext cx="228234" cy="228234"/>
          </a:xfrm>
          <a:prstGeom prst="rect">
            <a:avLst/>
          </a:prstGeom>
        </p:spPr>
      </p:pic>
      <p:sp>
        <p:nvSpPr>
          <p:cNvPr id="8" name="Text 4"/>
          <p:cNvSpPr txBox="1"/>
          <p:nvPr/>
        </p:nvSpPr>
        <p:spPr>
          <a:xfrm>
            <a:off x="1234440" y="2057400"/>
            <a:ext cx="4389120" cy="475488"/>
          </a:xfrm>
          <a:prstGeom prst="rect">
            <a:avLst/>
          </a:prstGeom>
          <a:noFill/>
          <a:ln/>
        </p:spPr>
        <p:txBody>
          <a:bodyPr wrap="square" lIns="0" tIns="0" rIns="0" bIns="0" rtlCol="0" anchor="ctr"/>
          <a:lstStyle/>
          <a:p>
            <a:pPr marL="0" indent="0">
              <a:buNone/>
            </a:pPr>
            <a:r>
              <a:rPr lang="en-US" sz="1700" dirty="0">
                <a:solidFill>
                  <a:schemeClr val="tx1"/>
                </a:solidFill>
              </a:rPr>
              <a:t>Dashboard overview</a:t>
            </a:r>
            <a:endParaRPr lang="en-US" sz="1700" dirty="0"/>
          </a:p>
        </p:txBody>
      </p:sp>
      <p:sp>
        <p:nvSpPr>
          <p:cNvPr id="9" name="CRUD on every module circle"/>
          <p:cNvSpPr/>
          <p:nvPr/>
        </p:nvSpPr>
        <p:spPr>
          <a:xfrm>
            <a:off x="548640" y="2697480"/>
            <a:ext cx="475488" cy="475488"/>
          </a:xfrm>
          <a:prstGeom prst="ellipse">
            <a:avLst/>
          </a:prstGeom>
          <a:solidFill>
            <a:schemeClr val="accent1"/>
          </a:solidFill>
          <a:ln w="12700">
            <a:solidFill>
              <a:schemeClr val="accent1"/>
            </a:solidFill>
            <a:prstDash val="solid"/>
          </a:ln>
        </p:spPr>
      </p:sp>
      <p:pic>
        <p:nvPicPr>
          <p:cNvPr id="10" name="CRUD on every module icon" descr="preencoded.png"/>
          <p:cNvPicPr>
            <a:picLocks noChangeAspect="1"/>
          </p:cNvPicPr>
          <p:nvPr/>
        </p:nvPicPr>
        <p:blipFill>
          <a:blip r:embed="rId5"/>
          <a:stretch>
            <a:fillRect/>
          </a:stretch>
        </p:blipFill>
        <p:spPr>
          <a:xfrm>
            <a:off x="672267" y="2821107"/>
            <a:ext cx="228234" cy="228234"/>
          </a:xfrm>
          <a:prstGeom prst="rect">
            <a:avLst/>
          </a:prstGeom>
        </p:spPr>
      </p:pic>
      <p:sp>
        <p:nvSpPr>
          <p:cNvPr id="11" name="Text 6"/>
          <p:cNvSpPr txBox="1"/>
          <p:nvPr/>
        </p:nvSpPr>
        <p:spPr>
          <a:xfrm>
            <a:off x="1234440" y="2697480"/>
            <a:ext cx="4389120" cy="475488"/>
          </a:xfrm>
          <a:prstGeom prst="rect">
            <a:avLst/>
          </a:prstGeom>
          <a:noFill/>
          <a:ln/>
        </p:spPr>
        <p:txBody>
          <a:bodyPr wrap="square" lIns="0" tIns="0" rIns="0" bIns="0" rtlCol="0" anchor="ctr"/>
          <a:lstStyle/>
          <a:p>
            <a:pPr marL="0" indent="0">
              <a:buNone/>
            </a:pPr>
            <a:r>
              <a:rPr lang="en-US" sz="1700" b="1" dirty="0">
                <a:solidFill>
                  <a:schemeClr val="tx1"/>
                </a:solidFill>
              </a:rPr>
              <a:t>CRUD on every module</a:t>
            </a:r>
            <a:endParaRPr lang="en-US" sz="1700" dirty="0"/>
          </a:p>
        </p:txBody>
      </p:sp>
      <p:sp>
        <p:nvSpPr>
          <p:cNvPr id="12" name="Weekly goals &amp; progress charts circle"/>
          <p:cNvSpPr/>
          <p:nvPr/>
        </p:nvSpPr>
        <p:spPr>
          <a:xfrm>
            <a:off x="548640" y="3337560"/>
            <a:ext cx="475488" cy="475488"/>
          </a:xfrm>
          <a:prstGeom prst="ellipse">
            <a:avLst/>
          </a:prstGeom>
          <a:solidFill>
            <a:schemeClr val="tx2"/>
          </a:solidFill>
          <a:ln w="12700">
            <a:solidFill>
              <a:schemeClr val="tx2"/>
            </a:solidFill>
            <a:prstDash val="solid"/>
          </a:ln>
        </p:spPr>
      </p:sp>
      <p:pic>
        <p:nvPicPr>
          <p:cNvPr id="13" name="Weekly goals &amp; progress charts icon" descr="preencoded.png"/>
          <p:cNvPicPr>
            <a:picLocks noChangeAspect="1"/>
          </p:cNvPicPr>
          <p:nvPr/>
        </p:nvPicPr>
        <p:blipFill>
          <a:blip r:embed="rId6"/>
          <a:stretch>
            <a:fillRect/>
          </a:stretch>
        </p:blipFill>
        <p:spPr>
          <a:xfrm>
            <a:off x="672267" y="3461187"/>
            <a:ext cx="228234" cy="228234"/>
          </a:xfrm>
          <a:prstGeom prst="rect">
            <a:avLst/>
          </a:prstGeom>
        </p:spPr>
      </p:pic>
      <p:sp>
        <p:nvSpPr>
          <p:cNvPr id="14" name="Text 8"/>
          <p:cNvSpPr txBox="1"/>
          <p:nvPr/>
        </p:nvSpPr>
        <p:spPr>
          <a:xfrm>
            <a:off x="1234440" y="3337560"/>
            <a:ext cx="4389120" cy="475488"/>
          </a:xfrm>
          <a:prstGeom prst="rect">
            <a:avLst/>
          </a:prstGeom>
          <a:noFill/>
          <a:ln/>
        </p:spPr>
        <p:txBody>
          <a:bodyPr wrap="square" lIns="0" tIns="0" rIns="0" bIns="0" rtlCol="0" anchor="ctr"/>
          <a:lstStyle/>
          <a:p>
            <a:pPr marL="0" indent="0">
              <a:buNone/>
            </a:pPr>
            <a:r>
              <a:rPr lang="en-US" sz="1700" dirty="0">
                <a:solidFill>
                  <a:schemeClr val="tx1"/>
                </a:solidFill>
              </a:rPr>
              <a:t>Goals, progress &amp; recommendations</a:t>
            </a:r>
            <a:endParaRPr lang="en-US" sz="1700" dirty="0"/>
          </a:p>
        </p:txBody>
      </p:sp>
      <p:sp>
        <p:nvSpPr>
          <p:cNvPr id="15" name="Appointment scheduling circle"/>
          <p:cNvSpPr/>
          <p:nvPr/>
        </p:nvSpPr>
        <p:spPr>
          <a:xfrm>
            <a:off x="548640" y="3977640"/>
            <a:ext cx="475488" cy="475488"/>
          </a:xfrm>
          <a:prstGeom prst="ellipse">
            <a:avLst/>
          </a:prstGeom>
          <a:solidFill>
            <a:schemeClr val="tx2"/>
          </a:solidFill>
          <a:ln w="12700">
            <a:solidFill>
              <a:schemeClr val="tx2"/>
            </a:solidFill>
            <a:prstDash val="solid"/>
          </a:ln>
        </p:spPr>
      </p:sp>
      <p:pic>
        <p:nvPicPr>
          <p:cNvPr id="16" name="Appointment scheduling icon" descr="preencoded.png"/>
          <p:cNvPicPr>
            <a:picLocks noChangeAspect="1"/>
          </p:cNvPicPr>
          <p:nvPr/>
        </p:nvPicPr>
        <p:blipFill>
          <a:blip r:embed="rId7"/>
          <a:stretch>
            <a:fillRect/>
          </a:stretch>
        </p:blipFill>
        <p:spPr>
          <a:xfrm>
            <a:off x="672267" y="4101267"/>
            <a:ext cx="228234" cy="228234"/>
          </a:xfrm>
          <a:prstGeom prst="rect">
            <a:avLst/>
          </a:prstGeom>
        </p:spPr>
      </p:pic>
      <p:sp>
        <p:nvSpPr>
          <p:cNvPr id="17" name="Text 10"/>
          <p:cNvSpPr txBox="1"/>
          <p:nvPr/>
        </p:nvSpPr>
        <p:spPr>
          <a:xfrm>
            <a:off x="1234440" y="3977640"/>
            <a:ext cx="4389120" cy="475488"/>
          </a:xfrm>
          <a:prstGeom prst="rect">
            <a:avLst/>
          </a:prstGeom>
          <a:noFill/>
          <a:ln/>
        </p:spPr>
        <p:txBody>
          <a:bodyPr wrap="square" lIns="0" tIns="0" rIns="0" bIns="0" rtlCol="0" anchor="ctr"/>
          <a:lstStyle/>
          <a:p>
            <a:pPr marL="0" indent="0">
              <a:buNone/>
            </a:pPr>
            <a:r>
              <a:rPr lang="en-US" sz="1700" dirty="0">
                <a:solidFill>
                  <a:schemeClr val="tx1"/>
                </a:solidFill>
              </a:rPr>
              <a:t>Appointment scheduling</a:t>
            </a:r>
            <a:endParaRPr lang="en-US" sz="1700" dirty="0"/>
          </a:p>
        </p:txBody>
      </p:sp>
      <p:sp>
        <p:nvSpPr>
          <p:cNvPr id="18" name="History pages circle"/>
          <p:cNvSpPr/>
          <p:nvPr/>
        </p:nvSpPr>
        <p:spPr>
          <a:xfrm>
            <a:off x="548640" y="4617720"/>
            <a:ext cx="475488" cy="475488"/>
          </a:xfrm>
          <a:prstGeom prst="ellipse">
            <a:avLst/>
          </a:prstGeom>
          <a:solidFill>
            <a:schemeClr val="tx2"/>
          </a:solidFill>
          <a:ln w="12700">
            <a:solidFill>
              <a:schemeClr val="tx2"/>
            </a:solidFill>
            <a:prstDash val="solid"/>
          </a:ln>
        </p:spPr>
      </p:sp>
      <p:pic>
        <p:nvPicPr>
          <p:cNvPr id="19" name="History pages icon" descr="preencoded.png"/>
          <p:cNvPicPr>
            <a:picLocks noChangeAspect="1"/>
          </p:cNvPicPr>
          <p:nvPr/>
        </p:nvPicPr>
        <p:blipFill>
          <a:blip r:embed="rId8"/>
          <a:stretch>
            <a:fillRect/>
          </a:stretch>
        </p:blipFill>
        <p:spPr>
          <a:xfrm>
            <a:off x="672267" y="4741347"/>
            <a:ext cx="228234" cy="228234"/>
          </a:xfrm>
          <a:prstGeom prst="rect">
            <a:avLst/>
          </a:prstGeom>
        </p:spPr>
      </p:pic>
      <p:sp>
        <p:nvSpPr>
          <p:cNvPr id="20" name="Text 12"/>
          <p:cNvSpPr txBox="1"/>
          <p:nvPr/>
        </p:nvSpPr>
        <p:spPr>
          <a:xfrm>
            <a:off x="1234440" y="4617720"/>
            <a:ext cx="4389120" cy="475488"/>
          </a:xfrm>
          <a:prstGeom prst="rect">
            <a:avLst/>
          </a:prstGeom>
          <a:noFill/>
          <a:ln/>
        </p:spPr>
        <p:txBody>
          <a:bodyPr wrap="square" lIns="0" tIns="0" rIns="0" bIns="0" rtlCol="0" anchor="ctr"/>
          <a:lstStyle/>
          <a:p>
            <a:pPr marL="0" indent="0">
              <a:buNone/>
            </a:pPr>
            <a:r>
              <a:rPr lang="en-US" sz="1700" dirty="0">
                <a:solidFill>
                  <a:schemeClr val="tx1"/>
                </a:solidFill>
              </a:rPr>
              <a:t>History pages</a:t>
            </a:r>
            <a:endParaRPr lang="en-US" sz="1700" dirty="0"/>
          </a:p>
        </p:txBody>
      </p:sp>
      <p:sp>
        <p:nvSpPr>
          <p:cNvPr id="21" name="Profile editing circle"/>
          <p:cNvSpPr/>
          <p:nvPr/>
        </p:nvSpPr>
        <p:spPr>
          <a:xfrm>
            <a:off x="548640" y="5257800"/>
            <a:ext cx="475488" cy="475488"/>
          </a:xfrm>
          <a:prstGeom prst="ellipse">
            <a:avLst/>
          </a:prstGeom>
          <a:solidFill>
            <a:schemeClr val="tx2"/>
          </a:solidFill>
          <a:ln w="12700">
            <a:solidFill>
              <a:schemeClr val="tx2"/>
            </a:solidFill>
            <a:prstDash val="solid"/>
          </a:ln>
        </p:spPr>
      </p:sp>
      <p:pic>
        <p:nvPicPr>
          <p:cNvPr id="22" name="Profile editing icon" descr="preencoded.png"/>
          <p:cNvPicPr>
            <a:picLocks noChangeAspect="1"/>
          </p:cNvPicPr>
          <p:nvPr/>
        </p:nvPicPr>
        <p:blipFill>
          <a:blip r:embed="rId9"/>
          <a:stretch>
            <a:fillRect/>
          </a:stretch>
        </p:blipFill>
        <p:spPr>
          <a:xfrm>
            <a:off x="672267" y="5381427"/>
            <a:ext cx="228234" cy="228234"/>
          </a:xfrm>
          <a:prstGeom prst="rect">
            <a:avLst/>
          </a:prstGeom>
        </p:spPr>
      </p:pic>
      <p:sp>
        <p:nvSpPr>
          <p:cNvPr id="23" name="Text 14"/>
          <p:cNvSpPr txBox="1"/>
          <p:nvPr/>
        </p:nvSpPr>
        <p:spPr>
          <a:xfrm>
            <a:off x="1234440" y="5257800"/>
            <a:ext cx="4389120" cy="475488"/>
          </a:xfrm>
          <a:prstGeom prst="rect">
            <a:avLst/>
          </a:prstGeom>
          <a:noFill/>
          <a:ln/>
        </p:spPr>
        <p:txBody>
          <a:bodyPr wrap="square" lIns="0" tIns="0" rIns="0" bIns="0" rtlCol="0" anchor="ctr"/>
          <a:lstStyle/>
          <a:p>
            <a:pPr marL="0" indent="0">
              <a:buNone/>
            </a:pPr>
            <a:r>
              <a:rPr lang="en-US" sz="1700" dirty="0">
                <a:solidFill>
                  <a:schemeClr val="tx1"/>
                </a:solidFill>
              </a:rPr>
              <a:t>Profile editing</a:t>
            </a:r>
            <a:endParaRPr lang="en-US" sz="1700" dirty="0"/>
          </a:p>
        </p:txBody>
      </p:sp>
      <p:sp>
        <p:nvSpPr>
          <p:cNvPr id="24" name="Screenshot frame"/>
          <p:cNvSpPr/>
          <p:nvPr/>
        </p:nvSpPr>
        <p:spPr>
          <a:xfrm>
            <a:off x="5989320" y="1371600"/>
            <a:ext cx="5760720" cy="3719456"/>
          </a:xfrm>
          <a:prstGeom prst="roundRect">
            <a:avLst>
              <a:gd name="adj" fmla="val 2950"/>
            </a:avLst>
          </a:prstGeom>
          <a:solidFill>
            <a:schemeClr val="bg2"/>
          </a:solidFill>
          <a:ln w="12700">
            <a:solidFill>
              <a:schemeClr val="bg2"/>
            </a:solidFill>
            <a:prstDash val="solid"/>
          </a:ln>
        </p:spPr>
      </p:sp>
      <p:pic>
        <p:nvPicPr>
          <p:cNvPr id="25" name="CRUD screenshot" descr="Activities page with Edit and Delete menu"/>
          <p:cNvPicPr>
            <a:picLocks noChangeAspect="1"/>
          </p:cNvPicPr>
          <p:nvPr/>
        </p:nvPicPr>
        <p:blipFill>
          <a:blip r:embed="rId10"/>
          <a:stretch>
            <a:fillRect/>
          </a:stretch>
        </p:blipFill>
        <p:spPr>
          <a:xfrm>
            <a:off x="6126480" y="1508760"/>
            <a:ext cx="5486400" cy="3445136"/>
          </a:xfrm>
          <a:prstGeom prst="rect">
            <a:avLst/>
          </a:prstGeom>
        </p:spPr>
      </p:pic>
      <p:sp>
        <p:nvSpPr>
          <p:cNvPr id="26" name="Text 16"/>
          <p:cNvSpPr txBox="1"/>
          <p:nvPr/>
        </p:nvSpPr>
        <p:spPr>
          <a:xfrm>
            <a:off x="5989320" y="5228216"/>
            <a:ext cx="5760720" cy="502920"/>
          </a:xfrm>
          <a:prstGeom prst="rect">
            <a:avLst/>
          </a:prstGeom>
          <a:noFill/>
          <a:ln/>
        </p:spPr>
        <p:txBody>
          <a:bodyPr wrap="square" lIns="0" tIns="0" rIns="0" bIns="0" rtlCol="0" anchor="t"/>
          <a:lstStyle/>
          <a:p>
            <a:pPr marL="0" indent="0">
              <a:buNone/>
            </a:pPr>
            <a:r>
              <a:rPr lang="en-US" sz="1200" i="1" dirty="0">
                <a:solidFill>
                  <a:schemeClr val="accent6"/>
                </a:solidFill>
              </a:rPr>
              <a:t>CRUD update: each entry has Edit (fix mistakes, reschedule) and Delete (remove past or unneeded entries)</a:t>
            </a:r>
            <a:endParaRPr lang="en-US" sz="1200" dirty="0"/>
          </a:p>
        </p:txBody>
      </p:sp>
      <p:sp>
        <p:nvSpPr>
          <p:cNvPr id="27" name="Slide Number Placeholder 0"/>
          <p:cNvSpPr>
            <a:spLocks noGrp="1"/>
          </p:cNvSpPr>
          <p:nvPr>
            <p:ph type="sldNum" sz="quarter" idx="4294967295"/>
          </p:nvPr>
        </p:nvSpPr>
        <p:spPr>
          <a:xfrm>
            <a:off x="11201400" y="6382512"/>
            <a:ext cx="41148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64240" cy="731520"/>
          </a:xfrm>
          <a:prstGeom prst="rect">
            <a:avLst/>
          </a:prstGeom>
          <a:noFill/>
          <a:ln/>
        </p:spPr>
        <p:txBody>
          <a:bodyPr wrap="square" lIns="0" tIns="0" rIns="0" bIns="0" rtlCol="0" anchor="ctr"/>
          <a:lstStyle/>
          <a:p>
            <a:pPr marL="0" indent="0" algn="l">
              <a:buNone/>
            </a:pPr>
            <a:r>
              <a:rPr lang="en-US" sz="3400" b="1" dirty="0">
                <a:solidFill>
                  <a:schemeClr val="tx1"/>
                </a:solidFill>
                <a:latin typeface="Arial" pitchFamily="34" charset="0"/>
                <a:ea typeface="Arial" pitchFamily="34" charset="-122"/>
                <a:cs typeface="Arial" pitchFamily="34" charset="-120"/>
              </a:rPr>
              <a:t>Challenges &amp; solutions</a:t>
            </a:r>
            <a:endParaRPr lang="en-US" sz="3400" dirty="0"/>
          </a:p>
        </p:txBody>
      </p:sp>
      <p:sp>
        <p:nvSpPr>
          <p:cNvPr id="3" name="Text 1"/>
          <p:cNvSpPr txBox="1"/>
          <p:nvPr/>
        </p:nvSpPr>
        <p:spPr>
          <a:xfrm>
            <a:off x="1234440" y="1325880"/>
            <a:ext cx="3657600" cy="274320"/>
          </a:xfrm>
          <a:prstGeom prst="rect">
            <a:avLst/>
          </a:prstGeom>
          <a:noFill/>
          <a:ln/>
        </p:spPr>
        <p:txBody>
          <a:bodyPr wrap="square" lIns="0" tIns="0" rIns="0" bIns="0" rtlCol="0" anchor="t"/>
          <a:lstStyle/>
          <a:p>
            <a:pPr marL="0" indent="0">
              <a:buNone/>
            </a:pPr>
            <a:r>
              <a:rPr lang="en-US" sz="1200" b="1" kern="0" spc="100" dirty="0">
                <a:solidFill>
                  <a:schemeClr val="accent5"/>
                </a:solidFill>
              </a:rPr>
              <a:t>CHALLENGE</a:t>
            </a:r>
            <a:endParaRPr lang="en-US" sz="1200" dirty="0"/>
          </a:p>
        </p:txBody>
      </p:sp>
      <p:sp>
        <p:nvSpPr>
          <p:cNvPr id="4" name="Text 2"/>
          <p:cNvSpPr txBox="1"/>
          <p:nvPr/>
        </p:nvSpPr>
        <p:spPr>
          <a:xfrm>
            <a:off x="6720840" y="1325880"/>
            <a:ext cx="3657600" cy="274320"/>
          </a:xfrm>
          <a:prstGeom prst="rect">
            <a:avLst/>
          </a:prstGeom>
          <a:noFill/>
          <a:ln/>
        </p:spPr>
        <p:txBody>
          <a:bodyPr wrap="square" lIns="0" tIns="0" rIns="0" bIns="0" rtlCol="0" anchor="t"/>
          <a:lstStyle/>
          <a:p>
            <a:pPr marL="0" indent="0">
              <a:buNone/>
            </a:pPr>
            <a:r>
              <a:rPr lang="en-US" sz="1200" b="1" kern="0" spc="100" dirty="0">
                <a:solidFill>
                  <a:schemeClr val="accent2"/>
                </a:solidFill>
              </a:rPr>
              <a:t>SOLUTION</a:t>
            </a:r>
            <a:endParaRPr lang="en-US" sz="1200" dirty="0"/>
          </a:p>
        </p:txBody>
      </p:sp>
      <p:sp>
        <p:nvSpPr>
          <p:cNvPr id="5" name="Shape 3"/>
          <p:cNvSpPr/>
          <p:nvPr/>
        </p:nvSpPr>
        <p:spPr>
          <a:xfrm>
            <a:off x="548640" y="1737360"/>
            <a:ext cx="5120640" cy="685800"/>
          </a:xfrm>
          <a:prstGeom prst="roundRect">
            <a:avLst>
              <a:gd name="adj" fmla="val 16000"/>
            </a:avLst>
          </a:prstGeom>
          <a:solidFill>
            <a:schemeClr val="bg2"/>
          </a:solidFill>
          <a:ln w="12700">
            <a:solidFill>
              <a:schemeClr val="bg2"/>
            </a:solidFill>
            <a:prstDash val="solid"/>
          </a:ln>
        </p:spPr>
      </p:sp>
      <p:pic>
        <p:nvPicPr>
          <p:cNvPr id="6" name="Image 0" descr="preencoded.png"/>
          <p:cNvPicPr>
            <a:picLocks noChangeAspect="1"/>
          </p:cNvPicPr>
          <p:nvPr/>
        </p:nvPicPr>
        <p:blipFill>
          <a:blip r:embed="rId3"/>
          <a:stretch>
            <a:fillRect/>
          </a:stretch>
        </p:blipFill>
        <p:spPr>
          <a:xfrm>
            <a:off x="777240" y="1956816"/>
            <a:ext cx="256032" cy="256032"/>
          </a:xfrm>
          <a:prstGeom prst="rect">
            <a:avLst/>
          </a:prstGeom>
        </p:spPr>
      </p:pic>
      <p:sp>
        <p:nvSpPr>
          <p:cNvPr id="7" name="Text 4"/>
          <p:cNvSpPr txBox="1"/>
          <p:nvPr/>
        </p:nvSpPr>
        <p:spPr>
          <a:xfrm>
            <a:off x="1234440" y="1737360"/>
            <a:ext cx="4297680" cy="685800"/>
          </a:xfrm>
          <a:prstGeom prst="rect">
            <a:avLst/>
          </a:prstGeom>
          <a:noFill/>
          <a:ln/>
        </p:spPr>
        <p:txBody>
          <a:bodyPr wrap="square" lIns="0" tIns="0" rIns="0" bIns="0" rtlCol="0" anchor="ctr"/>
          <a:lstStyle/>
          <a:p>
            <a:pPr marL="0" indent="0">
              <a:buNone/>
            </a:pPr>
            <a:r>
              <a:rPr lang="en-US" sz="1500" dirty="0">
                <a:solidFill>
                  <a:schemeClr val="tx1"/>
                </a:solidFill>
              </a:rPr>
              <a:t>Syncing frontend &amp; backend</a:t>
            </a:r>
            <a:endParaRPr lang="en-US" sz="1500" dirty="0"/>
          </a:p>
        </p:txBody>
      </p:sp>
      <p:pic>
        <p:nvPicPr>
          <p:cNvPr id="8" name="Image 1" descr="preencoded.png"/>
          <p:cNvPicPr>
            <a:picLocks noChangeAspect="1"/>
          </p:cNvPicPr>
          <p:nvPr/>
        </p:nvPicPr>
        <p:blipFill>
          <a:blip r:embed="rId4"/>
          <a:stretch>
            <a:fillRect/>
          </a:stretch>
        </p:blipFill>
        <p:spPr>
          <a:xfrm>
            <a:off x="5870448" y="1956816"/>
            <a:ext cx="274320" cy="256032"/>
          </a:xfrm>
          <a:prstGeom prst="rect">
            <a:avLst/>
          </a:prstGeom>
        </p:spPr>
      </p:pic>
      <p:sp>
        <p:nvSpPr>
          <p:cNvPr id="9" name="Shape 5"/>
          <p:cNvSpPr/>
          <p:nvPr/>
        </p:nvSpPr>
        <p:spPr>
          <a:xfrm>
            <a:off x="6355080" y="1737360"/>
            <a:ext cx="5257800" cy="685800"/>
          </a:xfrm>
          <a:prstGeom prst="roundRect">
            <a:avLst>
              <a:gd name="adj" fmla="val 16000"/>
            </a:avLst>
          </a:prstGeom>
          <a:solidFill>
            <a:schemeClr val="accent2">
              <a:alpha val="12000"/>
            </a:schemeClr>
          </a:solidFill>
          <a:ln w="12700">
            <a:solidFill>
              <a:schemeClr val="accent2"/>
            </a:solidFill>
            <a:prstDash val="solid"/>
          </a:ln>
        </p:spPr>
      </p:sp>
      <p:pic>
        <p:nvPicPr>
          <p:cNvPr id="10" name="Image 2" descr="preencoded.png"/>
          <p:cNvPicPr>
            <a:picLocks noChangeAspect="1"/>
          </p:cNvPicPr>
          <p:nvPr/>
        </p:nvPicPr>
        <p:blipFill>
          <a:blip r:embed="rId5"/>
          <a:stretch>
            <a:fillRect/>
          </a:stretch>
        </p:blipFill>
        <p:spPr>
          <a:xfrm>
            <a:off x="6583680" y="1956816"/>
            <a:ext cx="256032" cy="256032"/>
          </a:xfrm>
          <a:prstGeom prst="rect">
            <a:avLst/>
          </a:prstGeom>
        </p:spPr>
      </p:pic>
      <p:sp>
        <p:nvSpPr>
          <p:cNvPr id="11" name="Text 6"/>
          <p:cNvSpPr txBox="1"/>
          <p:nvPr/>
        </p:nvSpPr>
        <p:spPr>
          <a:xfrm>
            <a:off x="7040880" y="1737360"/>
            <a:ext cx="4434840" cy="685800"/>
          </a:xfrm>
          <a:prstGeom prst="rect">
            <a:avLst/>
          </a:prstGeom>
          <a:noFill/>
          <a:ln/>
        </p:spPr>
        <p:txBody>
          <a:bodyPr wrap="square" lIns="0" tIns="0" rIns="0" bIns="0" rtlCol="0" anchor="ctr"/>
          <a:lstStyle/>
          <a:p>
            <a:pPr marL="0" indent="0">
              <a:buNone/>
            </a:pPr>
            <a:r>
              <a:rPr lang="en-US" sz="1500" b="1" dirty="0">
                <a:solidFill>
                  <a:schemeClr val="tx1"/>
                </a:solidFill>
              </a:rPr>
              <a:t>Central api.js that surfaces server errors</a:t>
            </a:r>
            <a:endParaRPr lang="en-US" sz="1500" dirty="0"/>
          </a:p>
        </p:txBody>
      </p:sp>
      <p:sp>
        <p:nvSpPr>
          <p:cNvPr id="12" name="Shape 7"/>
          <p:cNvSpPr/>
          <p:nvPr/>
        </p:nvSpPr>
        <p:spPr>
          <a:xfrm>
            <a:off x="548640" y="2578608"/>
            <a:ext cx="5120640" cy="685800"/>
          </a:xfrm>
          <a:prstGeom prst="roundRect">
            <a:avLst>
              <a:gd name="adj" fmla="val 16000"/>
            </a:avLst>
          </a:prstGeom>
          <a:solidFill>
            <a:schemeClr val="bg2"/>
          </a:solidFill>
          <a:ln w="12700">
            <a:solidFill>
              <a:schemeClr val="bg2"/>
            </a:solidFill>
            <a:prstDash val="solid"/>
          </a:ln>
        </p:spPr>
      </p:sp>
      <p:pic>
        <p:nvPicPr>
          <p:cNvPr id="13" name="Image 3" descr="preencoded.png"/>
          <p:cNvPicPr>
            <a:picLocks noChangeAspect="1"/>
          </p:cNvPicPr>
          <p:nvPr/>
        </p:nvPicPr>
        <p:blipFill>
          <a:blip r:embed="rId3"/>
          <a:stretch>
            <a:fillRect/>
          </a:stretch>
        </p:blipFill>
        <p:spPr>
          <a:xfrm>
            <a:off x="777240" y="2798064"/>
            <a:ext cx="256032" cy="256032"/>
          </a:xfrm>
          <a:prstGeom prst="rect">
            <a:avLst/>
          </a:prstGeom>
        </p:spPr>
      </p:pic>
      <p:sp>
        <p:nvSpPr>
          <p:cNvPr id="14" name="Text 8"/>
          <p:cNvSpPr txBox="1"/>
          <p:nvPr/>
        </p:nvSpPr>
        <p:spPr>
          <a:xfrm>
            <a:off x="1234440" y="2578608"/>
            <a:ext cx="4297680" cy="685800"/>
          </a:xfrm>
          <a:prstGeom prst="rect">
            <a:avLst/>
          </a:prstGeom>
          <a:noFill/>
          <a:ln/>
        </p:spPr>
        <p:txBody>
          <a:bodyPr wrap="square" lIns="0" tIns="0" rIns="0" bIns="0" rtlCol="0" anchor="ctr"/>
          <a:lstStyle/>
          <a:p>
            <a:pPr marL="0" indent="0">
              <a:buNone/>
            </a:pPr>
            <a:r>
              <a:rPr lang="en-US" sz="1500" dirty="0">
                <a:solidFill>
                  <a:schemeClr val="tx1"/>
                </a:solidFill>
              </a:rPr>
              <a:t>Live database had old / missing tables</a:t>
            </a:r>
            <a:endParaRPr lang="en-US" sz="1500" dirty="0"/>
          </a:p>
        </p:txBody>
      </p:sp>
      <p:pic>
        <p:nvPicPr>
          <p:cNvPr id="15" name="Image 4" descr="preencoded.png"/>
          <p:cNvPicPr>
            <a:picLocks noChangeAspect="1"/>
          </p:cNvPicPr>
          <p:nvPr/>
        </p:nvPicPr>
        <p:blipFill>
          <a:blip r:embed="rId4"/>
          <a:stretch>
            <a:fillRect/>
          </a:stretch>
        </p:blipFill>
        <p:spPr>
          <a:xfrm>
            <a:off x="5870448" y="2798064"/>
            <a:ext cx="274320" cy="256032"/>
          </a:xfrm>
          <a:prstGeom prst="rect">
            <a:avLst/>
          </a:prstGeom>
        </p:spPr>
      </p:pic>
      <p:sp>
        <p:nvSpPr>
          <p:cNvPr id="16" name="Shape 9"/>
          <p:cNvSpPr/>
          <p:nvPr/>
        </p:nvSpPr>
        <p:spPr>
          <a:xfrm>
            <a:off x="6355080" y="2578608"/>
            <a:ext cx="5257800" cy="685800"/>
          </a:xfrm>
          <a:prstGeom prst="roundRect">
            <a:avLst>
              <a:gd name="adj" fmla="val 16000"/>
            </a:avLst>
          </a:prstGeom>
          <a:solidFill>
            <a:schemeClr val="accent2">
              <a:alpha val="12000"/>
            </a:schemeClr>
          </a:solidFill>
          <a:ln w="12700">
            <a:solidFill>
              <a:schemeClr val="accent2"/>
            </a:solidFill>
            <a:prstDash val="solid"/>
          </a:ln>
        </p:spPr>
      </p:sp>
      <p:pic>
        <p:nvPicPr>
          <p:cNvPr id="17" name="Image 5" descr="preencoded.png"/>
          <p:cNvPicPr>
            <a:picLocks noChangeAspect="1"/>
          </p:cNvPicPr>
          <p:nvPr/>
        </p:nvPicPr>
        <p:blipFill>
          <a:blip r:embed="rId5"/>
          <a:stretch>
            <a:fillRect/>
          </a:stretch>
        </p:blipFill>
        <p:spPr>
          <a:xfrm>
            <a:off x="6583680" y="2798064"/>
            <a:ext cx="256032" cy="256032"/>
          </a:xfrm>
          <a:prstGeom prst="rect">
            <a:avLst/>
          </a:prstGeom>
        </p:spPr>
      </p:pic>
      <p:sp>
        <p:nvSpPr>
          <p:cNvPr id="18" name="Text 10"/>
          <p:cNvSpPr txBox="1"/>
          <p:nvPr/>
        </p:nvSpPr>
        <p:spPr>
          <a:xfrm>
            <a:off x="7040880" y="2578608"/>
            <a:ext cx="4434840" cy="685800"/>
          </a:xfrm>
          <a:prstGeom prst="rect">
            <a:avLst/>
          </a:prstGeom>
          <a:noFill/>
          <a:ln/>
        </p:spPr>
        <p:txBody>
          <a:bodyPr wrap="square" lIns="0" tIns="0" rIns="0" bIns="0" rtlCol="0" anchor="ctr"/>
          <a:lstStyle/>
          <a:p>
            <a:pPr marL="0" indent="0">
              <a:buNone/>
            </a:pPr>
            <a:r>
              <a:rPr lang="en-US" sz="1500" b="1" dirty="0">
                <a:solidFill>
                  <a:schemeClr val="tx1"/>
                </a:solidFill>
              </a:rPr>
              <a:t>Startup migration creates and repairs tables</a:t>
            </a:r>
            <a:endParaRPr lang="en-US" sz="1500" dirty="0"/>
          </a:p>
        </p:txBody>
      </p:sp>
      <p:sp>
        <p:nvSpPr>
          <p:cNvPr id="19" name="Shape 11"/>
          <p:cNvSpPr/>
          <p:nvPr/>
        </p:nvSpPr>
        <p:spPr>
          <a:xfrm>
            <a:off x="548640" y="3419856"/>
            <a:ext cx="5120640" cy="685800"/>
          </a:xfrm>
          <a:prstGeom prst="roundRect">
            <a:avLst>
              <a:gd name="adj" fmla="val 16000"/>
            </a:avLst>
          </a:prstGeom>
          <a:solidFill>
            <a:schemeClr val="bg2"/>
          </a:solidFill>
          <a:ln w="12700">
            <a:solidFill>
              <a:schemeClr val="bg2"/>
            </a:solidFill>
            <a:prstDash val="solid"/>
          </a:ln>
        </p:spPr>
      </p:sp>
      <p:pic>
        <p:nvPicPr>
          <p:cNvPr id="20" name="Image 6" descr="preencoded.png"/>
          <p:cNvPicPr>
            <a:picLocks noChangeAspect="1"/>
          </p:cNvPicPr>
          <p:nvPr/>
        </p:nvPicPr>
        <p:blipFill>
          <a:blip r:embed="rId3"/>
          <a:stretch>
            <a:fillRect/>
          </a:stretch>
        </p:blipFill>
        <p:spPr>
          <a:xfrm>
            <a:off x="777240" y="3639312"/>
            <a:ext cx="256032" cy="256032"/>
          </a:xfrm>
          <a:prstGeom prst="rect">
            <a:avLst/>
          </a:prstGeom>
        </p:spPr>
      </p:pic>
      <p:sp>
        <p:nvSpPr>
          <p:cNvPr id="21" name="Text 12"/>
          <p:cNvSpPr txBox="1"/>
          <p:nvPr/>
        </p:nvSpPr>
        <p:spPr>
          <a:xfrm>
            <a:off x="1234440" y="3419856"/>
            <a:ext cx="4297680" cy="685800"/>
          </a:xfrm>
          <a:prstGeom prst="rect">
            <a:avLst/>
          </a:prstGeom>
          <a:noFill/>
          <a:ln/>
        </p:spPr>
        <p:txBody>
          <a:bodyPr wrap="square" lIns="0" tIns="0" rIns="0" bIns="0" rtlCol="0" anchor="ctr"/>
          <a:lstStyle/>
          <a:p>
            <a:pPr marL="0" indent="0">
              <a:buNone/>
            </a:pPr>
            <a:r>
              <a:rPr lang="en-US" sz="1500" dirty="0">
                <a:solidFill>
                  <a:schemeClr val="tx1"/>
                </a:solidFill>
              </a:rPr>
              <a:t>Dates shifting a day across time zones</a:t>
            </a:r>
            <a:endParaRPr lang="en-US" sz="1500" dirty="0"/>
          </a:p>
        </p:txBody>
      </p:sp>
      <p:pic>
        <p:nvPicPr>
          <p:cNvPr id="22" name="Image 7" descr="preencoded.png"/>
          <p:cNvPicPr>
            <a:picLocks noChangeAspect="1"/>
          </p:cNvPicPr>
          <p:nvPr/>
        </p:nvPicPr>
        <p:blipFill>
          <a:blip r:embed="rId4"/>
          <a:stretch>
            <a:fillRect/>
          </a:stretch>
        </p:blipFill>
        <p:spPr>
          <a:xfrm>
            <a:off x="5870448" y="3639312"/>
            <a:ext cx="274320" cy="256032"/>
          </a:xfrm>
          <a:prstGeom prst="rect">
            <a:avLst/>
          </a:prstGeom>
        </p:spPr>
      </p:pic>
      <p:sp>
        <p:nvSpPr>
          <p:cNvPr id="23" name="Shape 13"/>
          <p:cNvSpPr/>
          <p:nvPr/>
        </p:nvSpPr>
        <p:spPr>
          <a:xfrm>
            <a:off x="6355080" y="3419856"/>
            <a:ext cx="5257800" cy="685800"/>
          </a:xfrm>
          <a:prstGeom prst="roundRect">
            <a:avLst>
              <a:gd name="adj" fmla="val 16000"/>
            </a:avLst>
          </a:prstGeom>
          <a:solidFill>
            <a:schemeClr val="accent2">
              <a:alpha val="12000"/>
            </a:schemeClr>
          </a:solidFill>
          <a:ln w="12700">
            <a:solidFill>
              <a:schemeClr val="accent2"/>
            </a:solidFill>
            <a:prstDash val="solid"/>
          </a:ln>
        </p:spPr>
      </p:sp>
      <p:pic>
        <p:nvPicPr>
          <p:cNvPr id="24" name="Image 8" descr="preencoded.png"/>
          <p:cNvPicPr>
            <a:picLocks noChangeAspect="1"/>
          </p:cNvPicPr>
          <p:nvPr/>
        </p:nvPicPr>
        <p:blipFill>
          <a:blip r:embed="rId5"/>
          <a:stretch>
            <a:fillRect/>
          </a:stretch>
        </p:blipFill>
        <p:spPr>
          <a:xfrm>
            <a:off x="6583680" y="3639312"/>
            <a:ext cx="256032" cy="256032"/>
          </a:xfrm>
          <a:prstGeom prst="rect">
            <a:avLst/>
          </a:prstGeom>
        </p:spPr>
      </p:pic>
      <p:sp>
        <p:nvSpPr>
          <p:cNvPr id="25" name="Text 14"/>
          <p:cNvSpPr txBox="1"/>
          <p:nvPr/>
        </p:nvSpPr>
        <p:spPr>
          <a:xfrm>
            <a:off x="7040880" y="3419856"/>
            <a:ext cx="4434840" cy="685800"/>
          </a:xfrm>
          <a:prstGeom prst="rect">
            <a:avLst/>
          </a:prstGeom>
          <a:noFill/>
          <a:ln/>
        </p:spPr>
        <p:txBody>
          <a:bodyPr wrap="square" lIns="0" tIns="0" rIns="0" bIns="0" rtlCol="0" anchor="ctr"/>
          <a:lstStyle/>
          <a:p>
            <a:pPr marL="0" indent="0">
              <a:buNone/>
            </a:pPr>
            <a:r>
              <a:rPr lang="en-US" sz="1500" b="1" dirty="0">
                <a:solidFill>
                  <a:schemeClr val="tx1"/>
                </a:solidFill>
              </a:rPr>
              <a:t>Dates kept as text; UTC for appointment times</a:t>
            </a:r>
            <a:endParaRPr lang="en-US" sz="1500" dirty="0"/>
          </a:p>
        </p:txBody>
      </p:sp>
      <p:sp>
        <p:nvSpPr>
          <p:cNvPr id="26" name="Shape 15"/>
          <p:cNvSpPr/>
          <p:nvPr/>
        </p:nvSpPr>
        <p:spPr>
          <a:xfrm>
            <a:off x="548640" y="4261104"/>
            <a:ext cx="5120640" cy="685800"/>
          </a:xfrm>
          <a:prstGeom prst="roundRect">
            <a:avLst>
              <a:gd name="adj" fmla="val 16000"/>
            </a:avLst>
          </a:prstGeom>
          <a:solidFill>
            <a:schemeClr val="bg2"/>
          </a:solidFill>
          <a:ln w="12700">
            <a:solidFill>
              <a:schemeClr val="bg2"/>
            </a:solidFill>
            <a:prstDash val="solid"/>
          </a:ln>
        </p:spPr>
      </p:sp>
      <p:pic>
        <p:nvPicPr>
          <p:cNvPr id="27" name="Image 9" descr="preencoded.png"/>
          <p:cNvPicPr>
            <a:picLocks noChangeAspect="1"/>
          </p:cNvPicPr>
          <p:nvPr/>
        </p:nvPicPr>
        <p:blipFill>
          <a:blip r:embed="rId3"/>
          <a:stretch>
            <a:fillRect/>
          </a:stretch>
        </p:blipFill>
        <p:spPr>
          <a:xfrm>
            <a:off x="777240" y="4480560"/>
            <a:ext cx="256032" cy="256032"/>
          </a:xfrm>
          <a:prstGeom prst="rect">
            <a:avLst/>
          </a:prstGeom>
        </p:spPr>
      </p:pic>
      <p:sp>
        <p:nvSpPr>
          <p:cNvPr id="28" name="Text 16"/>
          <p:cNvSpPr txBox="1"/>
          <p:nvPr/>
        </p:nvSpPr>
        <p:spPr>
          <a:xfrm>
            <a:off x="1234440" y="4261104"/>
            <a:ext cx="4297680" cy="685800"/>
          </a:xfrm>
          <a:prstGeom prst="rect">
            <a:avLst/>
          </a:prstGeom>
          <a:noFill/>
          <a:ln/>
        </p:spPr>
        <p:txBody>
          <a:bodyPr wrap="square" lIns="0" tIns="0" rIns="0" bIns="0" rtlCol="0" anchor="ctr"/>
          <a:lstStyle/>
          <a:p>
            <a:pPr marL="0" indent="0">
              <a:buNone/>
            </a:pPr>
            <a:r>
              <a:rPr lang="en-US" sz="1500" dirty="0">
                <a:solidFill>
                  <a:schemeClr val="tx1"/>
                </a:solidFill>
              </a:rPr>
              <a:t>Infinite fetch loop (Hydration page)</a:t>
            </a:r>
            <a:endParaRPr lang="en-US" sz="1500" dirty="0"/>
          </a:p>
        </p:txBody>
      </p:sp>
      <p:pic>
        <p:nvPicPr>
          <p:cNvPr id="29" name="Image 10" descr="preencoded.png"/>
          <p:cNvPicPr>
            <a:picLocks noChangeAspect="1"/>
          </p:cNvPicPr>
          <p:nvPr/>
        </p:nvPicPr>
        <p:blipFill>
          <a:blip r:embed="rId4"/>
          <a:stretch>
            <a:fillRect/>
          </a:stretch>
        </p:blipFill>
        <p:spPr>
          <a:xfrm>
            <a:off x="5870448" y="4480560"/>
            <a:ext cx="274320" cy="256032"/>
          </a:xfrm>
          <a:prstGeom prst="rect">
            <a:avLst/>
          </a:prstGeom>
        </p:spPr>
      </p:pic>
      <p:sp>
        <p:nvSpPr>
          <p:cNvPr id="30" name="Shape 17"/>
          <p:cNvSpPr/>
          <p:nvPr/>
        </p:nvSpPr>
        <p:spPr>
          <a:xfrm>
            <a:off x="6355080" y="4261104"/>
            <a:ext cx="5257800" cy="685800"/>
          </a:xfrm>
          <a:prstGeom prst="roundRect">
            <a:avLst>
              <a:gd name="adj" fmla="val 16000"/>
            </a:avLst>
          </a:prstGeom>
          <a:solidFill>
            <a:schemeClr val="accent2">
              <a:alpha val="12000"/>
            </a:schemeClr>
          </a:solidFill>
          <a:ln w="12700">
            <a:solidFill>
              <a:schemeClr val="accent2"/>
            </a:solidFill>
            <a:prstDash val="solid"/>
          </a:ln>
        </p:spPr>
      </p:sp>
      <p:pic>
        <p:nvPicPr>
          <p:cNvPr id="31" name="Image 11" descr="preencoded.png"/>
          <p:cNvPicPr>
            <a:picLocks noChangeAspect="1"/>
          </p:cNvPicPr>
          <p:nvPr/>
        </p:nvPicPr>
        <p:blipFill>
          <a:blip r:embed="rId5"/>
          <a:stretch>
            <a:fillRect/>
          </a:stretch>
        </p:blipFill>
        <p:spPr>
          <a:xfrm>
            <a:off x="6583680" y="4480560"/>
            <a:ext cx="256032" cy="256032"/>
          </a:xfrm>
          <a:prstGeom prst="rect">
            <a:avLst/>
          </a:prstGeom>
        </p:spPr>
      </p:pic>
      <p:sp>
        <p:nvSpPr>
          <p:cNvPr id="32" name="Text 18"/>
          <p:cNvSpPr txBox="1"/>
          <p:nvPr/>
        </p:nvSpPr>
        <p:spPr>
          <a:xfrm>
            <a:off x="7040880" y="4261104"/>
            <a:ext cx="4434840" cy="685800"/>
          </a:xfrm>
          <a:prstGeom prst="rect">
            <a:avLst/>
          </a:prstGeom>
          <a:noFill/>
          <a:ln/>
        </p:spPr>
        <p:txBody>
          <a:bodyPr wrap="square" lIns="0" tIns="0" rIns="0" bIns="0" rtlCol="0" anchor="ctr"/>
          <a:lstStyle/>
          <a:p>
            <a:pPr marL="0" indent="0">
              <a:buNone/>
            </a:pPr>
            <a:r>
              <a:rPr lang="en-US" sz="1500" b="1" dirty="0">
                <a:solidFill>
                  <a:schemeClr val="tx1"/>
                </a:solidFill>
              </a:rPr>
              <a:t>Dependency-safe useEffect</a:t>
            </a:r>
            <a:endParaRPr lang="en-US" sz="1500" dirty="0"/>
          </a:p>
        </p:txBody>
      </p:sp>
      <p:sp>
        <p:nvSpPr>
          <p:cNvPr id="33" name="Shape 19"/>
          <p:cNvSpPr/>
          <p:nvPr/>
        </p:nvSpPr>
        <p:spPr>
          <a:xfrm>
            <a:off x="548640" y="5102352"/>
            <a:ext cx="5120640" cy="685800"/>
          </a:xfrm>
          <a:prstGeom prst="roundRect">
            <a:avLst>
              <a:gd name="adj" fmla="val 16000"/>
            </a:avLst>
          </a:prstGeom>
          <a:solidFill>
            <a:schemeClr val="bg2"/>
          </a:solidFill>
          <a:ln w="12700">
            <a:solidFill>
              <a:schemeClr val="bg2"/>
            </a:solidFill>
            <a:prstDash val="solid"/>
          </a:ln>
        </p:spPr>
      </p:sp>
      <p:pic>
        <p:nvPicPr>
          <p:cNvPr id="34" name="Image 12" descr="preencoded.png"/>
          <p:cNvPicPr>
            <a:picLocks noChangeAspect="1"/>
          </p:cNvPicPr>
          <p:nvPr/>
        </p:nvPicPr>
        <p:blipFill>
          <a:blip r:embed="rId3"/>
          <a:stretch>
            <a:fillRect/>
          </a:stretch>
        </p:blipFill>
        <p:spPr>
          <a:xfrm>
            <a:off x="777240" y="5321808"/>
            <a:ext cx="256032" cy="256032"/>
          </a:xfrm>
          <a:prstGeom prst="rect">
            <a:avLst/>
          </a:prstGeom>
        </p:spPr>
      </p:pic>
      <p:sp>
        <p:nvSpPr>
          <p:cNvPr id="35" name="Text 20"/>
          <p:cNvSpPr txBox="1"/>
          <p:nvPr/>
        </p:nvSpPr>
        <p:spPr>
          <a:xfrm>
            <a:off x="1234440" y="5102352"/>
            <a:ext cx="4297680" cy="685800"/>
          </a:xfrm>
          <a:prstGeom prst="rect">
            <a:avLst/>
          </a:prstGeom>
          <a:noFill/>
          <a:ln/>
        </p:spPr>
        <p:txBody>
          <a:bodyPr wrap="square" lIns="0" tIns="0" rIns="0" bIns="0" rtlCol="0" anchor="ctr"/>
          <a:lstStyle/>
          <a:p>
            <a:pPr marL="0" indent="0">
              <a:buNone/>
            </a:pPr>
            <a:r>
              <a:rPr lang="en-US" sz="1500" dirty="0">
                <a:solidFill>
                  <a:schemeClr val="tx1"/>
                </a:solidFill>
              </a:rPr>
              <a:t>Deployment config (API URL, CORS, secrets)</a:t>
            </a:r>
            <a:endParaRPr lang="en-US" sz="1500" dirty="0"/>
          </a:p>
        </p:txBody>
      </p:sp>
      <p:pic>
        <p:nvPicPr>
          <p:cNvPr id="36" name="Image 13" descr="preencoded.png"/>
          <p:cNvPicPr>
            <a:picLocks noChangeAspect="1"/>
          </p:cNvPicPr>
          <p:nvPr/>
        </p:nvPicPr>
        <p:blipFill>
          <a:blip r:embed="rId4"/>
          <a:stretch>
            <a:fillRect/>
          </a:stretch>
        </p:blipFill>
        <p:spPr>
          <a:xfrm>
            <a:off x="5870448" y="5321808"/>
            <a:ext cx="274320" cy="256032"/>
          </a:xfrm>
          <a:prstGeom prst="rect">
            <a:avLst/>
          </a:prstGeom>
        </p:spPr>
      </p:pic>
      <p:sp>
        <p:nvSpPr>
          <p:cNvPr id="37" name="Shape 21"/>
          <p:cNvSpPr/>
          <p:nvPr/>
        </p:nvSpPr>
        <p:spPr>
          <a:xfrm>
            <a:off x="6355080" y="5102352"/>
            <a:ext cx="5257800" cy="685800"/>
          </a:xfrm>
          <a:prstGeom prst="roundRect">
            <a:avLst>
              <a:gd name="adj" fmla="val 16000"/>
            </a:avLst>
          </a:prstGeom>
          <a:solidFill>
            <a:schemeClr val="accent2">
              <a:alpha val="12000"/>
            </a:schemeClr>
          </a:solidFill>
          <a:ln w="12700">
            <a:solidFill>
              <a:schemeClr val="accent2"/>
            </a:solidFill>
            <a:prstDash val="solid"/>
          </a:ln>
        </p:spPr>
      </p:sp>
      <p:pic>
        <p:nvPicPr>
          <p:cNvPr id="38" name="Image 14" descr="preencoded.png"/>
          <p:cNvPicPr>
            <a:picLocks noChangeAspect="1"/>
          </p:cNvPicPr>
          <p:nvPr/>
        </p:nvPicPr>
        <p:blipFill>
          <a:blip r:embed="rId5"/>
          <a:stretch>
            <a:fillRect/>
          </a:stretch>
        </p:blipFill>
        <p:spPr>
          <a:xfrm>
            <a:off x="6583680" y="5321808"/>
            <a:ext cx="256032" cy="256032"/>
          </a:xfrm>
          <a:prstGeom prst="rect">
            <a:avLst/>
          </a:prstGeom>
        </p:spPr>
      </p:pic>
      <p:sp>
        <p:nvSpPr>
          <p:cNvPr id="39" name="Text 22"/>
          <p:cNvSpPr txBox="1"/>
          <p:nvPr/>
        </p:nvSpPr>
        <p:spPr>
          <a:xfrm>
            <a:off x="7040880" y="5102352"/>
            <a:ext cx="4434840" cy="685800"/>
          </a:xfrm>
          <a:prstGeom prst="rect">
            <a:avLst/>
          </a:prstGeom>
          <a:noFill/>
          <a:ln/>
        </p:spPr>
        <p:txBody>
          <a:bodyPr wrap="square" lIns="0" tIns="0" rIns="0" bIns="0" rtlCol="0" anchor="ctr"/>
          <a:lstStyle/>
          <a:p>
            <a:pPr marL="0" indent="0">
              <a:buNone/>
            </a:pPr>
            <a:r>
              <a:rPr lang="en-US" sz="1500" b="1" dirty="0">
                <a:solidFill>
                  <a:schemeClr val="tx1"/>
                </a:solidFill>
              </a:rPr>
              <a:t>Env-based config; secrets removed from Git</a:t>
            </a:r>
            <a:endParaRPr lang="en-US" sz="1500" dirty="0"/>
          </a:p>
        </p:txBody>
      </p:sp>
      <p:sp>
        <p:nvSpPr>
          <p:cNvPr id="40" name="Slide Number Placeholder 0"/>
          <p:cNvSpPr>
            <a:spLocks noGrp="1"/>
          </p:cNvSpPr>
          <p:nvPr>
            <p:ph type="sldNum" sz="quarter" idx="4294967295"/>
          </p:nvPr>
        </p:nvSpPr>
        <p:spPr>
          <a:xfrm>
            <a:off x="11201400" y="6382512"/>
            <a:ext cx="41148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64240" cy="731520"/>
          </a:xfrm>
          <a:prstGeom prst="rect">
            <a:avLst/>
          </a:prstGeom>
          <a:noFill/>
          <a:ln/>
        </p:spPr>
        <p:txBody>
          <a:bodyPr wrap="square" lIns="0" tIns="0" rIns="0" bIns="0" rtlCol="0" anchor="ctr"/>
          <a:lstStyle/>
          <a:p>
            <a:pPr marL="0" indent="0" algn="l">
              <a:buNone/>
            </a:pPr>
            <a:r>
              <a:rPr lang="en-US" sz="3400" b="1" dirty="0">
                <a:solidFill>
                  <a:schemeClr val="tx1"/>
                </a:solidFill>
                <a:latin typeface="Arial" pitchFamily="34" charset="0"/>
                <a:ea typeface="Arial" pitchFamily="34" charset="-122"/>
                <a:cs typeface="Arial" pitchFamily="34" charset="-120"/>
              </a:rPr>
              <a:t>Testing &amp; evaluation</a:t>
            </a:r>
            <a:endParaRPr lang="en-US" sz="3400" dirty="0"/>
          </a:p>
        </p:txBody>
      </p:sp>
      <p:sp>
        <p:nvSpPr>
          <p:cNvPr id="3" name="Functional card"/>
          <p:cNvSpPr/>
          <p:nvPr/>
        </p:nvSpPr>
        <p:spPr>
          <a:xfrm>
            <a:off x="548640" y="1371600"/>
            <a:ext cx="3520440" cy="2514600"/>
          </a:xfrm>
          <a:prstGeom prst="roundRect">
            <a:avLst>
              <a:gd name="adj" fmla="val 4364"/>
            </a:avLst>
          </a:prstGeom>
          <a:solidFill>
            <a:schemeClr val="bg2"/>
          </a:solidFill>
          <a:ln w="12700">
            <a:solidFill>
              <a:schemeClr val="bg2"/>
            </a:solidFill>
            <a:prstDash val="solid"/>
          </a:ln>
        </p:spPr>
      </p:sp>
      <p:sp>
        <p:nvSpPr>
          <p:cNvPr id="4" name="Functional circle"/>
          <p:cNvSpPr/>
          <p:nvPr/>
        </p:nvSpPr>
        <p:spPr>
          <a:xfrm>
            <a:off x="822960" y="1600200"/>
            <a:ext cx="548640" cy="548640"/>
          </a:xfrm>
          <a:prstGeom prst="ellipse">
            <a:avLst/>
          </a:prstGeom>
          <a:solidFill>
            <a:schemeClr val="accent3"/>
          </a:solidFill>
          <a:ln w="12700">
            <a:solidFill>
              <a:schemeClr val="accent3"/>
            </a:solidFill>
            <a:prstDash val="solid"/>
          </a:ln>
        </p:spPr>
      </p:sp>
      <p:pic>
        <p:nvPicPr>
          <p:cNvPr id="5" name="Functional icon" descr="preencoded.png"/>
          <p:cNvPicPr>
            <a:picLocks noChangeAspect="1"/>
          </p:cNvPicPr>
          <p:nvPr/>
        </p:nvPicPr>
        <p:blipFill>
          <a:blip r:embed="rId3"/>
          <a:stretch>
            <a:fillRect/>
          </a:stretch>
        </p:blipFill>
        <p:spPr>
          <a:xfrm>
            <a:off x="965606" y="1742846"/>
            <a:ext cx="263347" cy="263347"/>
          </a:xfrm>
          <a:prstGeom prst="rect">
            <a:avLst/>
          </a:prstGeom>
        </p:spPr>
      </p:pic>
      <p:sp>
        <p:nvSpPr>
          <p:cNvPr id="6" name="Text 3"/>
          <p:cNvSpPr txBox="1"/>
          <p:nvPr/>
        </p:nvSpPr>
        <p:spPr>
          <a:xfrm>
            <a:off x="1508760" y="1600200"/>
            <a:ext cx="2331720" cy="548640"/>
          </a:xfrm>
          <a:prstGeom prst="rect">
            <a:avLst/>
          </a:prstGeom>
          <a:noFill/>
          <a:ln/>
        </p:spPr>
        <p:txBody>
          <a:bodyPr wrap="square" lIns="0" tIns="0" rIns="0" bIns="0" rtlCol="0" anchor="ctr"/>
          <a:lstStyle/>
          <a:p>
            <a:pPr marL="0" indent="0">
              <a:buNone/>
            </a:pPr>
            <a:r>
              <a:rPr lang="en-US" sz="1800" b="1" dirty="0">
                <a:solidFill>
                  <a:schemeClr val="tx1"/>
                </a:solidFill>
                <a:latin typeface="Arial" pitchFamily="34" charset="0"/>
                <a:ea typeface="Arial" pitchFamily="34" charset="-122"/>
                <a:cs typeface="Arial" pitchFamily="34" charset="-120"/>
              </a:rPr>
              <a:t>Functional testing</a:t>
            </a:r>
            <a:endParaRPr lang="en-US" sz="1800" dirty="0"/>
          </a:p>
        </p:txBody>
      </p:sp>
      <p:sp>
        <p:nvSpPr>
          <p:cNvPr id="7" name="Text 4"/>
          <p:cNvSpPr txBox="1"/>
          <p:nvPr/>
        </p:nvSpPr>
        <p:spPr>
          <a:xfrm>
            <a:off x="822960" y="2377440"/>
            <a:ext cx="3017520" cy="13716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Registration &amp; login</a:t>
            </a:r>
            <a:endParaRPr lang="en-US" sz="1500" dirty="0"/>
          </a:p>
          <a:p>
            <a:pPr marL="203200" indent="-203200">
              <a:spcAft>
                <a:spcPts val="800"/>
              </a:spcAft>
              <a:buSzPct val="100000"/>
              <a:buChar char="•"/>
            </a:pPr>
            <a:r>
              <a:rPr lang="en-US" sz="1500" dirty="0">
                <a:solidFill>
                  <a:schemeClr val="tx1"/>
                </a:solidFill>
              </a:rPr>
              <a:t>CRUD on all modules</a:t>
            </a:r>
            <a:endParaRPr lang="en-US" sz="1500" dirty="0"/>
          </a:p>
          <a:p>
            <a:pPr marL="203200" indent="-203200">
              <a:spcAft>
                <a:spcPts val="800"/>
              </a:spcAft>
              <a:buSzPct val="100000"/>
              <a:buChar char="•"/>
            </a:pPr>
            <a:r>
              <a:rPr lang="en-US" sz="1500" dirty="0">
                <a:solidFill>
                  <a:schemeClr val="tx1"/>
                </a:solidFill>
              </a:rPr>
              <a:t>API responses across layers</a:t>
            </a:r>
            <a:endParaRPr lang="en-US" sz="1500" dirty="0"/>
          </a:p>
        </p:txBody>
      </p:sp>
      <p:sp>
        <p:nvSpPr>
          <p:cNvPr id="8" name="Usability card"/>
          <p:cNvSpPr/>
          <p:nvPr/>
        </p:nvSpPr>
        <p:spPr>
          <a:xfrm>
            <a:off x="4320540" y="1371600"/>
            <a:ext cx="3520440" cy="2514600"/>
          </a:xfrm>
          <a:prstGeom prst="roundRect">
            <a:avLst>
              <a:gd name="adj" fmla="val 4364"/>
            </a:avLst>
          </a:prstGeom>
          <a:solidFill>
            <a:schemeClr val="bg2"/>
          </a:solidFill>
          <a:ln w="12700">
            <a:solidFill>
              <a:schemeClr val="bg2"/>
            </a:solidFill>
            <a:prstDash val="solid"/>
          </a:ln>
        </p:spPr>
      </p:sp>
      <p:sp>
        <p:nvSpPr>
          <p:cNvPr id="9" name="Usability circle"/>
          <p:cNvSpPr/>
          <p:nvPr/>
        </p:nvSpPr>
        <p:spPr>
          <a:xfrm>
            <a:off x="4594860" y="1600200"/>
            <a:ext cx="548640" cy="548640"/>
          </a:xfrm>
          <a:prstGeom prst="ellipse">
            <a:avLst/>
          </a:prstGeom>
          <a:solidFill>
            <a:schemeClr val="accent4"/>
          </a:solidFill>
          <a:ln w="12700">
            <a:solidFill>
              <a:schemeClr val="accent4"/>
            </a:solidFill>
            <a:prstDash val="solid"/>
          </a:ln>
        </p:spPr>
      </p:sp>
      <p:pic>
        <p:nvPicPr>
          <p:cNvPr id="10" name="Usability icon" descr="preencoded.png"/>
          <p:cNvPicPr>
            <a:picLocks noChangeAspect="1"/>
          </p:cNvPicPr>
          <p:nvPr/>
        </p:nvPicPr>
        <p:blipFill>
          <a:blip r:embed="rId4"/>
          <a:stretch>
            <a:fillRect/>
          </a:stretch>
        </p:blipFill>
        <p:spPr>
          <a:xfrm>
            <a:off x="4737506" y="1742846"/>
            <a:ext cx="263347" cy="263347"/>
          </a:xfrm>
          <a:prstGeom prst="rect">
            <a:avLst/>
          </a:prstGeom>
        </p:spPr>
      </p:pic>
      <p:sp>
        <p:nvSpPr>
          <p:cNvPr id="11" name="Text 7"/>
          <p:cNvSpPr txBox="1"/>
          <p:nvPr/>
        </p:nvSpPr>
        <p:spPr>
          <a:xfrm>
            <a:off x="5280660" y="1600200"/>
            <a:ext cx="2331720" cy="548640"/>
          </a:xfrm>
          <a:prstGeom prst="rect">
            <a:avLst/>
          </a:prstGeom>
          <a:noFill/>
          <a:ln/>
        </p:spPr>
        <p:txBody>
          <a:bodyPr wrap="square" lIns="0" tIns="0" rIns="0" bIns="0" rtlCol="0" anchor="ctr"/>
          <a:lstStyle/>
          <a:p>
            <a:pPr marL="0" indent="0">
              <a:buNone/>
            </a:pPr>
            <a:r>
              <a:rPr lang="en-US" sz="1800" b="1" dirty="0">
                <a:solidFill>
                  <a:schemeClr val="tx1"/>
                </a:solidFill>
                <a:latin typeface="Arial" pitchFamily="34" charset="0"/>
                <a:ea typeface="Arial" pitchFamily="34" charset="-122"/>
                <a:cs typeface="Arial" pitchFamily="34" charset="-120"/>
              </a:rPr>
              <a:t>Usability testing</a:t>
            </a:r>
            <a:endParaRPr lang="en-US" sz="1800" dirty="0"/>
          </a:p>
        </p:txBody>
      </p:sp>
      <p:sp>
        <p:nvSpPr>
          <p:cNvPr id="12" name="Text 8"/>
          <p:cNvSpPr txBox="1"/>
          <p:nvPr/>
        </p:nvSpPr>
        <p:spPr>
          <a:xfrm>
            <a:off x="4594860" y="2377440"/>
            <a:ext cx="3017520" cy="13716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Navigation flow</a:t>
            </a:r>
            <a:endParaRPr lang="en-US" sz="1500" dirty="0"/>
          </a:p>
          <a:p>
            <a:pPr marL="203200" indent="-203200">
              <a:spcAft>
                <a:spcPts val="800"/>
              </a:spcAft>
              <a:buSzPct val="100000"/>
              <a:buChar char="•"/>
            </a:pPr>
            <a:r>
              <a:rPr lang="en-US" sz="1500" dirty="0">
                <a:solidFill>
                  <a:schemeClr val="tx1"/>
                </a:solidFill>
              </a:rPr>
              <a:t>Form clarity &amp; labels</a:t>
            </a:r>
            <a:endParaRPr lang="en-US" sz="1500" dirty="0"/>
          </a:p>
          <a:p>
            <a:pPr marL="203200" indent="-203200">
              <a:spcAft>
                <a:spcPts val="800"/>
              </a:spcAft>
              <a:buSzPct val="100000"/>
              <a:buChar char="•"/>
            </a:pPr>
            <a:r>
              <a:rPr lang="en-US" sz="1500" dirty="0">
                <a:solidFill>
                  <a:schemeClr val="tx1"/>
                </a:solidFill>
              </a:rPr>
              <a:t>Responsive design</a:t>
            </a:r>
            <a:endParaRPr lang="en-US" sz="1500" dirty="0"/>
          </a:p>
        </p:txBody>
      </p:sp>
      <p:sp>
        <p:nvSpPr>
          <p:cNvPr id="13" name="Performance card"/>
          <p:cNvSpPr/>
          <p:nvPr/>
        </p:nvSpPr>
        <p:spPr>
          <a:xfrm>
            <a:off x="8092440" y="1371600"/>
            <a:ext cx="3520440" cy="2514600"/>
          </a:xfrm>
          <a:prstGeom prst="roundRect">
            <a:avLst>
              <a:gd name="adj" fmla="val 4364"/>
            </a:avLst>
          </a:prstGeom>
          <a:solidFill>
            <a:schemeClr val="bg2"/>
          </a:solidFill>
          <a:ln w="12700">
            <a:solidFill>
              <a:schemeClr val="bg2"/>
            </a:solidFill>
            <a:prstDash val="solid"/>
          </a:ln>
        </p:spPr>
      </p:sp>
      <p:sp>
        <p:nvSpPr>
          <p:cNvPr id="14" name="Performance circle"/>
          <p:cNvSpPr/>
          <p:nvPr/>
        </p:nvSpPr>
        <p:spPr>
          <a:xfrm>
            <a:off x="8366760" y="1600200"/>
            <a:ext cx="548640" cy="548640"/>
          </a:xfrm>
          <a:prstGeom prst="ellipse">
            <a:avLst/>
          </a:prstGeom>
          <a:solidFill>
            <a:schemeClr val="accent1"/>
          </a:solidFill>
          <a:ln w="12700">
            <a:solidFill>
              <a:schemeClr val="accent1"/>
            </a:solidFill>
            <a:prstDash val="solid"/>
          </a:ln>
        </p:spPr>
      </p:sp>
      <p:pic>
        <p:nvPicPr>
          <p:cNvPr id="15" name="Performance icon" descr="preencoded.png"/>
          <p:cNvPicPr>
            <a:picLocks noChangeAspect="1"/>
          </p:cNvPicPr>
          <p:nvPr/>
        </p:nvPicPr>
        <p:blipFill>
          <a:blip r:embed="rId5"/>
          <a:stretch>
            <a:fillRect/>
          </a:stretch>
        </p:blipFill>
        <p:spPr>
          <a:xfrm>
            <a:off x="8509406" y="1742846"/>
            <a:ext cx="263347" cy="263347"/>
          </a:xfrm>
          <a:prstGeom prst="rect">
            <a:avLst/>
          </a:prstGeom>
        </p:spPr>
      </p:pic>
      <p:sp>
        <p:nvSpPr>
          <p:cNvPr id="16" name="Text 11"/>
          <p:cNvSpPr txBox="1"/>
          <p:nvPr/>
        </p:nvSpPr>
        <p:spPr>
          <a:xfrm>
            <a:off x="9052560" y="1600200"/>
            <a:ext cx="2331720" cy="548640"/>
          </a:xfrm>
          <a:prstGeom prst="rect">
            <a:avLst/>
          </a:prstGeom>
          <a:noFill/>
          <a:ln/>
        </p:spPr>
        <p:txBody>
          <a:bodyPr wrap="square" lIns="0" tIns="0" rIns="0" bIns="0" rtlCol="0" anchor="ctr"/>
          <a:lstStyle/>
          <a:p>
            <a:pPr marL="0" indent="0">
              <a:buNone/>
            </a:pPr>
            <a:r>
              <a:rPr lang="en-US" sz="1800" b="1" dirty="0">
                <a:solidFill>
                  <a:schemeClr val="tx1"/>
                </a:solidFill>
                <a:latin typeface="Arial" pitchFamily="34" charset="0"/>
                <a:ea typeface="Arial" pitchFamily="34" charset="-122"/>
                <a:cs typeface="Arial" pitchFamily="34" charset="-120"/>
              </a:rPr>
              <a:t>Performance testing</a:t>
            </a:r>
            <a:endParaRPr lang="en-US" sz="1800" dirty="0"/>
          </a:p>
        </p:txBody>
      </p:sp>
      <p:sp>
        <p:nvSpPr>
          <p:cNvPr id="17" name="Text 12"/>
          <p:cNvSpPr txBox="1"/>
          <p:nvPr/>
        </p:nvSpPr>
        <p:spPr>
          <a:xfrm>
            <a:off x="8366760" y="2377440"/>
            <a:ext cx="3017520" cy="13716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API latency</a:t>
            </a:r>
            <a:endParaRPr lang="en-US" sz="1500" dirty="0"/>
          </a:p>
          <a:p>
            <a:pPr marL="203200" indent="-203200">
              <a:spcAft>
                <a:spcPts val="800"/>
              </a:spcAft>
              <a:buSzPct val="100000"/>
              <a:buChar char="•"/>
            </a:pPr>
            <a:r>
              <a:rPr lang="en-US" sz="1500" dirty="0">
                <a:solidFill>
                  <a:schemeClr val="tx1"/>
                </a:solidFill>
              </a:rPr>
              <a:t>Repeated operations</a:t>
            </a:r>
            <a:endParaRPr lang="en-US" sz="1500" dirty="0"/>
          </a:p>
          <a:p>
            <a:pPr marL="203200" indent="-203200">
              <a:spcAft>
                <a:spcPts val="800"/>
              </a:spcAft>
              <a:buSzPct val="100000"/>
              <a:buChar char="•"/>
            </a:pPr>
            <a:r>
              <a:rPr lang="en-US" sz="1500" dirty="0">
                <a:solidFill>
                  <a:schemeClr val="tx1"/>
                </a:solidFill>
              </a:rPr>
              <a:t>Mobile responsiveness</a:t>
            </a:r>
            <a:endParaRPr lang="en-US" sz="1500" dirty="0"/>
          </a:p>
        </p:txBody>
      </p:sp>
      <p:pic>
        <p:nvPicPr>
          <p:cNvPr id="18" name="Login screenshot" descr="Login page"/>
          <p:cNvPicPr>
            <a:picLocks noChangeAspect="1"/>
          </p:cNvPicPr>
          <p:nvPr/>
        </p:nvPicPr>
        <p:blipFill>
          <a:blip r:embed="rId6"/>
          <a:stretch>
            <a:fillRect/>
          </a:stretch>
        </p:blipFill>
        <p:spPr>
          <a:xfrm>
            <a:off x="548640" y="4114800"/>
            <a:ext cx="4030133" cy="1828800"/>
          </a:xfrm>
          <a:prstGeom prst="rect">
            <a:avLst/>
          </a:prstGeom>
          <a:effectLst>
            <a:outerShdw blurRad="101600" dist="25400" dir="5400000" algn="bl" rotWithShape="0">
              <a:srgbClr val="1E2633">
                <a:alpha val="12000"/>
              </a:srgbClr>
            </a:outerShdw>
          </a:effectLst>
        </p:spPr>
      </p:pic>
      <p:sp>
        <p:nvSpPr>
          <p:cNvPr id="19" name="Insight card"/>
          <p:cNvSpPr/>
          <p:nvPr/>
        </p:nvSpPr>
        <p:spPr>
          <a:xfrm>
            <a:off x="4898813" y="4114800"/>
            <a:ext cx="6714067" cy="1828800"/>
          </a:xfrm>
          <a:prstGeom prst="roundRect">
            <a:avLst>
              <a:gd name="adj" fmla="val 6000"/>
            </a:avLst>
          </a:prstGeom>
          <a:solidFill>
            <a:schemeClr val="tx2"/>
          </a:solidFill>
          <a:ln w="12700">
            <a:solidFill>
              <a:schemeClr val="tx2"/>
            </a:solidFill>
            <a:prstDash val="solid"/>
          </a:ln>
        </p:spPr>
      </p:sp>
      <p:sp>
        <p:nvSpPr>
          <p:cNvPr id="20" name="Text 14"/>
          <p:cNvSpPr txBox="1"/>
          <p:nvPr/>
        </p:nvSpPr>
        <p:spPr>
          <a:xfrm>
            <a:off x="5218853" y="4315968"/>
            <a:ext cx="4572000" cy="274320"/>
          </a:xfrm>
          <a:prstGeom prst="rect">
            <a:avLst/>
          </a:prstGeom>
          <a:noFill/>
          <a:ln/>
        </p:spPr>
        <p:txBody>
          <a:bodyPr wrap="square" lIns="0" tIns="0" rIns="0" bIns="0" rtlCol="0" anchor="t"/>
          <a:lstStyle/>
          <a:p>
            <a:pPr marL="0" indent="0">
              <a:buNone/>
            </a:pPr>
            <a:r>
              <a:rPr lang="en-US" sz="1200" b="1" kern="0" spc="100" dirty="0">
                <a:solidFill>
                  <a:schemeClr val="accent1"/>
                </a:solidFill>
              </a:rPr>
              <a:t>KEY INSIGHT</a:t>
            </a:r>
            <a:endParaRPr lang="en-US" sz="1200" dirty="0"/>
          </a:p>
        </p:txBody>
      </p:sp>
      <p:sp>
        <p:nvSpPr>
          <p:cNvPr id="21" name="Text 15"/>
          <p:cNvSpPr txBox="1"/>
          <p:nvPr/>
        </p:nvSpPr>
        <p:spPr>
          <a:xfrm>
            <a:off x="5218853" y="4663440"/>
            <a:ext cx="6073987" cy="1143000"/>
          </a:xfrm>
          <a:prstGeom prst="rect">
            <a:avLst/>
          </a:prstGeom>
          <a:noFill/>
          <a:ln/>
        </p:spPr>
        <p:txBody>
          <a:bodyPr wrap="square" lIns="0" tIns="0" rIns="0" bIns="0" rtlCol="0" anchor="t"/>
          <a:lstStyle/>
          <a:p>
            <a:pPr marL="0" indent="0">
              <a:buNone/>
            </a:pPr>
            <a:r>
              <a:rPr lang="en-US" sz="1600" dirty="0">
                <a:solidFill>
                  <a:schemeClr val="bg1"/>
                </a:solidFill>
              </a:rPr>
              <a:t>A working interface isn't proof that data is handled correctly — so we tested the full path React → Express → PostgreSQL, including JWT-protected requests.</a:t>
            </a:r>
            <a:endParaRPr lang="en-US" sz="1600" dirty="0"/>
          </a:p>
        </p:txBody>
      </p:sp>
      <p:sp>
        <p:nvSpPr>
          <p:cNvPr id="22" name="Source"/>
          <p:cNvSpPr txBox="1"/>
          <p:nvPr/>
        </p:nvSpPr>
        <p:spPr>
          <a:xfrm>
            <a:off x="548640" y="6053328"/>
            <a:ext cx="11064240" cy="256032"/>
          </a:xfrm>
          <a:prstGeom prst="rect">
            <a:avLst/>
          </a:prstGeom>
          <a:noFill/>
          <a:ln/>
        </p:spPr>
        <p:txBody>
          <a:bodyPr wrap="square" lIns="0" tIns="0" rIns="0" bIns="0" rtlCol="0" anchor="b"/>
          <a:lstStyle/>
          <a:p>
            <a:pPr marL="0" indent="0">
              <a:buNone/>
            </a:pPr>
            <a:r>
              <a:rPr lang="en-US" sz="1000" i="1" dirty="0">
                <a:solidFill>
                  <a:schemeClr val="accent6"/>
                </a:solidFill>
              </a:rPr>
              <a:t>Source: Hasnain et al. (2021)</a:t>
            </a:r>
            <a:endParaRPr lang="en-US" sz="1000" dirty="0"/>
          </a:p>
        </p:txBody>
      </p:sp>
      <p:sp>
        <p:nvSpPr>
          <p:cNvPr id="25" name="Slide Number Placeholder 0"/>
          <p:cNvSpPr>
            <a:spLocks noGrp="1"/>
          </p:cNvSpPr>
          <p:nvPr>
            <p:ph type="sldNum" sz="quarter" idx="4294967295"/>
          </p:nvPr>
        </p:nvSpPr>
        <p:spPr>
          <a:xfrm>
            <a:off x="11201400" y="6382512"/>
            <a:ext cx="41148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64240" cy="731520"/>
          </a:xfrm>
          <a:prstGeom prst="rect">
            <a:avLst/>
          </a:prstGeom>
          <a:noFill/>
          <a:ln/>
        </p:spPr>
        <p:txBody>
          <a:bodyPr wrap="square" lIns="0" tIns="0" rIns="0" bIns="0" rtlCol="0" anchor="ctr"/>
          <a:lstStyle/>
          <a:p>
            <a:pPr marL="0" indent="0" algn="l">
              <a:buNone/>
            </a:pPr>
            <a:r>
              <a:rPr lang="en-US" sz="3400" b="1" dirty="0">
                <a:solidFill>
                  <a:schemeClr val="tx1"/>
                </a:solidFill>
                <a:latin typeface="Arial" pitchFamily="34" charset="0"/>
                <a:ea typeface="Arial" pitchFamily="34" charset="-122"/>
                <a:cs typeface="Arial" pitchFamily="34" charset="-120"/>
              </a:rPr>
              <a:t>Limitations</a:t>
            </a:r>
            <a:endParaRPr lang="en-US" sz="3400" dirty="0"/>
          </a:p>
        </p:txBody>
      </p:sp>
      <p:sp>
        <p:nvSpPr>
          <p:cNvPr id="8" name="No admin role card"/>
          <p:cNvSpPr/>
          <p:nvPr/>
        </p:nvSpPr>
        <p:spPr>
          <a:xfrm>
            <a:off x="1457779" y="1354183"/>
            <a:ext cx="2057400" cy="3108960"/>
          </a:xfrm>
          <a:prstGeom prst="roundRect">
            <a:avLst>
              <a:gd name="adj" fmla="val 5333"/>
            </a:avLst>
          </a:prstGeom>
          <a:solidFill>
            <a:schemeClr val="bg2"/>
          </a:solidFill>
          <a:ln w="12700">
            <a:solidFill>
              <a:schemeClr val="bg2"/>
            </a:solidFill>
            <a:prstDash val="solid"/>
          </a:ln>
        </p:spPr>
      </p:sp>
      <p:sp>
        <p:nvSpPr>
          <p:cNvPr id="9" name="No admin role circle"/>
          <p:cNvSpPr/>
          <p:nvPr/>
        </p:nvSpPr>
        <p:spPr>
          <a:xfrm>
            <a:off x="2074999" y="1674223"/>
            <a:ext cx="822960" cy="822960"/>
          </a:xfrm>
          <a:prstGeom prst="ellipse">
            <a:avLst/>
          </a:prstGeom>
          <a:solidFill>
            <a:schemeClr val="tx2"/>
          </a:solidFill>
          <a:ln w="12700">
            <a:solidFill>
              <a:schemeClr val="tx2"/>
            </a:solidFill>
            <a:prstDash val="solid"/>
          </a:ln>
        </p:spPr>
      </p:sp>
      <p:pic>
        <p:nvPicPr>
          <p:cNvPr id="10" name="No admin role icon" descr="preencoded.png"/>
          <p:cNvPicPr>
            <a:picLocks noChangeAspect="1"/>
          </p:cNvPicPr>
          <p:nvPr/>
        </p:nvPicPr>
        <p:blipFill>
          <a:blip r:embed="rId3"/>
          <a:stretch>
            <a:fillRect/>
          </a:stretch>
        </p:blipFill>
        <p:spPr>
          <a:xfrm>
            <a:off x="2288969" y="1888193"/>
            <a:ext cx="395021" cy="395021"/>
          </a:xfrm>
          <a:prstGeom prst="rect">
            <a:avLst/>
          </a:prstGeom>
        </p:spPr>
      </p:pic>
      <p:sp>
        <p:nvSpPr>
          <p:cNvPr id="11" name="Text 7"/>
          <p:cNvSpPr txBox="1"/>
          <p:nvPr/>
        </p:nvSpPr>
        <p:spPr>
          <a:xfrm>
            <a:off x="1594939" y="2725783"/>
            <a:ext cx="1783080" cy="594360"/>
          </a:xfrm>
          <a:prstGeom prst="rect">
            <a:avLst/>
          </a:prstGeom>
          <a:noFill/>
          <a:ln/>
        </p:spPr>
        <p:txBody>
          <a:bodyPr wrap="square" lIns="0" tIns="0" rIns="0" bIns="0" rtlCol="0" anchor="ctr"/>
          <a:lstStyle/>
          <a:p>
            <a:pPr marL="0" indent="0" algn="ctr">
              <a:buNone/>
            </a:pPr>
            <a:r>
              <a:rPr lang="en-US" sz="1600" b="1" dirty="0">
                <a:solidFill>
                  <a:schemeClr val="tx1"/>
                </a:solidFill>
              </a:rPr>
              <a:t>No admin role</a:t>
            </a:r>
            <a:endParaRPr lang="en-US" sz="1600" dirty="0"/>
          </a:p>
        </p:txBody>
      </p:sp>
      <p:sp>
        <p:nvSpPr>
          <p:cNvPr id="12" name="Text 8"/>
          <p:cNvSpPr txBox="1"/>
          <p:nvPr/>
        </p:nvSpPr>
        <p:spPr>
          <a:xfrm>
            <a:off x="1640659" y="3365863"/>
            <a:ext cx="1691640" cy="914400"/>
          </a:xfrm>
          <a:prstGeom prst="rect">
            <a:avLst/>
          </a:prstGeom>
          <a:noFill/>
          <a:ln/>
        </p:spPr>
        <p:txBody>
          <a:bodyPr wrap="square" lIns="0" tIns="0" rIns="0" bIns="0" rtlCol="0" anchor="t"/>
          <a:lstStyle/>
          <a:p>
            <a:pPr marL="0" indent="0" algn="ctr">
              <a:buNone/>
            </a:pPr>
            <a:r>
              <a:rPr lang="en-US" sz="1400" dirty="0">
                <a:solidFill>
                  <a:schemeClr val="tx2"/>
                </a:solidFill>
              </a:rPr>
              <a:t>Single user type; no admin management</a:t>
            </a:r>
            <a:endParaRPr lang="en-US" sz="1400" dirty="0"/>
          </a:p>
        </p:txBody>
      </p:sp>
      <p:sp>
        <p:nvSpPr>
          <p:cNvPr id="13" name="Weekly analytics only card"/>
          <p:cNvSpPr/>
          <p:nvPr/>
        </p:nvSpPr>
        <p:spPr>
          <a:xfrm>
            <a:off x="3709489" y="1354183"/>
            <a:ext cx="2057400" cy="3108960"/>
          </a:xfrm>
          <a:prstGeom prst="roundRect">
            <a:avLst>
              <a:gd name="adj" fmla="val 5333"/>
            </a:avLst>
          </a:prstGeom>
          <a:solidFill>
            <a:schemeClr val="bg2"/>
          </a:solidFill>
          <a:ln w="12700">
            <a:solidFill>
              <a:schemeClr val="bg2"/>
            </a:solidFill>
            <a:prstDash val="solid"/>
          </a:ln>
        </p:spPr>
      </p:sp>
      <p:sp>
        <p:nvSpPr>
          <p:cNvPr id="14" name="Weekly analytics only circle"/>
          <p:cNvSpPr/>
          <p:nvPr/>
        </p:nvSpPr>
        <p:spPr>
          <a:xfrm>
            <a:off x="4326709" y="1674223"/>
            <a:ext cx="822960" cy="822960"/>
          </a:xfrm>
          <a:prstGeom prst="ellipse">
            <a:avLst/>
          </a:prstGeom>
          <a:solidFill>
            <a:schemeClr val="tx2"/>
          </a:solidFill>
          <a:ln w="12700">
            <a:solidFill>
              <a:schemeClr val="tx2"/>
            </a:solidFill>
            <a:prstDash val="solid"/>
          </a:ln>
        </p:spPr>
      </p:sp>
      <p:pic>
        <p:nvPicPr>
          <p:cNvPr id="15" name="Weekly analytics only icon" descr="preencoded.png"/>
          <p:cNvPicPr>
            <a:picLocks noChangeAspect="1"/>
          </p:cNvPicPr>
          <p:nvPr/>
        </p:nvPicPr>
        <p:blipFill>
          <a:blip r:embed="rId4"/>
          <a:stretch>
            <a:fillRect/>
          </a:stretch>
        </p:blipFill>
        <p:spPr>
          <a:xfrm>
            <a:off x="4540679" y="1888193"/>
            <a:ext cx="395021" cy="395021"/>
          </a:xfrm>
          <a:prstGeom prst="rect">
            <a:avLst/>
          </a:prstGeom>
        </p:spPr>
      </p:pic>
      <p:sp>
        <p:nvSpPr>
          <p:cNvPr id="16" name="Text 11"/>
          <p:cNvSpPr txBox="1"/>
          <p:nvPr/>
        </p:nvSpPr>
        <p:spPr>
          <a:xfrm>
            <a:off x="3846649" y="2725783"/>
            <a:ext cx="1783080" cy="594360"/>
          </a:xfrm>
          <a:prstGeom prst="rect">
            <a:avLst/>
          </a:prstGeom>
          <a:noFill/>
          <a:ln/>
        </p:spPr>
        <p:txBody>
          <a:bodyPr wrap="square" lIns="0" tIns="0" rIns="0" bIns="0" rtlCol="0" anchor="ctr"/>
          <a:lstStyle/>
          <a:p>
            <a:pPr marL="0" indent="0" algn="ctr">
              <a:buNone/>
            </a:pPr>
            <a:r>
              <a:rPr lang="en-US" sz="1600" b="1" dirty="0">
                <a:solidFill>
                  <a:schemeClr val="tx1"/>
                </a:solidFill>
              </a:rPr>
              <a:t>Weekly analytics only</a:t>
            </a:r>
            <a:endParaRPr lang="en-US" sz="1600" dirty="0"/>
          </a:p>
        </p:txBody>
      </p:sp>
      <p:sp>
        <p:nvSpPr>
          <p:cNvPr id="17" name="Text 12"/>
          <p:cNvSpPr txBox="1"/>
          <p:nvPr/>
        </p:nvSpPr>
        <p:spPr>
          <a:xfrm>
            <a:off x="3892369" y="3365863"/>
            <a:ext cx="1691640" cy="914400"/>
          </a:xfrm>
          <a:prstGeom prst="rect">
            <a:avLst/>
          </a:prstGeom>
          <a:noFill/>
          <a:ln/>
        </p:spPr>
        <p:txBody>
          <a:bodyPr wrap="square" lIns="0" tIns="0" rIns="0" bIns="0" rtlCol="0" anchor="t"/>
          <a:lstStyle/>
          <a:p>
            <a:pPr marL="0" indent="0" algn="ctr">
              <a:buNone/>
            </a:pPr>
            <a:r>
              <a:rPr lang="en-US" sz="1400" dirty="0">
                <a:solidFill>
                  <a:schemeClr val="tx2"/>
                </a:solidFill>
              </a:rPr>
              <a:t>No monthly or long-term trends</a:t>
            </a:r>
            <a:endParaRPr lang="en-US" sz="1400" dirty="0"/>
          </a:p>
        </p:txBody>
      </p:sp>
      <p:sp>
        <p:nvSpPr>
          <p:cNvPr id="18" name="No offline mode card"/>
          <p:cNvSpPr/>
          <p:nvPr/>
        </p:nvSpPr>
        <p:spPr>
          <a:xfrm>
            <a:off x="5961199" y="1354183"/>
            <a:ext cx="2057400" cy="3108960"/>
          </a:xfrm>
          <a:prstGeom prst="roundRect">
            <a:avLst>
              <a:gd name="adj" fmla="val 5333"/>
            </a:avLst>
          </a:prstGeom>
          <a:solidFill>
            <a:schemeClr val="bg2"/>
          </a:solidFill>
          <a:ln w="12700">
            <a:solidFill>
              <a:schemeClr val="bg2"/>
            </a:solidFill>
            <a:prstDash val="solid"/>
          </a:ln>
        </p:spPr>
      </p:sp>
      <p:sp>
        <p:nvSpPr>
          <p:cNvPr id="19" name="No offline mode circle"/>
          <p:cNvSpPr/>
          <p:nvPr/>
        </p:nvSpPr>
        <p:spPr>
          <a:xfrm>
            <a:off x="6578419" y="1674223"/>
            <a:ext cx="822960" cy="822960"/>
          </a:xfrm>
          <a:prstGeom prst="ellipse">
            <a:avLst/>
          </a:prstGeom>
          <a:solidFill>
            <a:schemeClr val="tx2"/>
          </a:solidFill>
          <a:ln w="12700">
            <a:solidFill>
              <a:schemeClr val="tx2"/>
            </a:solidFill>
            <a:prstDash val="solid"/>
          </a:ln>
        </p:spPr>
      </p:sp>
      <p:pic>
        <p:nvPicPr>
          <p:cNvPr id="20" name="No offline mode icon" descr="preencoded.png"/>
          <p:cNvPicPr>
            <a:picLocks noChangeAspect="1"/>
          </p:cNvPicPr>
          <p:nvPr/>
        </p:nvPicPr>
        <p:blipFill>
          <a:blip r:embed="rId5"/>
          <a:stretch>
            <a:fillRect/>
          </a:stretch>
        </p:blipFill>
        <p:spPr>
          <a:xfrm>
            <a:off x="6792389" y="1888193"/>
            <a:ext cx="395021" cy="395021"/>
          </a:xfrm>
          <a:prstGeom prst="rect">
            <a:avLst/>
          </a:prstGeom>
        </p:spPr>
      </p:pic>
      <p:sp>
        <p:nvSpPr>
          <p:cNvPr id="21" name="Text 15"/>
          <p:cNvSpPr txBox="1"/>
          <p:nvPr/>
        </p:nvSpPr>
        <p:spPr>
          <a:xfrm>
            <a:off x="6098359" y="2725783"/>
            <a:ext cx="1783080" cy="594360"/>
          </a:xfrm>
          <a:prstGeom prst="rect">
            <a:avLst/>
          </a:prstGeom>
          <a:noFill/>
          <a:ln/>
        </p:spPr>
        <p:txBody>
          <a:bodyPr wrap="square" lIns="0" tIns="0" rIns="0" bIns="0" rtlCol="0" anchor="ctr"/>
          <a:lstStyle/>
          <a:p>
            <a:pPr marL="0" indent="0" algn="ctr">
              <a:buNone/>
            </a:pPr>
            <a:r>
              <a:rPr lang="en-US" sz="1600" b="1" dirty="0">
                <a:solidFill>
                  <a:schemeClr val="tx1"/>
                </a:solidFill>
              </a:rPr>
              <a:t>No offline mode</a:t>
            </a:r>
            <a:endParaRPr lang="en-US" sz="1600" dirty="0"/>
          </a:p>
        </p:txBody>
      </p:sp>
      <p:sp>
        <p:nvSpPr>
          <p:cNvPr id="22" name="Text 16"/>
          <p:cNvSpPr txBox="1"/>
          <p:nvPr/>
        </p:nvSpPr>
        <p:spPr>
          <a:xfrm>
            <a:off x="6144079" y="3365863"/>
            <a:ext cx="1691640" cy="914400"/>
          </a:xfrm>
          <a:prstGeom prst="rect">
            <a:avLst/>
          </a:prstGeom>
          <a:noFill/>
          <a:ln/>
        </p:spPr>
        <p:txBody>
          <a:bodyPr wrap="square" lIns="0" tIns="0" rIns="0" bIns="0" rtlCol="0" anchor="t"/>
          <a:lstStyle/>
          <a:p>
            <a:pPr marL="0" indent="0" algn="ctr">
              <a:buNone/>
            </a:pPr>
            <a:r>
              <a:rPr lang="en-US" sz="1400" dirty="0">
                <a:solidFill>
                  <a:schemeClr val="tx2"/>
                </a:solidFill>
              </a:rPr>
              <a:t>Requires a network connection</a:t>
            </a:r>
            <a:endParaRPr lang="en-US" sz="1400" dirty="0"/>
          </a:p>
        </p:txBody>
      </p:sp>
      <p:sp>
        <p:nvSpPr>
          <p:cNvPr id="23" name="No wearables card"/>
          <p:cNvSpPr/>
          <p:nvPr/>
        </p:nvSpPr>
        <p:spPr>
          <a:xfrm>
            <a:off x="8212909" y="1354183"/>
            <a:ext cx="2057400" cy="3108960"/>
          </a:xfrm>
          <a:prstGeom prst="roundRect">
            <a:avLst>
              <a:gd name="adj" fmla="val 5333"/>
            </a:avLst>
          </a:prstGeom>
          <a:solidFill>
            <a:schemeClr val="bg2"/>
          </a:solidFill>
          <a:ln w="12700">
            <a:solidFill>
              <a:schemeClr val="bg2"/>
            </a:solidFill>
            <a:prstDash val="solid"/>
          </a:ln>
        </p:spPr>
      </p:sp>
      <p:sp>
        <p:nvSpPr>
          <p:cNvPr id="24" name="No wearables circle"/>
          <p:cNvSpPr/>
          <p:nvPr/>
        </p:nvSpPr>
        <p:spPr>
          <a:xfrm>
            <a:off x="8830129" y="1674223"/>
            <a:ext cx="822960" cy="822960"/>
          </a:xfrm>
          <a:prstGeom prst="ellipse">
            <a:avLst/>
          </a:prstGeom>
          <a:solidFill>
            <a:schemeClr val="tx2"/>
          </a:solidFill>
          <a:ln w="12700">
            <a:solidFill>
              <a:schemeClr val="tx2"/>
            </a:solidFill>
            <a:prstDash val="solid"/>
          </a:ln>
        </p:spPr>
      </p:sp>
      <p:pic>
        <p:nvPicPr>
          <p:cNvPr id="25" name="No wearables icon" descr="preencoded.png"/>
          <p:cNvPicPr>
            <a:picLocks noChangeAspect="1"/>
          </p:cNvPicPr>
          <p:nvPr/>
        </p:nvPicPr>
        <p:blipFill>
          <a:blip r:embed="rId6"/>
          <a:stretch>
            <a:fillRect/>
          </a:stretch>
        </p:blipFill>
        <p:spPr>
          <a:xfrm>
            <a:off x="9044099" y="1888193"/>
            <a:ext cx="395021" cy="395021"/>
          </a:xfrm>
          <a:prstGeom prst="rect">
            <a:avLst/>
          </a:prstGeom>
        </p:spPr>
      </p:pic>
      <p:sp>
        <p:nvSpPr>
          <p:cNvPr id="26" name="Text 19"/>
          <p:cNvSpPr txBox="1"/>
          <p:nvPr/>
        </p:nvSpPr>
        <p:spPr>
          <a:xfrm>
            <a:off x="8350069" y="2725783"/>
            <a:ext cx="1783080" cy="594360"/>
          </a:xfrm>
          <a:prstGeom prst="rect">
            <a:avLst/>
          </a:prstGeom>
          <a:noFill/>
          <a:ln/>
        </p:spPr>
        <p:txBody>
          <a:bodyPr wrap="square" lIns="0" tIns="0" rIns="0" bIns="0" rtlCol="0" anchor="ctr"/>
          <a:lstStyle/>
          <a:p>
            <a:pPr marL="0" indent="0" algn="ctr">
              <a:buNone/>
            </a:pPr>
            <a:r>
              <a:rPr lang="en-US" sz="1600" b="1" dirty="0">
                <a:solidFill>
                  <a:schemeClr val="tx1"/>
                </a:solidFill>
              </a:rPr>
              <a:t>No wearables</a:t>
            </a:r>
            <a:endParaRPr lang="en-US" sz="1600" dirty="0"/>
          </a:p>
        </p:txBody>
      </p:sp>
      <p:sp>
        <p:nvSpPr>
          <p:cNvPr id="27" name="Text 20"/>
          <p:cNvSpPr txBox="1"/>
          <p:nvPr/>
        </p:nvSpPr>
        <p:spPr>
          <a:xfrm>
            <a:off x="8395789" y="3365863"/>
            <a:ext cx="1691640" cy="914400"/>
          </a:xfrm>
          <a:prstGeom prst="rect">
            <a:avLst/>
          </a:prstGeom>
          <a:noFill/>
          <a:ln/>
        </p:spPr>
        <p:txBody>
          <a:bodyPr wrap="square" lIns="0" tIns="0" rIns="0" bIns="0" rtlCol="0" anchor="t"/>
          <a:lstStyle/>
          <a:p>
            <a:pPr marL="0" indent="0" algn="ctr">
              <a:buNone/>
            </a:pPr>
            <a:r>
              <a:rPr lang="en-US" sz="1400" dirty="0">
                <a:solidFill>
                  <a:schemeClr val="tx2"/>
                </a:solidFill>
              </a:rPr>
              <a:t>All data entered manually</a:t>
            </a:r>
            <a:endParaRPr lang="en-US" sz="1400" dirty="0"/>
          </a:p>
        </p:txBody>
      </p:sp>
      <p:sp>
        <p:nvSpPr>
          <p:cNvPr id="28" name="Note card"/>
          <p:cNvSpPr/>
          <p:nvPr/>
        </p:nvSpPr>
        <p:spPr>
          <a:xfrm>
            <a:off x="548640" y="4892040"/>
            <a:ext cx="11064240" cy="1005840"/>
          </a:xfrm>
          <a:prstGeom prst="roundRect">
            <a:avLst>
              <a:gd name="adj" fmla="val 10909"/>
            </a:avLst>
          </a:prstGeom>
          <a:solidFill>
            <a:schemeClr val="accent1">
              <a:alpha val="12000"/>
            </a:schemeClr>
          </a:solidFill>
          <a:ln w="12700">
            <a:solidFill>
              <a:schemeClr val="accent1"/>
            </a:solidFill>
            <a:prstDash val="solid"/>
          </a:ln>
        </p:spPr>
      </p:sp>
      <p:pic>
        <p:nvPicPr>
          <p:cNvPr id="29" name="Image 5" descr="preencoded.png"/>
          <p:cNvPicPr>
            <a:picLocks noChangeAspect="1"/>
          </p:cNvPicPr>
          <p:nvPr/>
        </p:nvPicPr>
        <p:blipFill>
          <a:blip r:embed="rId7"/>
          <a:stretch>
            <a:fillRect/>
          </a:stretch>
        </p:blipFill>
        <p:spPr>
          <a:xfrm>
            <a:off x="822960" y="5212080"/>
            <a:ext cx="365760" cy="365760"/>
          </a:xfrm>
          <a:prstGeom prst="rect">
            <a:avLst/>
          </a:prstGeom>
        </p:spPr>
      </p:pic>
      <p:sp>
        <p:nvSpPr>
          <p:cNvPr id="30" name="Text 22"/>
          <p:cNvSpPr txBox="1"/>
          <p:nvPr/>
        </p:nvSpPr>
        <p:spPr>
          <a:xfrm>
            <a:off x="1371600" y="4892040"/>
            <a:ext cx="10012680" cy="1005840"/>
          </a:xfrm>
          <a:prstGeom prst="rect">
            <a:avLst/>
          </a:prstGeom>
          <a:noFill/>
          <a:ln/>
        </p:spPr>
        <p:txBody>
          <a:bodyPr wrap="square" lIns="0" tIns="0" rIns="0" bIns="0" rtlCol="0" anchor="ctr"/>
          <a:lstStyle/>
          <a:p>
            <a:pPr marL="0" indent="0">
              <a:buNone/>
            </a:pPr>
            <a:r>
              <a:rPr lang="en-US" sz="1400" dirty="0">
                <a:solidFill>
                  <a:schemeClr val="tx1"/>
                </a:solidFill>
              </a:rPr>
              <a:t>The system records and displays health data rather than doing complex health analysis. It runs on free hosting tiers, so the API sleeps when idle and the first request can take 30–60 seconds. Testing with a larger group of real users would surface issues not seen in development.</a:t>
            </a:r>
            <a:endParaRPr lang="en-US" sz="1400" dirty="0"/>
          </a:p>
        </p:txBody>
      </p:sp>
      <p:sp>
        <p:nvSpPr>
          <p:cNvPr id="31" name="Slide Number Placeholder 0"/>
          <p:cNvSpPr>
            <a:spLocks noGrp="1"/>
          </p:cNvSpPr>
          <p:nvPr>
            <p:ph type="sldNum" sz="quarter" idx="4294967295"/>
          </p:nvPr>
        </p:nvSpPr>
        <p:spPr>
          <a:xfrm>
            <a:off x="11201400" y="6382512"/>
            <a:ext cx="41148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Scalability row"/>
          <p:cNvSpPr/>
          <p:nvPr/>
        </p:nvSpPr>
        <p:spPr>
          <a:xfrm>
            <a:off x="548640" y="1417320"/>
            <a:ext cx="9455574" cy="1280160"/>
          </a:xfrm>
          <a:prstGeom prst="roundRect">
            <a:avLst>
              <a:gd name="adj" fmla="val 8571"/>
            </a:avLst>
          </a:prstGeom>
          <a:solidFill>
            <a:schemeClr val="bg2"/>
          </a:solidFill>
          <a:ln w="12700">
            <a:solidFill>
              <a:schemeClr val="bg2"/>
            </a:solidFill>
            <a:prstDash val="solid"/>
          </a:ln>
        </p:spPr>
      </p:sp>
      <p:sp>
        <p:nvSpPr>
          <p:cNvPr id="13" name="Shape 10"/>
          <p:cNvSpPr/>
          <p:nvPr/>
        </p:nvSpPr>
        <p:spPr>
          <a:xfrm>
            <a:off x="5757575" y="1801368"/>
            <a:ext cx="1828800" cy="512064"/>
          </a:xfrm>
          <a:prstGeom prst="roundRect">
            <a:avLst>
              <a:gd name="adj" fmla="val 17857"/>
            </a:avLst>
          </a:prstGeom>
          <a:solidFill>
            <a:schemeClr val="bg1"/>
          </a:solidFill>
          <a:ln w="15875">
            <a:solidFill>
              <a:schemeClr val="accent3"/>
            </a:solidFill>
            <a:prstDash val="solid"/>
          </a:ln>
        </p:spPr>
      </p:sp>
      <p:sp>
        <p:nvSpPr>
          <p:cNvPr id="2" name="Text 0"/>
          <p:cNvSpPr>
            <a:spLocks noGrp="1"/>
          </p:cNvSpPr>
          <p:nvPr>
            <p:ph type="title" idx="100" hasCustomPrompt="1"/>
          </p:nvPr>
        </p:nvSpPr>
        <p:spPr>
          <a:xfrm>
            <a:off x="548640" y="347472"/>
            <a:ext cx="11064240" cy="731520"/>
          </a:xfrm>
          <a:prstGeom prst="rect">
            <a:avLst/>
          </a:prstGeom>
          <a:noFill/>
          <a:ln/>
        </p:spPr>
        <p:txBody>
          <a:bodyPr wrap="square" lIns="0" tIns="0" rIns="0" bIns="0" rtlCol="0" anchor="ctr"/>
          <a:lstStyle/>
          <a:p>
            <a:pPr marL="0" indent="0" algn="l">
              <a:buNone/>
            </a:pPr>
            <a:r>
              <a:rPr lang="en-US" sz="3400" b="1" dirty="0">
                <a:solidFill>
                  <a:schemeClr val="tx1"/>
                </a:solidFill>
                <a:latin typeface="Arial" pitchFamily="34" charset="0"/>
                <a:ea typeface="Arial" pitchFamily="34" charset="-122"/>
                <a:cs typeface="Arial" pitchFamily="34" charset="-120"/>
              </a:rPr>
              <a:t>Future enhancements</a:t>
            </a:r>
            <a:endParaRPr lang="en-US" sz="3400" dirty="0"/>
          </a:p>
        </p:txBody>
      </p:sp>
      <p:sp>
        <p:nvSpPr>
          <p:cNvPr id="4" name="Scalability circle"/>
          <p:cNvSpPr/>
          <p:nvPr/>
        </p:nvSpPr>
        <p:spPr>
          <a:xfrm>
            <a:off x="822960" y="1737360"/>
            <a:ext cx="640080" cy="640080"/>
          </a:xfrm>
          <a:prstGeom prst="ellipse">
            <a:avLst/>
          </a:prstGeom>
          <a:solidFill>
            <a:schemeClr val="accent3"/>
          </a:solidFill>
          <a:ln w="12700">
            <a:solidFill>
              <a:schemeClr val="accent3"/>
            </a:solidFill>
            <a:prstDash val="solid"/>
          </a:ln>
        </p:spPr>
      </p:sp>
      <p:pic>
        <p:nvPicPr>
          <p:cNvPr id="5" name="Scalability icon" descr="preencoded.png"/>
          <p:cNvPicPr>
            <a:picLocks noChangeAspect="1"/>
          </p:cNvPicPr>
          <p:nvPr/>
        </p:nvPicPr>
        <p:blipFill>
          <a:blip r:embed="rId3"/>
          <a:stretch>
            <a:fillRect/>
          </a:stretch>
        </p:blipFill>
        <p:spPr>
          <a:xfrm>
            <a:off x="989381" y="1903781"/>
            <a:ext cx="307238" cy="307238"/>
          </a:xfrm>
          <a:prstGeom prst="rect">
            <a:avLst/>
          </a:prstGeom>
        </p:spPr>
      </p:pic>
      <p:sp>
        <p:nvSpPr>
          <p:cNvPr id="6" name="Text 3"/>
          <p:cNvSpPr txBox="1"/>
          <p:nvPr/>
        </p:nvSpPr>
        <p:spPr>
          <a:xfrm>
            <a:off x="1645920" y="1417320"/>
            <a:ext cx="2011680" cy="1280160"/>
          </a:xfrm>
          <a:prstGeom prst="rect">
            <a:avLst/>
          </a:prstGeom>
          <a:noFill/>
          <a:ln/>
        </p:spPr>
        <p:txBody>
          <a:bodyPr wrap="square" lIns="0" tIns="0" rIns="0" bIns="0" rtlCol="0" anchor="ctr"/>
          <a:lstStyle/>
          <a:p>
            <a:pPr marL="0" indent="0">
              <a:buNone/>
            </a:pPr>
            <a:r>
              <a:rPr lang="en-US" sz="2000" b="1" dirty="0">
                <a:solidFill>
                  <a:schemeClr val="tx1"/>
                </a:solidFill>
                <a:latin typeface="Arial" pitchFamily="34" charset="0"/>
                <a:ea typeface="Arial" pitchFamily="34" charset="-122"/>
                <a:cs typeface="Arial" pitchFamily="34" charset="-120"/>
              </a:rPr>
              <a:t>Scalability</a:t>
            </a:r>
            <a:endParaRPr lang="en-US" sz="2000" dirty="0"/>
          </a:p>
        </p:txBody>
      </p:sp>
      <p:sp>
        <p:nvSpPr>
          <p:cNvPr id="7" name="Shape 4"/>
          <p:cNvSpPr/>
          <p:nvPr/>
        </p:nvSpPr>
        <p:spPr>
          <a:xfrm>
            <a:off x="3657600" y="1801368"/>
            <a:ext cx="1828800" cy="512064"/>
          </a:xfrm>
          <a:prstGeom prst="roundRect">
            <a:avLst>
              <a:gd name="adj" fmla="val 17857"/>
            </a:avLst>
          </a:prstGeom>
          <a:solidFill>
            <a:schemeClr val="bg1"/>
          </a:solidFill>
          <a:ln w="15875">
            <a:solidFill>
              <a:schemeClr val="accent3"/>
            </a:solidFill>
            <a:prstDash val="solid"/>
          </a:ln>
        </p:spPr>
      </p:sp>
      <p:sp>
        <p:nvSpPr>
          <p:cNvPr id="8" name="Text 5"/>
          <p:cNvSpPr txBox="1"/>
          <p:nvPr/>
        </p:nvSpPr>
        <p:spPr>
          <a:xfrm>
            <a:off x="3657600" y="1801368"/>
            <a:ext cx="1828800" cy="512064"/>
          </a:xfrm>
          <a:prstGeom prst="rect">
            <a:avLst/>
          </a:prstGeom>
          <a:noFill/>
          <a:ln/>
        </p:spPr>
        <p:txBody>
          <a:bodyPr wrap="square" lIns="0" tIns="0" rIns="0" bIns="0" rtlCol="0" anchor="ctr"/>
          <a:lstStyle/>
          <a:p>
            <a:pPr marL="0" indent="0" algn="ctr">
              <a:buNone/>
            </a:pPr>
            <a:r>
              <a:rPr lang="en-US" sz="1300" b="1" dirty="0">
                <a:solidFill>
                  <a:schemeClr val="tx1"/>
                </a:solidFill>
              </a:rPr>
              <a:t>Always-on hosting</a:t>
            </a:r>
            <a:endParaRPr lang="en-US" sz="1300" dirty="0"/>
          </a:p>
        </p:txBody>
      </p:sp>
      <p:sp>
        <p:nvSpPr>
          <p:cNvPr id="11" name="Shape 8"/>
          <p:cNvSpPr/>
          <p:nvPr/>
        </p:nvSpPr>
        <p:spPr>
          <a:xfrm>
            <a:off x="7843520" y="1801368"/>
            <a:ext cx="1828800" cy="512064"/>
          </a:xfrm>
          <a:prstGeom prst="roundRect">
            <a:avLst>
              <a:gd name="adj" fmla="val 17857"/>
            </a:avLst>
          </a:prstGeom>
          <a:solidFill>
            <a:schemeClr val="bg1"/>
          </a:solidFill>
          <a:ln w="15875">
            <a:solidFill>
              <a:schemeClr val="accent3"/>
            </a:solidFill>
            <a:prstDash val="solid"/>
          </a:ln>
        </p:spPr>
      </p:sp>
      <p:sp>
        <p:nvSpPr>
          <p:cNvPr id="14" name="Text 11"/>
          <p:cNvSpPr txBox="1"/>
          <p:nvPr/>
        </p:nvSpPr>
        <p:spPr>
          <a:xfrm>
            <a:off x="7850051" y="1801368"/>
            <a:ext cx="1828800" cy="512064"/>
          </a:xfrm>
          <a:prstGeom prst="rect">
            <a:avLst/>
          </a:prstGeom>
          <a:noFill/>
          <a:ln/>
        </p:spPr>
        <p:txBody>
          <a:bodyPr wrap="square" lIns="0" tIns="0" rIns="0" bIns="0" rtlCol="0" anchor="ctr"/>
          <a:lstStyle/>
          <a:p>
            <a:pPr marL="0" indent="0" algn="ctr">
              <a:buNone/>
            </a:pPr>
            <a:r>
              <a:rPr lang="en-US" sz="1300" b="1" dirty="0">
                <a:solidFill>
                  <a:schemeClr val="tx1"/>
                </a:solidFill>
              </a:rPr>
              <a:t>Pagination</a:t>
            </a:r>
            <a:endParaRPr lang="en-US" sz="1300" dirty="0"/>
          </a:p>
        </p:txBody>
      </p:sp>
      <p:sp>
        <p:nvSpPr>
          <p:cNvPr id="15" name="Security row"/>
          <p:cNvSpPr/>
          <p:nvPr/>
        </p:nvSpPr>
        <p:spPr>
          <a:xfrm>
            <a:off x="548640" y="2898648"/>
            <a:ext cx="9455574" cy="1280160"/>
          </a:xfrm>
          <a:prstGeom prst="roundRect">
            <a:avLst>
              <a:gd name="adj" fmla="val 8571"/>
            </a:avLst>
          </a:prstGeom>
          <a:solidFill>
            <a:schemeClr val="bg2"/>
          </a:solidFill>
          <a:ln w="12700">
            <a:solidFill>
              <a:schemeClr val="bg2"/>
            </a:solidFill>
            <a:prstDash val="solid"/>
          </a:ln>
        </p:spPr>
      </p:sp>
      <p:sp>
        <p:nvSpPr>
          <p:cNvPr id="16" name="Security circle"/>
          <p:cNvSpPr/>
          <p:nvPr/>
        </p:nvSpPr>
        <p:spPr>
          <a:xfrm>
            <a:off x="822960" y="3218688"/>
            <a:ext cx="640080" cy="640080"/>
          </a:xfrm>
          <a:prstGeom prst="ellipse">
            <a:avLst/>
          </a:prstGeom>
          <a:solidFill>
            <a:schemeClr val="accent5"/>
          </a:solidFill>
          <a:ln w="12700">
            <a:solidFill>
              <a:schemeClr val="accent5"/>
            </a:solidFill>
            <a:prstDash val="solid"/>
          </a:ln>
        </p:spPr>
      </p:sp>
      <p:pic>
        <p:nvPicPr>
          <p:cNvPr id="17" name="Security icon" descr="preencoded.png"/>
          <p:cNvPicPr>
            <a:picLocks noChangeAspect="1"/>
          </p:cNvPicPr>
          <p:nvPr/>
        </p:nvPicPr>
        <p:blipFill>
          <a:blip r:embed="rId4"/>
          <a:stretch>
            <a:fillRect/>
          </a:stretch>
        </p:blipFill>
        <p:spPr>
          <a:xfrm>
            <a:off x="989381" y="3385109"/>
            <a:ext cx="307238" cy="307238"/>
          </a:xfrm>
          <a:prstGeom prst="rect">
            <a:avLst/>
          </a:prstGeom>
        </p:spPr>
      </p:pic>
      <p:sp>
        <p:nvSpPr>
          <p:cNvPr id="18" name="Text 14"/>
          <p:cNvSpPr txBox="1"/>
          <p:nvPr/>
        </p:nvSpPr>
        <p:spPr>
          <a:xfrm>
            <a:off x="1645920" y="2898648"/>
            <a:ext cx="2011680" cy="1280160"/>
          </a:xfrm>
          <a:prstGeom prst="rect">
            <a:avLst/>
          </a:prstGeom>
          <a:noFill/>
          <a:ln/>
        </p:spPr>
        <p:txBody>
          <a:bodyPr wrap="square" lIns="0" tIns="0" rIns="0" bIns="0" rtlCol="0" anchor="ctr"/>
          <a:lstStyle/>
          <a:p>
            <a:pPr marL="0" indent="0">
              <a:buNone/>
            </a:pPr>
            <a:r>
              <a:rPr lang="en-US" sz="2000" b="1" dirty="0">
                <a:solidFill>
                  <a:schemeClr val="tx1"/>
                </a:solidFill>
                <a:latin typeface="Arial" pitchFamily="34" charset="0"/>
                <a:ea typeface="Arial" pitchFamily="34" charset="-122"/>
                <a:cs typeface="Arial" pitchFamily="34" charset="-120"/>
              </a:rPr>
              <a:t>Security</a:t>
            </a:r>
            <a:endParaRPr lang="en-US" sz="2000" dirty="0"/>
          </a:p>
        </p:txBody>
      </p:sp>
      <p:sp>
        <p:nvSpPr>
          <p:cNvPr id="19" name="Shape 15"/>
          <p:cNvSpPr/>
          <p:nvPr/>
        </p:nvSpPr>
        <p:spPr>
          <a:xfrm>
            <a:off x="3657600" y="3282696"/>
            <a:ext cx="1828800" cy="512064"/>
          </a:xfrm>
          <a:prstGeom prst="roundRect">
            <a:avLst>
              <a:gd name="adj" fmla="val 17857"/>
            </a:avLst>
          </a:prstGeom>
          <a:solidFill>
            <a:schemeClr val="bg1"/>
          </a:solidFill>
          <a:ln w="15875">
            <a:solidFill>
              <a:schemeClr val="accent5"/>
            </a:solidFill>
            <a:prstDash val="solid"/>
          </a:ln>
        </p:spPr>
      </p:sp>
      <p:sp>
        <p:nvSpPr>
          <p:cNvPr id="20" name="Text 16"/>
          <p:cNvSpPr txBox="1"/>
          <p:nvPr/>
        </p:nvSpPr>
        <p:spPr>
          <a:xfrm>
            <a:off x="3657600" y="3282696"/>
            <a:ext cx="1828800" cy="512064"/>
          </a:xfrm>
          <a:prstGeom prst="rect">
            <a:avLst/>
          </a:prstGeom>
          <a:noFill/>
          <a:ln/>
        </p:spPr>
        <p:txBody>
          <a:bodyPr wrap="square" lIns="0" tIns="0" rIns="0" bIns="0" rtlCol="0" anchor="ctr"/>
          <a:lstStyle/>
          <a:p>
            <a:pPr marL="0" indent="0" algn="ctr">
              <a:buNone/>
            </a:pPr>
            <a:r>
              <a:rPr lang="en-US" sz="1300" b="1" dirty="0">
                <a:solidFill>
                  <a:schemeClr val="tx1"/>
                </a:solidFill>
              </a:rPr>
              <a:t>Rate limiting</a:t>
            </a:r>
            <a:endParaRPr lang="en-US" sz="1300" dirty="0"/>
          </a:p>
        </p:txBody>
      </p:sp>
      <p:sp>
        <p:nvSpPr>
          <p:cNvPr id="21" name="Shape 17"/>
          <p:cNvSpPr/>
          <p:nvPr/>
        </p:nvSpPr>
        <p:spPr>
          <a:xfrm>
            <a:off x="5623560" y="3282696"/>
            <a:ext cx="1828800" cy="512064"/>
          </a:xfrm>
          <a:prstGeom prst="roundRect">
            <a:avLst>
              <a:gd name="adj" fmla="val 17857"/>
            </a:avLst>
          </a:prstGeom>
          <a:solidFill>
            <a:schemeClr val="bg1"/>
          </a:solidFill>
          <a:ln w="15875">
            <a:solidFill>
              <a:schemeClr val="accent5"/>
            </a:solidFill>
            <a:prstDash val="solid"/>
          </a:ln>
        </p:spPr>
      </p:sp>
      <p:sp>
        <p:nvSpPr>
          <p:cNvPr id="22" name="Text 18"/>
          <p:cNvSpPr txBox="1"/>
          <p:nvPr/>
        </p:nvSpPr>
        <p:spPr>
          <a:xfrm>
            <a:off x="5623560" y="3282696"/>
            <a:ext cx="1828800" cy="512064"/>
          </a:xfrm>
          <a:prstGeom prst="rect">
            <a:avLst/>
          </a:prstGeom>
          <a:noFill/>
          <a:ln/>
        </p:spPr>
        <p:txBody>
          <a:bodyPr wrap="square" lIns="0" tIns="0" rIns="0" bIns="0" rtlCol="0" anchor="ctr"/>
          <a:lstStyle/>
          <a:p>
            <a:pPr marL="0" indent="0" algn="ctr">
              <a:buNone/>
            </a:pPr>
            <a:r>
              <a:rPr lang="en-US" sz="1300" b="1" dirty="0">
                <a:solidFill>
                  <a:schemeClr val="tx1"/>
                </a:solidFill>
              </a:rPr>
              <a:t>Strong password policy</a:t>
            </a:r>
            <a:endParaRPr lang="en-US" sz="1300" dirty="0"/>
          </a:p>
        </p:txBody>
      </p:sp>
      <p:sp>
        <p:nvSpPr>
          <p:cNvPr id="23" name="Shape 19"/>
          <p:cNvSpPr/>
          <p:nvPr/>
        </p:nvSpPr>
        <p:spPr>
          <a:xfrm>
            <a:off x="7589520" y="3282696"/>
            <a:ext cx="1828800" cy="512064"/>
          </a:xfrm>
          <a:prstGeom prst="roundRect">
            <a:avLst>
              <a:gd name="adj" fmla="val 17857"/>
            </a:avLst>
          </a:prstGeom>
          <a:solidFill>
            <a:schemeClr val="bg1"/>
          </a:solidFill>
          <a:ln w="15875">
            <a:solidFill>
              <a:schemeClr val="accent5"/>
            </a:solidFill>
            <a:prstDash val="solid"/>
          </a:ln>
        </p:spPr>
      </p:sp>
      <p:sp>
        <p:nvSpPr>
          <p:cNvPr id="24" name="Text 20"/>
          <p:cNvSpPr txBox="1"/>
          <p:nvPr/>
        </p:nvSpPr>
        <p:spPr>
          <a:xfrm>
            <a:off x="7589520" y="3282696"/>
            <a:ext cx="1828800" cy="512064"/>
          </a:xfrm>
          <a:prstGeom prst="rect">
            <a:avLst/>
          </a:prstGeom>
          <a:noFill/>
          <a:ln/>
        </p:spPr>
        <p:txBody>
          <a:bodyPr wrap="square" lIns="0" tIns="0" rIns="0" bIns="0" rtlCol="0" anchor="ctr"/>
          <a:lstStyle/>
          <a:p>
            <a:pPr marL="0" indent="0" algn="ctr">
              <a:buNone/>
            </a:pPr>
            <a:r>
              <a:rPr lang="en-US" sz="1300" b="1" dirty="0">
                <a:solidFill>
                  <a:schemeClr val="tx1"/>
                </a:solidFill>
              </a:rPr>
              <a:t>Two-factor auth</a:t>
            </a:r>
            <a:endParaRPr lang="en-US" sz="1300" dirty="0"/>
          </a:p>
        </p:txBody>
      </p:sp>
      <p:sp>
        <p:nvSpPr>
          <p:cNvPr id="27" name="Features row"/>
          <p:cNvSpPr/>
          <p:nvPr/>
        </p:nvSpPr>
        <p:spPr>
          <a:xfrm>
            <a:off x="548640" y="4379976"/>
            <a:ext cx="11064240" cy="1280160"/>
          </a:xfrm>
          <a:prstGeom prst="roundRect">
            <a:avLst>
              <a:gd name="adj" fmla="val 8571"/>
            </a:avLst>
          </a:prstGeom>
          <a:solidFill>
            <a:schemeClr val="bg2"/>
          </a:solidFill>
          <a:ln w="12700">
            <a:solidFill>
              <a:schemeClr val="bg2"/>
            </a:solidFill>
            <a:prstDash val="solid"/>
          </a:ln>
        </p:spPr>
      </p:sp>
      <p:sp>
        <p:nvSpPr>
          <p:cNvPr id="28" name="Features circle"/>
          <p:cNvSpPr/>
          <p:nvPr/>
        </p:nvSpPr>
        <p:spPr>
          <a:xfrm>
            <a:off x="822960" y="4700016"/>
            <a:ext cx="640080" cy="640080"/>
          </a:xfrm>
          <a:prstGeom prst="ellipse">
            <a:avLst/>
          </a:prstGeom>
          <a:solidFill>
            <a:schemeClr val="accent2"/>
          </a:solidFill>
          <a:ln w="12700">
            <a:solidFill>
              <a:schemeClr val="accent2"/>
            </a:solidFill>
            <a:prstDash val="solid"/>
          </a:ln>
        </p:spPr>
      </p:sp>
      <p:pic>
        <p:nvPicPr>
          <p:cNvPr id="29" name="Features icon" descr="preencoded.png"/>
          <p:cNvPicPr>
            <a:picLocks noChangeAspect="1"/>
          </p:cNvPicPr>
          <p:nvPr/>
        </p:nvPicPr>
        <p:blipFill>
          <a:blip r:embed="rId5"/>
          <a:stretch>
            <a:fillRect/>
          </a:stretch>
        </p:blipFill>
        <p:spPr>
          <a:xfrm>
            <a:off x="989381" y="4866437"/>
            <a:ext cx="307238" cy="307238"/>
          </a:xfrm>
          <a:prstGeom prst="rect">
            <a:avLst/>
          </a:prstGeom>
        </p:spPr>
      </p:pic>
      <p:sp>
        <p:nvSpPr>
          <p:cNvPr id="30" name="Text 25"/>
          <p:cNvSpPr txBox="1"/>
          <p:nvPr/>
        </p:nvSpPr>
        <p:spPr>
          <a:xfrm>
            <a:off x="1645920" y="4379976"/>
            <a:ext cx="2011680" cy="1280160"/>
          </a:xfrm>
          <a:prstGeom prst="rect">
            <a:avLst/>
          </a:prstGeom>
          <a:noFill/>
          <a:ln/>
        </p:spPr>
        <p:txBody>
          <a:bodyPr wrap="square" lIns="0" tIns="0" rIns="0" bIns="0" rtlCol="0" anchor="ctr"/>
          <a:lstStyle/>
          <a:p>
            <a:pPr marL="0" indent="0">
              <a:buNone/>
            </a:pPr>
            <a:r>
              <a:rPr lang="en-US" sz="2000" b="1" dirty="0">
                <a:solidFill>
                  <a:schemeClr val="tx1"/>
                </a:solidFill>
                <a:latin typeface="Arial" pitchFamily="34" charset="0"/>
                <a:ea typeface="Arial" pitchFamily="34" charset="-122"/>
                <a:cs typeface="Arial" pitchFamily="34" charset="-120"/>
              </a:rPr>
              <a:t>Features</a:t>
            </a:r>
            <a:endParaRPr lang="en-US" sz="2000" dirty="0"/>
          </a:p>
        </p:txBody>
      </p:sp>
      <p:sp>
        <p:nvSpPr>
          <p:cNvPr id="31" name="Shape 26"/>
          <p:cNvSpPr/>
          <p:nvPr/>
        </p:nvSpPr>
        <p:spPr>
          <a:xfrm>
            <a:off x="3657600" y="4764024"/>
            <a:ext cx="1828800" cy="512064"/>
          </a:xfrm>
          <a:prstGeom prst="roundRect">
            <a:avLst>
              <a:gd name="adj" fmla="val 17857"/>
            </a:avLst>
          </a:prstGeom>
          <a:solidFill>
            <a:schemeClr val="bg1"/>
          </a:solidFill>
          <a:ln w="15875">
            <a:solidFill>
              <a:schemeClr val="accent2"/>
            </a:solidFill>
            <a:prstDash val="solid"/>
          </a:ln>
        </p:spPr>
      </p:sp>
      <p:sp>
        <p:nvSpPr>
          <p:cNvPr id="32" name="Text 27"/>
          <p:cNvSpPr txBox="1"/>
          <p:nvPr/>
        </p:nvSpPr>
        <p:spPr>
          <a:xfrm>
            <a:off x="3657600" y="4764024"/>
            <a:ext cx="1828800" cy="512064"/>
          </a:xfrm>
          <a:prstGeom prst="rect">
            <a:avLst/>
          </a:prstGeom>
          <a:noFill/>
          <a:ln/>
        </p:spPr>
        <p:txBody>
          <a:bodyPr wrap="square" lIns="0" tIns="0" rIns="0" bIns="0" rtlCol="0" anchor="ctr"/>
          <a:lstStyle/>
          <a:p>
            <a:pPr marL="0" indent="0" algn="ctr">
              <a:buNone/>
            </a:pPr>
            <a:r>
              <a:rPr lang="en-US" sz="1300" b="1" dirty="0">
                <a:solidFill>
                  <a:schemeClr val="tx1"/>
                </a:solidFill>
              </a:rPr>
              <a:t>Monthly analytics</a:t>
            </a:r>
            <a:endParaRPr lang="en-US" sz="1300" dirty="0"/>
          </a:p>
        </p:txBody>
      </p:sp>
      <p:sp>
        <p:nvSpPr>
          <p:cNvPr id="33" name="Shape 28"/>
          <p:cNvSpPr/>
          <p:nvPr/>
        </p:nvSpPr>
        <p:spPr>
          <a:xfrm>
            <a:off x="5623560" y="4764024"/>
            <a:ext cx="1828800" cy="512064"/>
          </a:xfrm>
          <a:prstGeom prst="roundRect">
            <a:avLst>
              <a:gd name="adj" fmla="val 17857"/>
            </a:avLst>
          </a:prstGeom>
          <a:solidFill>
            <a:schemeClr val="bg1"/>
          </a:solidFill>
          <a:ln w="15875">
            <a:solidFill>
              <a:schemeClr val="accent2"/>
            </a:solidFill>
            <a:prstDash val="solid"/>
          </a:ln>
        </p:spPr>
      </p:sp>
      <p:sp>
        <p:nvSpPr>
          <p:cNvPr id="34" name="Text 29"/>
          <p:cNvSpPr txBox="1"/>
          <p:nvPr/>
        </p:nvSpPr>
        <p:spPr>
          <a:xfrm>
            <a:off x="5623560" y="4764024"/>
            <a:ext cx="1828800" cy="512064"/>
          </a:xfrm>
          <a:prstGeom prst="rect">
            <a:avLst/>
          </a:prstGeom>
          <a:noFill/>
          <a:ln/>
        </p:spPr>
        <p:txBody>
          <a:bodyPr wrap="square" lIns="0" tIns="0" rIns="0" bIns="0" rtlCol="0" anchor="ctr"/>
          <a:lstStyle/>
          <a:p>
            <a:pPr marL="0" indent="0" algn="ctr">
              <a:buNone/>
            </a:pPr>
            <a:r>
              <a:rPr lang="en-US" sz="1300" b="1" dirty="0">
                <a:solidFill>
                  <a:schemeClr val="tx1"/>
                </a:solidFill>
              </a:rPr>
              <a:t>Goal charts</a:t>
            </a:r>
            <a:endParaRPr lang="en-US" sz="1300" dirty="0"/>
          </a:p>
        </p:txBody>
      </p:sp>
      <p:sp>
        <p:nvSpPr>
          <p:cNvPr id="35" name="Shape 30"/>
          <p:cNvSpPr/>
          <p:nvPr/>
        </p:nvSpPr>
        <p:spPr>
          <a:xfrm>
            <a:off x="7589520" y="4764024"/>
            <a:ext cx="1828800" cy="512064"/>
          </a:xfrm>
          <a:prstGeom prst="roundRect">
            <a:avLst>
              <a:gd name="adj" fmla="val 17857"/>
            </a:avLst>
          </a:prstGeom>
          <a:solidFill>
            <a:schemeClr val="bg1"/>
          </a:solidFill>
          <a:ln w="15875">
            <a:solidFill>
              <a:schemeClr val="accent2"/>
            </a:solidFill>
            <a:prstDash val="solid"/>
          </a:ln>
        </p:spPr>
      </p:sp>
      <p:sp>
        <p:nvSpPr>
          <p:cNvPr id="36" name="Text 31"/>
          <p:cNvSpPr txBox="1"/>
          <p:nvPr/>
        </p:nvSpPr>
        <p:spPr>
          <a:xfrm>
            <a:off x="7589520" y="4764024"/>
            <a:ext cx="1828800" cy="512064"/>
          </a:xfrm>
          <a:prstGeom prst="rect">
            <a:avLst/>
          </a:prstGeom>
          <a:noFill/>
          <a:ln/>
        </p:spPr>
        <p:txBody>
          <a:bodyPr wrap="square" lIns="0" tIns="0" rIns="0" bIns="0" rtlCol="0" anchor="ctr"/>
          <a:lstStyle/>
          <a:p>
            <a:pPr marL="0" indent="0" algn="ctr">
              <a:buNone/>
            </a:pPr>
            <a:r>
              <a:rPr lang="en-US" sz="1300" b="1" dirty="0">
                <a:solidFill>
                  <a:schemeClr val="tx1"/>
                </a:solidFill>
              </a:rPr>
              <a:t>Reminders</a:t>
            </a:r>
            <a:endParaRPr lang="en-US" sz="1300" dirty="0"/>
          </a:p>
        </p:txBody>
      </p:sp>
      <p:sp>
        <p:nvSpPr>
          <p:cNvPr id="37" name="Shape 32"/>
          <p:cNvSpPr/>
          <p:nvPr/>
        </p:nvSpPr>
        <p:spPr>
          <a:xfrm>
            <a:off x="9555480" y="4764024"/>
            <a:ext cx="1828800" cy="512064"/>
          </a:xfrm>
          <a:prstGeom prst="roundRect">
            <a:avLst>
              <a:gd name="adj" fmla="val 17857"/>
            </a:avLst>
          </a:prstGeom>
          <a:solidFill>
            <a:schemeClr val="bg1"/>
          </a:solidFill>
          <a:ln w="15875">
            <a:solidFill>
              <a:schemeClr val="accent2"/>
            </a:solidFill>
            <a:prstDash val="solid"/>
          </a:ln>
        </p:spPr>
      </p:sp>
      <p:sp>
        <p:nvSpPr>
          <p:cNvPr id="38" name="Text 33"/>
          <p:cNvSpPr txBox="1"/>
          <p:nvPr/>
        </p:nvSpPr>
        <p:spPr>
          <a:xfrm>
            <a:off x="9555480" y="4764024"/>
            <a:ext cx="1828800" cy="512064"/>
          </a:xfrm>
          <a:prstGeom prst="rect">
            <a:avLst/>
          </a:prstGeom>
          <a:noFill/>
          <a:ln/>
        </p:spPr>
        <p:txBody>
          <a:bodyPr wrap="square" lIns="0" tIns="0" rIns="0" bIns="0" rtlCol="0" anchor="ctr"/>
          <a:lstStyle/>
          <a:p>
            <a:pPr marL="0" indent="0" algn="ctr">
              <a:buNone/>
            </a:pPr>
            <a:r>
              <a:rPr lang="en-US" sz="1300" b="1" dirty="0">
                <a:solidFill>
                  <a:schemeClr val="tx1"/>
                </a:solidFill>
              </a:rPr>
              <a:t>Wearable integration</a:t>
            </a:r>
            <a:endParaRPr lang="en-US" sz="1300" dirty="0"/>
          </a:p>
        </p:txBody>
      </p:sp>
      <p:sp>
        <p:nvSpPr>
          <p:cNvPr id="39" name="Source"/>
          <p:cNvSpPr txBox="1"/>
          <p:nvPr/>
        </p:nvSpPr>
        <p:spPr>
          <a:xfrm>
            <a:off x="548640" y="6053328"/>
            <a:ext cx="11064240" cy="256032"/>
          </a:xfrm>
          <a:prstGeom prst="rect">
            <a:avLst/>
          </a:prstGeom>
          <a:noFill/>
          <a:ln/>
        </p:spPr>
        <p:txBody>
          <a:bodyPr wrap="square" lIns="0" tIns="0" rIns="0" bIns="0" rtlCol="0" anchor="b"/>
          <a:lstStyle/>
          <a:p>
            <a:pPr marL="0" indent="0">
              <a:buNone/>
            </a:pPr>
            <a:r>
              <a:rPr lang="en-US" sz="1000" i="1" dirty="0">
                <a:solidFill>
                  <a:schemeClr val="accent6"/>
                </a:solidFill>
              </a:rPr>
              <a:t>Source: Janicke et al. (2023)</a:t>
            </a:r>
            <a:endParaRPr lang="en-US" sz="1000" dirty="0"/>
          </a:p>
        </p:txBody>
      </p:sp>
      <p:sp>
        <p:nvSpPr>
          <p:cNvPr id="40" name="Slide Number Placeholder 0"/>
          <p:cNvSpPr>
            <a:spLocks noGrp="1"/>
          </p:cNvSpPr>
          <p:nvPr>
            <p:ph type="sldNum" sz="quarter" idx="4294967295"/>
          </p:nvPr>
        </p:nvSpPr>
        <p:spPr>
          <a:xfrm>
            <a:off x="11201400" y="6382512"/>
            <a:ext cx="41148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defRPr>
            </a:lvl1pPr>
          </a:lstStyle>
          <a:p>
            <a:pPr algn="r"/>
            <a:fld id="{F7021451-1387-4CA6-816F-3879F97B5CBC}" type="slidenum">
              <a:rPr lang="en-US" b="0"/>
              <a:t>14</a:t>
            </a:fld>
            <a:endParaRPr lang="en-US"/>
          </a:p>
        </p:txBody>
      </p:sp>
      <p:sp>
        <p:nvSpPr>
          <p:cNvPr id="12" name="Text 9"/>
          <p:cNvSpPr txBox="1"/>
          <p:nvPr/>
        </p:nvSpPr>
        <p:spPr>
          <a:xfrm>
            <a:off x="5751044" y="1801368"/>
            <a:ext cx="1828800" cy="512064"/>
          </a:xfrm>
          <a:prstGeom prst="rect">
            <a:avLst/>
          </a:prstGeom>
          <a:noFill/>
          <a:ln/>
        </p:spPr>
        <p:txBody>
          <a:bodyPr wrap="square" lIns="0" tIns="0" rIns="0" bIns="0" rtlCol="0" anchor="ctr"/>
          <a:lstStyle/>
          <a:p>
            <a:pPr marL="0" indent="0" algn="ctr">
              <a:buNone/>
            </a:pPr>
            <a:r>
              <a:rPr lang="en-US" sz="1300" b="1" dirty="0">
                <a:solidFill>
                  <a:schemeClr val="tx1"/>
                </a:solidFill>
              </a:rPr>
              <a:t>Microservices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40080" y="640080"/>
            <a:ext cx="5486400" cy="731520"/>
          </a:xfrm>
          <a:prstGeom prst="rect">
            <a:avLst/>
          </a:prstGeom>
          <a:noFill/>
          <a:ln/>
        </p:spPr>
        <p:txBody>
          <a:bodyPr wrap="square" lIns="0" tIns="0" rIns="0" bIns="0" rtlCol="0" anchor="t"/>
          <a:lstStyle/>
          <a:p>
            <a:pPr marL="0" indent="0">
              <a:buNone/>
            </a:pPr>
            <a:r>
              <a:rPr lang="en-US" sz="4000" b="1" dirty="0">
                <a:solidFill>
                  <a:schemeClr val="bg1"/>
                </a:solidFill>
                <a:latin typeface="Arial" pitchFamily="34" charset="0"/>
                <a:ea typeface="Arial" pitchFamily="34" charset="-122"/>
                <a:cs typeface="Arial" pitchFamily="34" charset="-120"/>
              </a:rPr>
              <a:t>Conclusion</a:t>
            </a:r>
            <a:endParaRPr lang="en-US" sz="4000" dirty="0"/>
          </a:p>
        </p:txBody>
      </p:sp>
      <p:pic>
        <p:nvPicPr>
          <p:cNvPr id="3" name="Image 0" descr="preencoded.png"/>
          <p:cNvPicPr>
            <a:picLocks noChangeAspect="1"/>
          </p:cNvPicPr>
          <p:nvPr/>
        </p:nvPicPr>
        <p:blipFill>
          <a:blip r:embed="rId3"/>
          <a:stretch>
            <a:fillRect/>
          </a:stretch>
        </p:blipFill>
        <p:spPr>
          <a:xfrm>
            <a:off x="640080" y="1783080"/>
            <a:ext cx="292608" cy="292608"/>
          </a:xfrm>
          <a:prstGeom prst="rect">
            <a:avLst/>
          </a:prstGeom>
        </p:spPr>
      </p:pic>
      <p:sp>
        <p:nvSpPr>
          <p:cNvPr id="4" name="Text 1"/>
          <p:cNvSpPr txBox="1"/>
          <p:nvPr/>
        </p:nvSpPr>
        <p:spPr>
          <a:xfrm>
            <a:off x="1097280" y="1719072"/>
            <a:ext cx="5486400" cy="420624"/>
          </a:xfrm>
          <a:prstGeom prst="rect">
            <a:avLst/>
          </a:prstGeom>
          <a:noFill/>
          <a:ln/>
        </p:spPr>
        <p:txBody>
          <a:bodyPr wrap="square" lIns="0" tIns="0" rIns="0" bIns="0" rtlCol="0" anchor="ctr"/>
          <a:lstStyle/>
          <a:p>
            <a:pPr marL="0" indent="0">
              <a:buNone/>
            </a:pPr>
            <a:r>
              <a:rPr lang="en-US" sz="1800" dirty="0">
                <a:solidFill>
                  <a:schemeClr val="bg1"/>
                </a:solidFill>
              </a:rPr>
              <a:t>Built and deployed a full-stack wellness tracker</a:t>
            </a:r>
            <a:endParaRPr lang="en-US" sz="1800" dirty="0"/>
          </a:p>
        </p:txBody>
      </p:sp>
      <p:pic>
        <p:nvPicPr>
          <p:cNvPr id="7" name="Image 2" descr="preencoded.png"/>
          <p:cNvPicPr>
            <a:picLocks noChangeAspect="1"/>
          </p:cNvPicPr>
          <p:nvPr/>
        </p:nvPicPr>
        <p:blipFill>
          <a:blip r:embed="rId3"/>
          <a:stretch>
            <a:fillRect/>
          </a:stretch>
        </p:blipFill>
        <p:spPr>
          <a:xfrm>
            <a:off x="627985" y="2446093"/>
            <a:ext cx="292608" cy="292608"/>
          </a:xfrm>
          <a:prstGeom prst="rect">
            <a:avLst/>
          </a:prstGeom>
        </p:spPr>
      </p:pic>
      <p:sp>
        <p:nvSpPr>
          <p:cNvPr id="8" name="Text 3"/>
          <p:cNvSpPr txBox="1"/>
          <p:nvPr/>
        </p:nvSpPr>
        <p:spPr>
          <a:xfrm>
            <a:off x="1085185" y="2382085"/>
            <a:ext cx="5486400" cy="420624"/>
          </a:xfrm>
          <a:prstGeom prst="rect">
            <a:avLst/>
          </a:prstGeom>
          <a:noFill/>
          <a:ln/>
        </p:spPr>
        <p:txBody>
          <a:bodyPr wrap="square" lIns="0" tIns="0" rIns="0" bIns="0" rtlCol="0" anchor="ctr"/>
          <a:lstStyle/>
          <a:p>
            <a:pPr marL="0" indent="0">
              <a:buNone/>
            </a:pPr>
            <a:r>
              <a:rPr lang="en-US" sz="1800" dirty="0">
                <a:solidFill>
                  <a:schemeClr val="bg1"/>
                </a:solidFill>
              </a:rPr>
              <a:t>Clean three-tier, modular architecture</a:t>
            </a:r>
            <a:endParaRPr lang="en-US" sz="1800" dirty="0"/>
          </a:p>
        </p:txBody>
      </p:sp>
      <p:pic>
        <p:nvPicPr>
          <p:cNvPr id="9" name="Image 3" descr="preencoded.png"/>
          <p:cNvPicPr>
            <a:picLocks noChangeAspect="1"/>
          </p:cNvPicPr>
          <p:nvPr/>
        </p:nvPicPr>
        <p:blipFill>
          <a:blip r:embed="rId3"/>
          <a:stretch>
            <a:fillRect/>
          </a:stretch>
        </p:blipFill>
        <p:spPr>
          <a:xfrm>
            <a:off x="627985" y="3067885"/>
            <a:ext cx="292608" cy="292608"/>
          </a:xfrm>
          <a:prstGeom prst="rect">
            <a:avLst/>
          </a:prstGeom>
        </p:spPr>
      </p:pic>
      <p:sp>
        <p:nvSpPr>
          <p:cNvPr id="10" name="Text 4"/>
          <p:cNvSpPr txBox="1"/>
          <p:nvPr/>
        </p:nvSpPr>
        <p:spPr>
          <a:xfrm>
            <a:off x="1085185" y="3003877"/>
            <a:ext cx="5486400" cy="420624"/>
          </a:xfrm>
          <a:prstGeom prst="rect">
            <a:avLst/>
          </a:prstGeom>
          <a:noFill/>
          <a:ln/>
        </p:spPr>
        <p:txBody>
          <a:bodyPr wrap="square" lIns="0" tIns="0" rIns="0" bIns="0" rtlCol="0" anchor="ctr"/>
          <a:lstStyle/>
          <a:p>
            <a:pPr marL="0" indent="0">
              <a:buNone/>
            </a:pPr>
            <a:r>
              <a:rPr lang="en-US" sz="1800" dirty="0">
                <a:solidFill>
                  <a:schemeClr val="bg1"/>
                </a:solidFill>
              </a:rPr>
              <a:t>Live on Vercel + Render, secure and tested</a:t>
            </a:r>
            <a:endParaRPr lang="en-US" sz="1800" dirty="0"/>
          </a:p>
        </p:txBody>
      </p:sp>
      <p:pic>
        <p:nvPicPr>
          <p:cNvPr id="11" name="Image 4" descr="preencoded.png"/>
          <p:cNvPicPr>
            <a:picLocks noChangeAspect="1"/>
          </p:cNvPicPr>
          <p:nvPr/>
        </p:nvPicPr>
        <p:blipFill>
          <a:blip r:embed="rId3"/>
          <a:stretch>
            <a:fillRect/>
          </a:stretch>
        </p:blipFill>
        <p:spPr>
          <a:xfrm>
            <a:off x="627985" y="3689677"/>
            <a:ext cx="292608" cy="292608"/>
          </a:xfrm>
          <a:prstGeom prst="rect">
            <a:avLst/>
          </a:prstGeom>
        </p:spPr>
      </p:pic>
      <p:sp>
        <p:nvSpPr>
          <p:cNvPr id="12" name="Text 5"/>
          <p:cNvSpPr txBox="1"/>
          <p:nvPr/>
        </p:nvSpPr>
        <p:spPr>
          <a:xfrm>
            <a:off x="1085185" y="3625669"/>
            <a:ext cx="5486400" cy="420624"/>
          </a:xfrm>
          <a:prstGeom prst="rect">
            <a:avLst/>
          </a:prstGeom>
          <a:noFill/>
          <a:ln/>
        </p:spPr>
        <p:txBody>
          <a:bodyPr wrap="square" lIns="0" tIns="0" rIns="0" bIns="0" rtlCol="0" anchor="ctr"/>
          <a:lstStyle/>
          <a:p>
            <a:pPr marL="0" indent="0">
              <a:buNone/>
            </a:pPr>
            <a:r>
              <a:rPr lang="en-US" sz="1800" dirty="0">
                <a:solidFill>
                  <a:schemeClr val="bg1"/>
                </a:solidFill>
              </a:rPr>
              <a:t>Clear pathway for future enhancements</a:t>
            </a:r>
            <a:endParaRPr lang="en-US" sz="1800" dirty="0"/>
          </a:p>
        </p:txBody>
      </p:sp>
      <p:sp>
        <p:nvSpPr>
          <p:cNvPr id="13" name="Shape 6"/>
          <p:cNvSpPr/>
          <p:nvPr/>
        </p:nvSpPr>
        <p:spPr>
          <a:xfrm>
            <a:off x="7589520" y="1280160"/>
            <a:ext cx="3931920" cy="1188720"/>
          </a:xfrm>
          <a:prstGeom prst="roundRect">
            <a:avLst>
              <a:gd name="adj" fmla="val 9231"/>
            </a:avLst>
          </a:prstGeom>
          <a:solidFill>
            <a:schemeClr val="tx2"/>
          </a:solidFill>
          <a:ln w="12700">
            <a:solidFill>
              <a:schemeClr val="tx2"/>
            </a:solidFill>
            <a:prstDash val="solid"/>
          </a:ln>
        </p:spPr>
      </p:sp>
      <p:sp>
        <p:nvSpPr>
          <p:cNvPr id="14" name="Text 7"/>
          <p:cNvSpPr txBox="1"/>
          <p:nvPr/>
        </p:nvSpPr>
        <p:spPr>
          <a:xfrm>
            <a:off x="7863840" y="1280160"/>
            <a:ext cx="1097280" cy="1188720"/>
          </a:xfrm>
          <a:prstGeom prst="rect">
            <a:avLst/>
          </a:prstGeom>
          <a:noFill/>
          <a:ln/>
        </p:spPr>
        <p:txBody>
          <a:bodyPr wrap="square" lIns="0" tIns="0" rIns="0" bIns="0" rtlCol="0" anchor="ctr"/>
          <a:lstStyle/>
          <a:p>
            <a:pPr marL="0" indent="0">
              <a:buNone/>
            </a:pPr>
            <a:r>
              <a:rPr lang="en-US" sz="5400" b="1" dirty="0">
                <a:solidFill>
                  <a:schemeClr val="accent1"/>
                </a:solidFill>
                <a:latin typeface="Arial" pitchFamily="34" charset="0"/>
                <a:ea typeface="Arial" pitchFamily="34" charset="-122"/>
                <a:cs typeface="Arial" pitchFamily="34" charset="-120"/>
              </a:rPr>
              <a:t>5</a:t>
            </a:r>
            <a:endParaRPr lang="en-US" sz="5400" dirty="0"/>
          </a:p>
        </p:txBody>
      </p:sp>
      <p:sp>
        <p:nvSpPr>
          <p:cNvPr id="15" name="Text 8"/>
          <p:cNvSpPr txBox="1"/>
          <p:nvPr/>
        </p:nvSpPr>
        <p:spPr>
          <a:xfrm>
            <a:off x="8961120" y="1280160"/>
            <a:ext cx="2468880" cy="1188720"/>
          </a:xfrm>
          <a:prstGeom prst="rect">
            <a:avLst/>
          </a:prstGeom>
          <a:noFill/>
          <a:ln/>
        </p:spPr>
        <p:txBody>
          <a:bodyPr wrap="square" lIns="0" tIns="0" rIns="0" bIns="0" rtlCol="0" anchor="ctr"/>
          <a:lstStyle/>
          <a:p>
            <a:pPr marL="0" indent="0">
              <a:buNone/>
            </a:pPr>
            <a:r>
              <a:rPr lang="en-US" sz="1800" dirty="0">
                <a:solidFill>
                  <a:schemeClr val="bg1"/>
                </a:solidFill>
              </a:rPr>
              <a:t>wellness modules</a:t>
            </a:r>
            <a:endParaRPr lang="en-US" sz="1800" dirty="0"/>
          </a:p>
        </p:txBody>
      </p:sp>
      <p:sp>
        <p:nvSpPr>
          <p:cNvPr id="16" name="Shape 9"/>
          <p:cNvSpPr/>
          <p:nvPr/>
        </p:nvSpPr>
        <p:spPr>
          <a:xfrm>
            <a:off x="7589520" y="2697480"/>
            <a:ext cx="3931920" cy="1188720"/>
          </a:xfrm>
          <a:prstGeom prst="roundRect">
            <a:avLst>
              <a:gd name="adj" fmla="val 9231"/>
            </a:avLst>
          </a:prstGeom>
          <a:solidFill>
            <a:schemeClr val="tx2"/>
          </a:solidFill>
          <a:ln w="12700">
            <a:solidFill>
              <a:schemeClr val="tx2"/>
            </a:solidFill>
            <a:prstDash val="solid"/>
          </a:ln>
        </p:spPr>
      </p:sp>
      <p:sp>
        <p:nvSpPr>
          <p:cNvPr id="17" name="Text 10"/>
          <p:cNvSpPr txBox="1"/>
          <p:nvPr/>
        </p:nvSpPr>
        <p:spPr>
          <a:xfrm>
            <a:off x="7863840" y="2697480"/>
            <a:ext cx="1097280" cy="1188720"/>
          </a:xfrm>
          <a:prstGeom prst="rect">
            <a:avLst/>
          </a:prstGeom>
          <a:noFill/>
          <a:ln/>
        </p:spPr>
        <p:txBody>
          <a:bodyPr wrap="square" lIns="0" tIns="0" rIns="0" bIns="0" rtlCol="0" anchor="ctr"/>
          <a:lstStyle/>
          <a:p>
            <a:pPr marL="0" indent="0">
              <a:buNone/>
            </a:pPr>
            <a:r>
              <a:rPr lang="en-US" sz="5400" b="1" dirty="0">
                <a:solidFill>
                  <a:schemeClr val="accent1"/>
                </a:solidFill>
                <a:latin typeface="Arial" pitchFamily="34" charset="0"/>
                <a:ea typeface="Arial" pitchFamily="34" charset="-122"/>
                <a:cs typeface="Arial" pitchFamily="34" charset="-120"/>
              </a:rPr>
              <a:t>3</a:t>
            </a:r>
            <a:endParaRPr lang="en-US" sz="5400" dirty="0"/>
          </a:p>
        </p:txBody>
      </p:sp>
      <p:sp>
        <p:nvSpPr>
          <p:cNvPr id="18" name="Text 11"/>
          <p:cNvSpPr txBox="1"/>
          <p:nvPr/>
        </p:nvSpPr>
        <p:spPr>
          <a:xfrm>
            <a:off x="8961120" y="2697480"/>
            <a:ext cx="2468880" cy="1188720"/>
          </a:xfrm>
          <a:prstGeom prst="rect">
            <a:avLst/>
          </a:prstGeom>
          <a:noFill/>
          <a:ln/>
        </p:spPr>
        <p:txBody>
          <a:bodyPr wrap="square" lIns="0" tIns="0" rIns="0" bIns="0" rtlCol="0" anchor="ctr"/>
          <a:lstStyle/>
          <a:p>
            <a:pPr marL="0" indent="0">
              <a:buNone/>
            </a:pPr>
            <a:r>
              <a:rPr lang="en-US" sz="1800" dirty="0">
                <a:solidFill>
                  <a:schemeClr val="bg1"/>
                </a:solidFill>
              </a:rPr>
              <a:t>architecture tiers</a:t>
            </a:r>
            <a:endParaRPr lang="en-US" sz="1800" dirty="0"/>
          </a:p>
        </p:txBody>
      </p:sp>
      <p:sp>
        <p:nvSpPr>
          <p:cNvPr id="19" name="Shape 12"/>
          <p:cNvSpPr/>
          <p:nvPr/>
        </p:nvSpPr>
        <p:spPr>
          <a:xfrm>
            <a:off x="7589520" y="4114800"/>
            <a:ext cx="3931920" cy="1188720"/>
          </a:xfrm>
          <a:prstGeom prst="roundRect">
            <a:avLst>
              <a:gd name="adj" fmla="val 9231"/>
            </a:avLst>
          </a:prstGeom>
          <a:solidFill>
            <a:schemeClr val="tx2"/>
          </a:solidFill>
          <a:ln w="12700">
            <a:solidFill>
              <a:schemeClr val="tx2"/>
            </a:solidFill>
            <a:prstDash val="solid"/>
          </a:ln>
        </p:spPr>
      </p:sp>
      <p:sp>
        <p:nvSpPr>
          <p:cNvPr id="20" name="Text 13"/>
          <p:cNvSpPr txBox="1"/>
          <p:nvPr/>
        </p:nvSpPr>
        <p:spPr>
          <a:xfrm>
            <a:off x="7863840" y="4114800"/>
            <a:ext cx="1097280" cy="1188720"/>
          </a:xfrm>
          <a:prstGeom prst="rect">
            <a:avLst/>
          </a:prstGeom>
          <a:noFill/>
          <a:ln/>
        </p:spPr>
        <p:txBody>
          <a:bodyPr wrap="square" lIns="0" tIns="0" rIns="0" bIns="0" rtlCol="0" anchor="ctr"/>
          <a:lstStyle/>
          <a:p>
            <a:pPr marL="0" indent="0">
              <a:buNone/>
            </a:pPr>
            <a:r>
              <a:rPr lang="en-US" sz="5400" b="1" dirty="0">
                <a:solidFill>
                  <a:schemeClr val="accent1"/>
                </a:solidFill>
                <a:latin typeface="Arial" pitchFamily="34" charset="0"/>
                <a:ea typeface="Arial" pitchFamily="34" charset="-122"/>
                <a:cs typeface="Arial" pitchFamily="34" charset="-120"/>
              </a:rPr>
              <a:t>7</a:t>
            </a:r>
            <a:endParaRPr lang="en-US" sz="5400" dirty="0"/>
          </a:p>
        </p:txBody>
      </p:sp>
      <p:sp>
        <p:nvSpPr>
          <p:cNvPr id="21" name="Text 14"/>
          <p:cNvSpPr txBox="1"/>
          <p:nvPr/>
        </p:nvSpPr>
        <p:spPr>
          <a:xfrm>
            <a:off x="8961120" y="4114800"/>
            <a:ext cx="2468880" cy="1188720"/>
          </a:xfrm>
          <a:prstGeom prst="rect">
            <a:avLst/>
          </a:prstGeom>
          <a:noFill/>
          <a:ln/>
        </p:spPr>
        <p:txBody>
          <a:bodyPr wrap="square" lIns="0" tIns="0" rIns="0" bIns="0" rtlCol="0" anchor="ctr"/>
          <a:lstStyle/>
          <a:p>
            <a:pPr marL="0" indent="0">
              <a:buNone/>
            </a:pPr>
            <a:r>
              <a:rPr lang="en-US" sz="1800" dirty="0">
                <a:solidFill>
                  <a:schemeClr val="bg1"/>
                </a:solidFill>
              </a:rPr>
              <a:t>database tables</a:t>
            </a:r>
            <a:endParaRPr lang="en-US" sz="1800" dirty="0"/>
          </a:p>
        </p:txBody>
      </p:sp>
      <p:sp>
        <p:nvSpPr>
          <p:cNvPr id="22" name="Text 15"/>
          <p:cNvSpPr txBox="1"/>
          <p:nvPr/>
        </p:nvSpPr>
        <p:spPr>
          <a:xfrm>
            <a:off x="640080" y="5577840"/>
            <a:ext cx="6400800" cy="548640"/>
          </a:xfrm>
          <a:prstGeom prst="rect">
            <a:avLst/>
          </a:prstGeom>
          <a:noFill/>
          <a:ln/>
        </p:spPr>
        <p:txBody>
          <a:bodyPr wrap="square" lIns="0" tIns="0" rIns="0" bIns="0" rtlCol="0" anchor="t"/>
          <a:lstStyle/>
          <a:p>
            <a:pPr marL="0" indent="0">
              <a:buNone/>
            </a:pPr>
            <a:r>
              <a:rPr lang="en-US" sz="2400" b="1" dirty="0">
                <a:solidFill>
                  <a:schemeClr val="accent1"/>
                </a:solidFill>
                <a:latin typeface="Arial" pitchFamily="34" charset="0"/>
                <a:ea typeface="Arial" pitchFamily="34" charset="-122"/>
                <a:cs typeface="Arial" pitchFamily="34" charset="-120"/>
              </a:rPr>
              <a:t>Thank you — questions?</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64240" cy="731520"/>
          </a:xfrm>
          <a:prstGeom prst="rect">
            <a:avLst/>
          </a:prstGeom>
          <a:noFill/>
          <a:ln/>
        </p:spPr>
        <p:txBody>
          <a:bodyPr wrap="square" lIns="0" tIns="0" rIns="0" bIns="0" rtlCol="0" anchor="ctr"/>
          <a:lstStyle/>
          <a:p>
            <a:pPr marL="0" indent="0" algn="l">
              <a:buNone/>
            </a:pPr>
            <a:r>
              <a:rPr lang="en-US" sz="3400" b="1" dirty="0">
                <a:solidFill>
                  <a:schemeClr val="tx1"/>
                </a:solidFill>
                <a:latin typeface="Arial" pitchFamily="34" charset="0"/>
                <a:ea typeface="Arial" pitchFamily="34" charset="-122"/>
                <a:cs typeface="Arial" pitchFamily="34" charset="-120"/>
              </a:rPr>
              <a:t>References</a:t>
            </a:r>
            <a:endParaRPr lang="en-US" sz="3400" dirty="0"/>
          </a:p>
        </p:txBody>
      </p:sp>
      <p:sp>
        <p:nvSpPr>
          <p:cNvPr id="3" name="Text 1"/>
          <p:cNvSpPr txBox="1"/>
          <p:nvPr/>
        </p:nvSpPr>
        <p:spPr>
          <a:xfrm>
            <a:off x="548640" y="1325880"/>
            <a:ext cx="11064240" cy="4846320"/>
          </a:xfrm>
          <a:prstGeom prst="rect">
            <a:avLst/>
          </a:prstGeom>
          <a:noFill/>
          <a:ln/>
        </p:spPr>
        <p:txBody>
          <a:bodyPr wrap="square" lIns="0" tIns="0" rIns="0" bIns="0" rtlCol="0" anchor="t"/>
          <a:lstStyle/>
          <a:p>
            <a:pPr marL="0" indent="0">
              <a:buNone/>
            </a:pPr>
            <a:r>
              <a:rPr lang="en-US" sz="1200" dirty="0">
                <a:solidFill>
                  <a:schemeClr val="tx1"/>
                </a:solidFill>
              </a:rPr>
              <a:t>Castilho, R. (2023). </a:t>
            </a:r>
            <a:r>
              <a:rPr lang="en-US" sz="1200" i="1" dirty="0">
                <a:solidFill>
                  <a:schemeClr val="tx1"/>
                </a:solidFill>
              </a:rPr>
              <a:t>Fetch API — Understanding JavaScript API requests and responses in the data fetching lifecycle.</a:t>
            </a:r>
            <a:r>
              <a:rPr lang="en-US" sz="1200" dirty="0">
                <a:solidFill>
                  <a:schemeClr val="tx1"/>
                </a:solidFill>
              </a:rPr>
              <a:t> https://dev.to/rodcast/fetch-api-understanding-javascript-api-requests-and-responses-in-the-data-fetching-lifecycle-407k</a:t>
            </a:r>
            <a:endParaRPr lang="en-US" sz="1200" dirty="0"/>
          </a:p>
          <a:p>
            <a:pPr marL="0" indent="0">
              <a:buNone/>
            </a:pPr>
            <a:r>
              <a:rPr lang="en-US" sz="1200" dirty="0">
                <a:solidFill>
                  <a:schemeClr val="tx1"/>
                </a:solidFill>
              </a:rPr>
              <a:t>Chen, S., Thaduri, U. R., &amp; Ballamudi, V. K. R. (2019). Front-end development in React: An overview. </a:t>
            </a:r>
            <a:r>
              <a:rPr lang="en-US" sz="1200" i="1" dirty="0">
                <a:solidFill>
                  <a:schemeClr val="tx1"/>
                </a:solidFill>
              </a:rPr>
              <a:t>Engineering International, 7</a:t>
            </a:r>
            <a:r>
              <a:rPr lang="en-US" sz="1200" dirty="0">
                <a:solidFill>
                  <a:schemeClr val="tx1"/>
                </a:solidFill>
              </a:rPr>
              <a:t>(2), 117–126. https://doi.org/10.18034/EI.V7I2.662</a:t>
            </a:r>
            <a:endParaRPr lang="en-US" sz="1200" dirty="0"/>
          </a:p>
          <a:p>
            <a:pPr marL="0" indent="0">
              <a:buNone/>
            </a:pPr>
            <a:r>
              <a:rPr lang="en-US" sz="1200" dirty="0">
                <a:solidFill>
                  <a:schemeClr val="tx1"/>
                </a:solidFill>
              </a:rPr>
              <a:t>Donham, P. (2017). </a:t>
            </a:r>
            <a:r>
              <a:rPr lang="en-US" sz="1200" i="1" dirty="0">
                <a:solidFill>
                  <a:schemeClr val="tx1"/>
                </a:solidFill>
              </a:rPr>
              <a:t>Using JWTs for authentication in RESTful applications.</a:t>
            </a:r>
            <a:r>
              <a:rPr lang="en-US" sz="1200" dirty="0">
                <a:solidFill>
                  <a:schemeClr val="tx1"/>
                </a:solidFill>
              </a:rPr>
              <a:t> https://sites.bu.edu/perryd/2017/12/28/using-jwts-for-authentication-in-restful-applications/</a:t>
            </a:r>
            <a:endParaRPr lang="en-US" sz="1200" dirty="0"/>
          </a:p>
          <a:p>
            <a:pPr marL="0" indent="0">
              <a:buNone/>
            </a:pPr>
            <a:r>
              <a:rPr lang="en-US" sz="1200" dirty="0">
                <a:solidFill>
                  <a:schemeClr val="tx1"/>
                </a:solidFill>
              </a:rPr>
              <a:t>Hasnain, M., Pasha, M. F., Ghani, I., &amp; Jeong, S. R. (2021). Functional requirement-based test case prioritization in regression testing: A systematic literature review. </a:t>
            </a:r>
            <a:r>
              <a:rPr lang="en-US" sz="1200" i="1" dirty="0">
                <a:solidFill>
                  <a:schemeClr val="tx1"/>
                </a:solidFill>
              </a:rPr>
              <a:t>SN Computer Science, 2</a:t>
            </a:r>
            <a:r>
              <a:rPr lang="en-US" sz="1200" dirty="0">
                <a:solidFill>
                  <a:schemeClr val="tx1"/>
                </a:solidFill>
              </a:rPr>
              <a:t>(6), 421. https://doi.org/10.1007/S42979-021-00821-3</a:t>
            </a:r>
            <a:endParaRPr lang="en-US" sz="1200" dirty="0"/>
          </a:p>
          <a:p>
            <a:pPr marL="0" indent="0">
              <a:buNone/>
            </a:pPr>
            <a:r>
              <a:rPr lang="en-US" sz="1200" dirty="0">
                <a:solidFill>
                  <a:schemeClr val="tx1"/>
                </a:solidFill>
              </a:rPr>
              <a:t>Janicke, H., Amine Ferrag, M., Aparicio-Navarro, F. J., Bucko, A., Vishi, K., Krasniqi, B., &amp; Rexha, B. (2023). Enhancing JWT authentication and authorization in web applications based on user behavior history. </a:t>
            </a:r>
            <a:r>
              <a:rPr lang="en-US" sz="1200" i="1" dirty="0">
                <a:solidFill>
                  <a:schemeClr val="tx1"/>
                </a:solidFill>
              </a:rPr>
              <a:t>Computers, 12</a:t>
            </a:r>
            <a:r>
              <a:rPr lang="en-US" sz="1200" dirty="0">
                <a:solidFill>
                  <a:schemeClr val="tx1"/>
                </a:solidFill>
              </a:rPr>
              <a:t>(4), 78. https://doi.org/10.3390/COMPUTERS12040078</a:t>
            </a:r>
            <a:endParaRPr lang="en-US" sz="1200" dirty="0"/>
          </a:p>
          <a:p>
            <a:pPr marL="0" indent="0">
              <a:buNone/>
            </a:pPr>
            <a:r>
              <a:rPr lang="en-US" sz="1200" dirty="0">
                <a:solidFill>
                  <a:schemeClr val="tx1"/>
                </a:solidFill>
              </a:rPr>
              <a:t>Mamun, A. M. Al. (2021). </a:t>
            </a:r>
            <a:r>
              <a:rPr lang="en-US" sz="1200" i="1" dirty="0">
                <a:solidFill>
                  <a:schemeClr val="tx1"/>
                </a:solidFill>
              </a:rPr>
              <a:t>What is PostgreSQL? Open-source database system.</a:t>
            </a:r>
            <a:r>
              <a:rPr lang="en-US" sz="1200" dirty="0">
                <a:solidFill>
                  <a:schemeClr val="tx1"/>
                </a:solidFill>
              </a:rPr>
              <a:t> Server Watch. https://www.serverwatch.com/guides/what-is-postgresql/</a:t>
            </a:r>
            <a:endParaRPr lang="en-US" sz="1200" dirty="0"/>
          </a:p>
          <a:p>
            <a:pPr marL="0" indent="0">
              <a:buNone/>
            </a:pPr>
            <a:r>
              <a:rPr lang="en-US" sz="1200" dirty="0">
                <a:solidFill>
                  <a:schemeClr val="tx1"/>
                </a:solidFill>
              </a:rPr>
              <a:t>Urnikiene, J., Steponaviciene, V., &amp; Atanasov, S. (2026). Comparative read performance analysis of PostgreSQL and MongoDB in e-commerce: An empirical study of filtering and analytical queries. </a:t>
            </a:r>
            <a:r>
              <a:rPr lang="en-US" sz="1200" i="1" dirty="0">
                <a:solidFill>
                  <a:schemeClr val="tx1"/>
                </a:solidFill>
              </a:rPr>
              <a:t>Big Data and Cognitive Computing, 10</a:t>
            </a:r>
            <a:r>
              <a:rPr lang="en-US" sz="1200" dirty="0">
                <a:solidFill>
                  <a:schemeClr val="tx1"/>
                </a:solidFill>
              </a:rPr>
              <a:t>(2), 66. https://doi.org/10.3390/BDCC10020066</a:t>
            </a:r>
            <a:endParaRPr lang="en-US" sz="1200" dirty="0"/>
          </a:p>
        </p:txBody>
      </p:sp>
      <p:sp>
        <p:nvSpPr>
          <p:cNvPr id="25" name="Slide Number Placeholder 0"/>
          <p:cNvSpPr>
            <a:spLocks noGrp="1"/>
          </p:cNvSpPr>
          <p:nvPr>
            <p:ph type="sldNum" sz="quarter" idx="4294967295"/>
          </p:nvPr>
        </p:nvSpPr>
        <p:spPr>
          <a:xfrm>
            <a:off x="11201400" y="6382512"/>
            <a:ext cx="41148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defRPr>
            </a:lvl1pPr>
          </a:lstStyle>
          <a:p>
            <a:pPr algn="r"/>
            <a:fld id="{F7021451-1387-4CA6-816F-3879F97B5CBC}" type="slidenum">
              <a:rPr lang="en-US" b="0"/>
              <a:t>16</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64240" cy="731520"/>
          </a:xfrm>
          <a:prstGeom prst="rect">
            <a:avLst/>
          </a:prstGeom>
          <a:noFill/>
          <a:ln/>
        </p:spPr>
        <p:txBody>
          <a:bodyPr wrap="square" lIns="0" tIns="0" rIns="0" bIns="0" rtlCol="0" anchor="ctr"/>
          <a:lstStyle/>
          <a:p>
            <a:pPr marL="0" indent="0" algn="l">
              <a:buNone/>
            </a:pPr>
            <a:r>
              <a:rPr lang="en-US" sz="3400" b="1" dirty="0">
                <a:solidFill>
                  <a:schemeClr val="tx1"/>
                </a:solidFill>
                <a:latin typeface="Arial" pitchFamily="34" charset="0"/>
                <a:ea typeface="Arial" pitchFamily="34" charset="-122"/>
                <a:cs typeface="Arial" pitchFamily="34" charset="-120"/>
              </a:rPr>
              <a:t>Test results</a:t>
            </a:r>
            <a:endParaRPr lang="en-US" sz="3400" dirty="0"/>
          </a:p>
        </p:txBody>
      </p:sp>
      <p:sp>
        <p:nvSpPr>
          <p:cNvPr id="25" name="Slide Number Placeholder 0"/>
          <p:cNvSpPr>
            <a:spLocks noGrp="1"/>
          </p:cNvSpPr>
          <p:nvPr>
            <p:ph type="sldNum" sz="quarter" idx="4294967295"/>
          </p:nvPr>
        </p:nvSpPr>
        <p:spPr>
          <a:xfrm>
            <a:off x="11201400" y="6382512"/>
            <a:ext cx="41148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6"/>
                </a:solidFill>
              </a:defRPr>
            </a:lvl1pPr>
          </a:lstStyle>
          <a:p>
            <a:pPr algn="r"/>
            <a:fld id="{F7021451-1387-4CA6-816F-3879F97B5CBC}" type="slidenum">
              <a:rPr lang="en-US" b="0"/>
              <a:t>12</a:t>
            </a:fld>
            <a:endParaRPr lang="en-US"/>
          </a:p>
        </p:txBody>
      </p:sp>
      <p:graphicFrame>
        <p:nvGraphicFramePr>
          <p:cNvPr id="50" name="Test results table"/>
          <p:cNvGraphicFramePr>
            <a:graphicFrameLocks noGrp="1"/>
          </p:cNvGraphicFramePr>
          <p:nvPr/>
        </p:nvGraphicFramePr>
        <p:xfrm>
          <a:off x="548640" y="1325880"/>
          <a:ext cx="7086600" cy="4059936"/>
        </p:xfrm>
        <a:graphic>
          <a:graphicData uri="http://schemas.openxmlformats.org/drawingml/2006/table">
            <a:tbl>
              <a:tblPr firstRow="1"/>
              <a:tblGrid>
                <a:gridCol w="3931920"/>
                <a:gridCol w="2286000"/>
                <a:gridCol w="868680"/>
              </a:tblGrid>
              <a:tr h="338328">
                <a:tc>
                  <a:txBody>
                    <a:bodyPr/>
                    <a:lstStyle/>
                    <a:p>
                      <a:r>
                        <a:rPr lang="en-US" sz="1200" b="1" dirty="0">
                          <a:solidFill>
                            <a:srgbClr val="FFFFFF"/>
                          </a:solidFill>
                          <a:latin typeface="Calibri"/>
                        </a:rPr>
                        <a:t>Test case</a:t>
                      </a:r>
                    </a:p>
                  </a:txBody>
                  <a:tcPr marL="91440" marR="91440" marT="45720" marB="45720" anchor="ctr">
                    <a:lnL w="6350">
                      <a:solidFill>
                        <a:srgbClr val="E3E6EA"/>
                      </a:solidFill>
                    </a:lnL>
                    <a:lnR w="6350">
                      <a:solidFill>
                        <a:srgbClr val="E3E6EA"/>
                      </a:solidFill>
                    </a:lnR>
                    <a:lnT w="6350">
                      <a:solidFill>
                        <a:srgbClr val="E3E6EA"/>
                      </a:solidFill>
                    </a:lnT>
                    <a:lnB w="6350">
                      <a:solidFill>
                        <a:srgbClr val="E3E6EA"/>
                      </a:solidFill>
                    </a:lnB>
                    <a:solidFill>
                      <a:schemeClr val="tx2"/>
                    </a:solidFill>
                  </a:tcPr>
                </a:tc>
                <a:tc>
                  <a:txBody>
                    <a:bodyPr/>
                    <a:lstStyle/>
                    <a:p>
                      <a:r>
                        <a:rPr lang="en-US" sz="1200" b="1" dirty="0">
                          <a:solidFill>
                            <a:srgbClr val="FFFFFF"/>
                          </a:solidFill>
                          <a:latin typeface="Calibri"/>
                        </a:rPr>
                        <a:t>Expected</a:t>
                      </a:r>
                    </a:p>
                  </a:txBody>
                  <a:tcPr marL="91440" marR="91440" marT="45720" marB="45720" anchor="ctr">
                    <a:lnL w="6350">
                      <a:solidFill>
                        <a:srgbClr val="E3E6EA"/>
                      </a:solidFill>
                    </a:lnL>
                    <a:lnR w="6350">
                      <a:solidFill>
                        <a:srgbClr val="E3E6EA"/>
                      </a:solidFill>
                    </a:lnR>
                    <a:lnT w="6350">
                      <a:solidFill>
                        <a:srgbClr val="E3E6EA"/>
                      </a:solidFill>
                    </a:lnT>
                    <a:lnB w="6350">
                      <a:solidFill>
                        <a:srgbClr val="E3E6EA"/>
                      </a:solidFill>
                    </a:lnB>
                    <a:solidFill>
                      <a:schemeClr val="tx2"/>
                    </a:solidFill>
                  </a:tcPr>
                </a:tc>
                <a:tc>
                  <a:txBody>
                    <a:bodyPr/>
                    <a:lstStyle/>
                    <a:p>
                      <a:r>
                        <a:rPr lang="en-US" sz="1200" b="1" dirty="0">
                          <a:solidFill>
                            <a:srgbClr val="FFFFFF"/>
                          </a:solidFill>
                          <a:latin typeface="Calibri"/>
                        </a:rPr>
                        <a:t>Result</a:t>
                      </a:r>
                    </a:p>
                  </a:txBody>
                  <a:tcPr marL="91440" marR="91440" marT="45720" marB="45720" anchor="ctr">
                    <a:lnL w="6350">
                      <a:solidFill>
                        <a:srgbClr val="E3E6EA"/>
                      </a:solidFill>
                    </a:lnL>
                    <a:lnR w="6350">
                      <a:solidFill>
                        <a:srgbClr val="E3E6EA"/>
                      </a:solidFill>
                    </a:lnR>
                    <a:lnT w="6350">
                      <a:solidFill>
                        <a:srgbClr val="E3E6EA"/>
                      </a:solidFill>
                    </a:lnT>
                    <a:lnB w="6350">
                      <a:solidFill>
                        <a:srgbClr val="E3E6EA"/>
                      </a:solidFill>
                    </a:lnB>
                    <a:solidFill>
                      <a:schemeClr val="tx2"/>
                    </a:solidFill>
                  </a:tcPr>
                </a:tc>
              </a:tr>
              <a:tr h="338328">
                <a:tc>
                  <a:txBody>
                    <a:bodyPr/>
                    <a:lstStyle/>
                    <a:p>
                      <a:r>
                        <a:rPr lang="en-US" sz="1200" dirty="0">
                          <a:solidFill>
                            <a:srgbClr val="1E2633"/>
                          </a:solidFill>
                          <a:latin typeface="Calibri"/>
                        </a:rPr>
                        <a:t>Register a new account</a:t>
                      </a:r>
                    </a:p>
                  </a:txBody>
                  <a:tcPr marL="91440" marR="91440" marT="45720" marB="45720" anchor="ctr">
                    <a:lnL w="6350">
                      <a:solidFill>
                        <a:srgbClr val="E3E6EA"/>
                      </a:solidFill>
                    </a:lnL>
                    <a:lnR w="6350">
                      <a:solidFill>
                        <a:srgbClr val="E3E6EA"/>
                      </a:solidFill>
                    </a:lnR>
                    <a:lnT w="6350">
                      <a:solidFill>
                        <a:srgbClr val="E3E6EA"/>
                      </a:solidFill>
                    </a:lnT>
                    <a:lnB w="6350">
                      <a:solidFill>
                        <a:srgbClr val="E3E6EA"/>
                      </a:solidFill>
                    </a:lnB>
                    <a:solidFill>
                      <a:srgbClr val="FFFFFF"/>
                    </a:solidFill>
                  </a:tcPr>
                </a:tc>
                <a:tc>
                  <a:txBody>
                    <a:bodyPr/>
                    <a:lstStyle/>
                    <a:p>
                      <a:r>
                        <a:rPr lang="en-US" sz="1200" dirty="0">
                          <a:solidFill>
                            <a:srgbClr val="1E2633"/>
                          </a:solidFill>
                          <a:latin typeface="Calibri"/>
                        </a:rPr>
                        <a:t>200 + JWT issued</a:t>
                      </a:r>
                    </a:p>
                  </a:txBody>
                  <a:tcPr marL="91440" marR="91440" marT="45720" marB="45720" anchor="ctr">
                    <a:lnL w="6350">
                      <a:solidFill>
                        <a:srgbClr val="E3E6EA"/>
                      </a:solidFill>
                    </a:lnL>
                    <a:lnR w="6350">
                      <a:solidFill>
                        <a:srgbClr val="E3E6EA"/>
                      </a:solidFill>
                    </a:lnR>
                    <a:lnT w="6350">
                      <a:solidFill>
                        <a:srgbClr val="E3E6EA"/>
                      </a:solidFill>
                    </a:lnT>
                    <a:lnB w="6350">
                      <a:solidFill>
                        <a:srgbClr val="E3E6EA"/>
                      </a:solidFill>
                    </a:lnB>
                    <a:solidFill>
                      <a:srgbClr val="FFFFFF"/>
                    </a:solidFill>
                  </a:tcPr>
                </a:tc>
                <a:tc>
                  <a:txBody>
                    <a:bodyPr/>
                    <a:lstStyle/>
                    <a:p>
                      <a:r>
                        <a:rPr lang="en-US" sz="1200" b="1" dirty="0">
                          <a:solidFill>
                            <a:srgbClr val="1F8A4C"/>
                          </a:solidFill>
                          <a:latin typeface="Calibri"/>
                        </a:rPr>
                        <a:t>Pass</a:t>
                      </a:r>
                    </a:p>
                  </a:txBody>
                  <a:tcPr marL="91440" marR="91440" marT="45720" marB="45720" anchor="ctr">
                    <a:lnL w="6350">
                      <a:solidFill>
                        <a:srgbClr val="E3E6EA"/>
                      </a:solidFill>
                    </a:lnL>
                    <a:lnR w="6350">
                      <a:solidFill>
                        <a:srgbClr val="E3E6EA"/>
                      </a:solidFill>
                    </a:lnR>
                    <a:lnT w="6350">
                      <a:solidFill>
                        <a:srgbClr val="E3E6EA"/>
                      </a:solidFill>
                    </a:lnT>
                    <a:lnB w="6350">
                      <a:solidFill>
                        <a:srgbClr val="E3E6EA"/>
                      </a:solidFill>
                    </a:lnB>
                    <a:solidFill>
                      <a:srgbClr val="FFFFFF"/>
                    </a:solidFill>
                  </a:tcPr>
                </a:tc>
              </a:tr>
              <a:tr h="338328">
                <a:tc>
                  <a:txBody>
                    <a:bodyPr/>
                    <a:lstStyle/>
                    <a:p>
                      <a:r>
                        <a:rPr lang="en-US" sz="1200" dirty="0">
                          <a:solidFill>
                            <a:srgbClr val="1E2633"/>
                          </a:solidFill>
                          <a:latin typeface="Calibri"/>
                        </a:rPr>
                        <a:t>Log in (email in any letter case)</a:t>
                      </a:r>
                    </a:p>
                  </a:txBody>
                  <a:tcPr marL="91440" marR="91440" marT="45720" marB="45720" anchor="ctr">
                    <a:lnL w="6350">
                      <a:solidFill>
                        <a:srgbClr val="E3E6EA"/>
                      </a:solidFill>
                    </a:lnL>
                    <a:lnR w="6350">
                      <a:solidFill>
                        <a:srgbClr val="E3E6EA"/>
                      </a:solidFill>
                    </a:lnR>
                    <a:lnT w="6350">
                      <a:solidFill>
                        <a:srgbClr val="E3E6EA"/>
                      </a:solidFill>
                    </a:lnT>
                    <a:lnB w="6350">
                      <a:solidFill>
                        <a:srgbClr val="E3E6EA"/>
                      </a:solidFill>
                    </a:lnB>
                    <a:solidFill>
                      <a:srgbClr val="FFFFFF"/>
                    </a:solidFill>
                  </a:tcPr>
                </a:tc>
                <a:tc>
                  <a:txBody>
                    <a:bodyPr/>
                    <a:lstStyle/>
                    <a:p>
                      <a:r>
                        <a:rPr lang="en-US" sz="1200" dirty="0">
                          <a:solidFill>
                            <a:srgbClr val="1E2633"/>
                          </a:solidFill>
                          <a:latin typeface="Calibri"/>
                        </a:rPr>
                        <a:t>200 + JWT issued</a:t>
                      </a:r>
                    </a:p>
                  </a:txBody>
                  <a:tcPr marL="91440" marR="91440" marT="45720" marB="45720" anchor="ctr">
                    <a:lnL w="6350">
                      <a:solidFill>
                        <a:srgbClr val="E3E6EA"/>
                      </a:solidFill>
                    </a:lnL>
                    <a:lnR w="6350">
                      <a:solidFill>
                        <a:srgbClr val="E3E6EA"/>
                      </a:solidFill>
                    </a:lnR>
                    <a:lnT w="6350">
                      <a:solidFill>
                        <a:srgbClr val="E3E6EA"/>
                      </a:solidFill>
                    </a:lnT>
                    <a:lnB w="6350">
                      <a:solidFill>
                        <a:srgbClr val="E3E6EA"/>
                      </a:solidFill>
                    </a:lnB>
                    <a:solidFill>
                      <a:srgbClr val="FFFFFF"/>
                    </a:solidFill>
                  </a:tcPr>
                </a:tc>
                <a:tc>
                  <a:txBody>
                    <a:bodyPr/>
                    <a:lstStyle/>
                    <a:p>
                      <a:r>
                        <a:rPr lang="en-US" sz="1200" b="1" dirty="0">
                          <a:solidFill>
                            <a:srgbClr val="1F8A4C"/>
                          </a:solidFill>
                          <a:latin typeface="Calibri"/>
                        </a:rPr>
                        <a:t>Pass</a:t>
                      </a:r>
                    </a:p>
                  </a:txBody>
                  <a:tcPr marL="91440" marR="91440" marT="45720" marB="45720" anchor="ctr">
                    <a:lnL w="6350">
                      <a:solidFill>
                        <a:srgbClr val="E3E6EA"/>
                      </a:solidFill>
                    </a:lnL>
                    <a:lnR w="6350">
                      <a:solidFill>
                        <a:srgbClr val="E3E6EA"/>
                      </a:solidFill>
                    </a:lnR>
                    <a:lnT w="6350">
                      <a:solidFill>
                        <a:srgbClr val="E3E6EA"/>
                      </a:solidFill>
                    </a:lnT>
                    <a:lnB w="6350">
                      <a:solidFill>
                        <a:srgbClr val="E3E6EA"/>
                      </a:solidFill>
                    </a:lnB>
                    <a:solidFill>
                      <a:srgbClr val="FFFFFF"/>
                    </a:solidFill>
                  </a:tcPr>
                </a:tc>
              </a:tr>
              <a:tr h="338328">
                <a:tc>
                  <a:txBody>
                    <a:bodyPr/>
                    <a:lstStyle/>
                    <a:p>
                      <a:r>
                        <a:rPr lang="en-US" sz="1200" dirty="0">
                          <a:solidFill>
                            <a:srgbClr val="1E2633"/>
                          </a:solidFill>
                          <a:latin typeface="Calibri"/>
                        </a:rPr>
                        <a:t>View / update profile goals (blank goal saved as 0)</a:t>
                      </a:r>
                    </a:p>
                  </a:txBody>
                  <a:tcPr marL="91440" marR="91440" marT="45720" marB="45720" anchor="ctr">
                    <a:lnL w="6350">
                      <a:solidFill>
                        <a:srgbClr val="E3E6EA"/>
                      </a:solidFill>
                    </a:lnL>
                    <a:lnR w="6350">
                      <a:solidFill>
                        <a:srgbClr val="E3E6EA"/>
                      </a:solidFill>
                    </a:lnR>
                    <a:lnT w="6350">
                      <a:solidFill>
                        <a:srgbClr val="E3E6EA"/>
                      </a:solidFill>
                    </a:lnT>
                    <a:lnB w="6350">
                      <a:solidFill>
                        <a:srgbClr val="E3E6EA"/>
                      </a:solidFill>
                    </a:lnB>
                    <a:solidFill>
                      <a:srgbClr val="FFFFFF"/>
                    </a:solidFill>
                  </a:tcPr>
                </a:tc>
                <a:tc>
                  <a:txBody>
                    <a:bodyPr/>
                    <a:lstStyle/>
                    <a:p>
                      <a:r>
                        <a:rPr lang="en-US" sz="1200" dirty="0">
                          <a:solidFill>
                            <a:srgbClr val="1E2633"/>
                          </a:solidFill>
                          <a:latin typeface="Calibri"/>
                        </a:rPr>
                        <a:t>200, values saved</a:t>
                      </a:r>
                    </a:p>
                  </a:txBody>
                  <a:tcPr marL="91440" marR="91440" marT="45720" marB="45720" anchor="ctr">
                    <a:lnL w="6350">
                      <a:solidFill>
                        <a:srgbClr val="E3E6EA"/>
                      </a:solidFill>
                    </a:lnL>
                    <a:lnR w="6350">
                      <a:solidFill>
                        <a:srgbClr val="E3E6EA"/>
                      </a:solidFill>
                    </a:lnR>
                    <a:lnT w="6350">
                      <a:solidFill>
                        <a:srgbClr val="E3E6EA"/>
                      </a:solidFill>
                    </a:lnT>
                    <a:lnB w="6350">
                      <a:solidFill>
                        <a:srgbClr val="E3E6EA"/>
                      </a:solidFill>
                    </a:lnB>
                    <a:solidFill>
                      <a:srgbClr val="FFFFFF"/>
                    </a:solidFill>
                  </a:tcPr>
                </a:tc>
                <a:tc>
                  <a:txBody>
                    <a:bodyPr/>
                    <a:lstStyle/>
                    <a:p>
                      <a:r>
                        <a:rPr lang="en-US" sz="1200" b="1" dirty="0">
                          <a:solidFill>
                            <a:srgbClr val="1F8A4C"/>
                          </a:solidFill>
                          <a:latin typeface="Calibri"/>
                        </a:rPr>
                        <a:t>Pass</a:t>
                      </a:r>
                    </a:p>
                  </a:txBody>
                  <a:tcPr marL="91440" marR="91440" marT="45720" marB="45720" anchor="ctr">
                    <a:lnL w="6350">
                      <a:solidFill>
                        <a:srgbClr val="E3E6EA"/>
                      </a:solidFill>
                    </a:lnL>
                    <a:lnR w="6350">
                      <a:solidFill>
                        <a:srgbClr val="E3E6EA"/>
                      </a:solidFill>
                    </a:lnR>
                    <a:lnT w="6350">
                      <a:solidFill>
                        <a:srgbClr val="E3E6EA"/>
                      </a:solidFill>
                    </a:lnT>
                    <a:lnB w="6350">
                      <a:solidFill>
                        <a:srgbClr val="E3E6EA"/>
                      </a:solidFill>
                    </a:lnB>
                    <a:solidFill>
                      <a:srgbClr val="FFFFFF"/>
                    </a:solidFill>
                  </a:tcPr>
                </a:tc>
              </a:tr>
              <a:tr h="338328">
                <a:tc>
                  <a:txBody>
                    <a:bodyPr/>
                    <a:lstStyle/>
                    <a:p>
                      <a:r>
                        <a:rPr lang="en-US" sz="1200" dirty="0">
                          <a:solidFill>
                            <a:srgbClr val="1E2633"/>
                          </a:solidFill>
                          <a:latin typeface="Calibri"/>
                        </a:rPr>
                        <a:t>Add, edit and delete an activity</a:t>
                      </a:r>
                    </a:p>
                  </a:txBody>
                  <a:tcPr marL="91440" marR="91440" marT="45720" marB="45720" anchor="ctr">
                    <a:lnL w="6350">
                      <a:solidFill>
                        <a:srgbClr val="E3E6EA"/>
                      </a:solidFill>
                    </a:lnL>
                    <a:lnR w="6350">
                      <a:solidFill>
                        <a:srgbClr val="E3E6EA"/>
                      </a:solidFill>
                    </a:lnR>
                    <a:lnT w="6350">
                      <a:solidFill>
                        <a:srgbClr val="E3E6EA"/>
                      </a:solidFill>
                    </a:lnT>
                    <a:lnB w="6350">
                      <a:solidFill>
                        <a:srgbClr val="E3E6EA"/>
                      </a:solidFill>
                    </a:lnB>
                    <a:solidFill>
                      <a:srgbClr val="FFFFFF"/>
                    </a:solidFill>
                  </a:tcPr>
                </a:tc>
                <a:tc>
                  <a:txBody>
                    <a:bodyPr/>
                    <a:lstStyle/>
                    <a:p>
                      <a:r>
                        <a:rPr lang="en-US" sz="1200" dirty="0">
                          <a:solidFill>
                            <a:srgbClr val="1E2633"/>
                          </a:solidFill>
                          <a:latin typeface="Calibri"/>
                        </a:rPr>
                        <a:t>200, list updated</a:t>
                      </a:r>
                    </a:p>
                  </a:txBody>
                  <a:tcPr marL="91440" marR="91440" marT="45720" marB="45720" anchor="ctr">
                    <a:lnL w="6350">
                      <a:solidFill>
                        <a:srgbClr val="E3E6EA"/>
                      </a:solidFill>
                    </a:lnL>
                    <a:lnR w="6350">
                      <a:solidFill>
                        <a:srgbClr val="E3E6EA"/>
                      </a:solidFill>
                    </a:lnR>
                    <a:lnT w="6350">
                      <a:solidFill>
                        <a:srgbClr val="E3E6EA"/>
                      </a:solidFill>
                    </a:lnT>
                    <a:lnB w="6350">
                      <a:solidFill>
                        <a:srgbClr val="E3E6EA"/>
                      </a:solidFill>
                    </a:lnB>
                    <a:solidFill>
                      <a:srgbClr val="FFFFFF"/>
                    </a:solidFill>
                  </a:tcPr>
                </a:tc>
                <a:tc>
                  <a:txBody>
                    <a:bodyPr/>
                    <a:lstStyle/>
                    <a:p>
                      <a:r>
                        <a:rPr lang="en-US" sz="1200" b="1" dirty="0">
                          <a:solidFill>
                            <a:srgbClr val="1F8A4C"/>
                          </a:solidFill>
                          <a:latin typeface="Calibri"/>
                        </a:rPr>
                        <a:t>Pass</a:t>
                      </a:r>
                    </a:p>
                  </a:txBody>
                  <a:tcPr marL="91440" marR="91440" marT="45720" marB="45720" anchor="ctr">
                    <a:lnL w="6350">
                      <a:solidFill>
                        <a:srgbClr val="E3E6EA"/>
                      </a:solidFill>
                    </a:lnL>
                    <a:lnR w="6350">
                      <a:solidFill>
                        <a:srgbClr val="E3E6EA"/>
                      </a:solidFill>
                    </a:lnR>
                    <a:lnT w="6350">
                      <a:solidFill>
                        <a:srgbClr val="E3E6EA"/>
                      </a:solidFill>
                    </a:lnT>
                    <a:lnB w="6350">
                      <a:solidFill>
                        <a:srgbClr val="E3E6EA"/>
                      </a:solidFill>
                    </a:lnB>
                    <a:solidFill>
                      <a:srgbClr val="FFFFFF"/>
                    </a:solidFill>
                  </a:tcPr>
                </a:tc>
              </a:tr>
              <a:tr h="338328">
                <a:tc>
                  <a:txBody>
                    <a:bodyPr/>
                    <a:lstStyle/>
                    <a:p>
                      <a:r>
                        <a:rPr lang="en-US" sz="1200" dirty="0">
                          <a:solidFill>
                            <a:srgbClr val="1E2633"/>
                          </a:solidFill>
                          <a:latin typeface="Calibri"/>
                        </a:rPr>
                        <a:t>Add sleep, hydration and meditation entries</a:t>
                      </a:r>
                    </a:p>
                  </a:txBody>
                  <a:tcPr marL="91440" marR="91440" marT="45720" marB="45720" anchor="ctr">
                    <a:lnL w="6350">
                      <a:solidFill>
                        <a:srgbClr val="E3E6EA"/>
                      </a:solidFill>
                    </a:lnL>
                    <a:lnR w="6350">
                      <a:solidFill>
                        <a:srgbClr val="E3E6EA"/>
                      </a:solidFill>
                    </a:lnR>
                    <a:lnT w="6350">
                      <a:solidFill>
                        <a:srgbClr val="E3E6EA"/>
                      </a:solidFill>
                    </a:lnT>
                    <a:lnB w="6350">
                      <a:solidFill>
                        <a:srgbClr val="E3E6EA"/>
                      </a:solidFill>
                    </a:lnB>
                    <a:solidFill>
                      <a:srgbClr val="FFFFFF"/>
                    </a:solidFill>
                  </a:tcPr>
                </a:tc>
                <a:tc>
                  <a:txBody>
                    <a:bodyPr/>
                    <a:lstStyle/>
                    <a:p>
                      <a:r>
                        <a:rPr lang="en-US" sz="1200" dirty="0">
                          <a:solidFill>
                            <a:srgbClr val="1E2633"/>
                          </a:solidFill>
                          <a:latin typeface="Calibri"/>
                        </a:rPr>
                        <a:t>200, saved per user</a:t>
                      </a:r>
                    </a:p>
                  </a:txBody>
                  <a:tcPr marL="91440" marR="91440" marT="45720" marB="45720" anchor="ctr">
                    <a:lnL w="6350">
                      <a:solidFill>
                        <a:srgbClr val="E3E6EA"/>
                      </a:solidFill>
                    </a:lnL>
                    <a:lnR w="6350">
                      <a:solidFill>
                        <a:srgbClr val="E3E6EA"/>
                      </a:solidFill>
                    </a:lnR>
                    <a:lnT w="6350">
                      <a:solidFill>
                        <a:srgbClr val="E3E6EA"/>
                      </a:solidFill>
                    </a:lnT>
                    <a:lnB w="6350">
                      <a:solidFill>
                        <a:srgbClr val="E3E6EA"/>
                      </a:solidFill>
                    </a:lnB>
                    <a:solidFill>
                      <a:srgbClr val="FFFFFF"/>
                    </a:solidFill>
                  </a:tcPr>
                </a:tc>
                <a:tc>
                  <a:txBody>
                    <a:bodyPr/>
                    <a:lstStyle/>
                    <a:p>
                      <a:r>
                        <a:rPr lang="en-US" sz="1200" b="1" dirty="0">
                          <a:solidFill>
                            <a:srgbClr val="1F8A4C"/>
                          </a:solidFill>
                          <a:latin typeface="Calibri"/>
                        </a:rPr>
                        <a:t>Pass</a:t>
                      </a:r>
                    </a:p>
                  </a:txBody>
                  <a:tcPr marL="91440" marR="91440" marT="45720" marB="45720" anchor="ctr">
                    <a:lnL w="6350">
                      <a:solidFill>
                        <a:srgbClr val="E3E6EA"/>
                      </a:solidFill>
                    </a:lnL>
                    <a:lnR w="6350">
                      <a:solidFill>
                        <a:srgbClr val="E3E6EA"/>
                      </a:solidFill>
                    </a:lnR>
                    <a:lnT w="6350">
                      <a:solidFill>
                        <a:srgbClr val="E3E6EA"/>
                      </a:solidFill>
                    </a:lnT>
                    <a:lnB w="6350">
                      <a:solidFill>
                        <a:srgbClr val="E3E6EA"/>
                      </a:solidFill>
                    </a:lnB>
                    <a:solidFill>
                      <a:srgbClr val="FFFFFF"/>
                    </a:solidFill>
                  </a:tcPr>
                </a:tc>
              </a:tr>
              <a:tr h="338328">
                <a:tc>
                  <a:txBody>
                    <a:bodyPr/>
                    <a:lstStyle/>
                    <a:p>
                      <a:r>
                        <a:rPr lang="en-US" sz="1200" dirty="0">
                          <a:solidFill>
                            <a:srgbClr val="1E2633"/>
                          </a:solidFill>
                          <a:latin typeface="Calibri"/>
                        </a:rPr>
                        <a:t>Add appointments; upcoming vs past split</a:t>
                      </a:r>
                    </a:p>
                  </a:txBody>
                  <a:tcPr marL="91440" marR="91440" marT="45720" marB="45720" anchor="ctr">
                    <a:lnL w="6350">
                      <a:solidFill>
                        <a:srgbClr val="E3E6EA"/>
                      </a:solidFill>
                    </a:lnL>
                    <a:lnR w="6350">
                      <a:solidFill>
                        <a:srgbClr val="E3E6EA"/>
                      </a:solidFill>
                    </a:lnR>
                    <a:lnT w="6350">
                      <a:solidFill>
                        <a:srgbClr val="E3E6EA"/>
                      </a:solidFill>
                    </a:lnT>
                    <a:lnB w="6350">
                      <a:solidFill>
                        <a:srgbClr val="E3E6EA"/>
                      </a:solidFill>
                    </a:lnB>
                    <a:solidFill>
                      <a:srgbClr val="FFFFFF"/>
                    </a:solidFill>
                  </a:tcPr>
                </a:tc>
                <a:tc>
                  <a:txBody>
                    <a:bodyPr/>
                    <a:lstStyle/>
                    <a:p>
                      <a:r>
                        <a:rPr lang="en-US" sz="1200" dirty="0">
                          <a:solidFill>
                            <a:srgbClr val="1E2633"/>
                          </a:solidFill>
                          <a:latin typeface="Calibri"/>
                        </a:rPr>
                        <a:t>Correct list for each</a:t>
                      </a:r>
                    </a:p>
                  </a:txBody>
                  <a:tcPr marL="91440" marR="91440" marT="45720" marB="45720" anchor="ctr">
                    <a:lnL w="6350">
                      <a:solidFill>
                        <a:srgbClr val="E3E6EA"/>
                      </a:solidFill>
                    </a:lnL>
                    <a:lnR w="6350">
                      <a:solidFill>
                        <a:srgbClr val="E3E6EA"/>
                      </a:solidFill>
                    </a:lnR>
                    <a:lnT w="6350">
                      <a:solidFill>
                        <a:srgbClr val="E3E6EA"/>
                      </a:solidFill>
                    </a:lnT>
                    <a:lnB w="6350">
                      <a:solidFill>
                        <a:srgbClr val="E3E6EA"/>
                      </a:solidFill>
                    </a:lnB>
                    <a:solidFill>
                      <a:srgbClr val="FFFFFF"/>
                    </a:solidFill>
                  </a:tcPr>
                </a:tc>
                <a:tc>
                  <a:txBody>
                    <a:bodyPr/>
                    <a:lstStyle/>
                    <a:p>
                      <a:r>
                        <a:rPr lang="en-US" sz="1200" b="1" dirty="0">
                          <a:solidFill>
                            <a:srgbClr val="1F8A4C"/>
                          </a:solidFill>
                          <a:latin typeface="Calibri"/>
                        </a:rPr>
                        <a:t>Pass</a:t>
                      </a:r>
                    </a:p>
                  </a:txBody>
                  <a:tcPr marL="91440" marR="91440" marT="45720" marB="45720" anchor="ctr">
                    <a:lnL w="6350">
                      <a:solidFill>
                        <a:srgbClr val="E3E6EA"/>
                      </a:solidFill>
                    </a:lnL>
                    <a:lnR w="6350">
                      <a:solidFill>
                        <a:srgbClr val="E3E6EA"/>
                      </a:solidFill>
                    </a:lnR>
                    <a:lnT w="6350">
                      <a:solidFill>
                        <a:srgbClr val="E3E6EA"/>
                      </a:solidFill>
                    </a:lnT>
                    <a:lnB w="6350">
                      <a:solidFill>
                        <a:srgbClr val="E3E6EA"/>
                      </a:solidFill>
                    </a:lnB>
                    <a:solidFill>
                      <a:srgbClr val="FFFFFF"/>
                    </a:solidFill>
                  </a:tcPr>
                </a:tc>
              </a:tr>
              <a:tr h="338328">
                <a:tc>
                  <a:txBody>
                    <a:bodyPr/>
                    <a:lstStyle/>
                    <a:p>
                      <a:r>
                        <a:rPr lang="en-US" sz="1200" dirty="0">
                          <a:solidFill>
                            <a:srgbClr val="1E2633"/>
                          </a:solidFill>
                          <a:latin typeface="Calibri"/>
                        </a:rPr>
                        <a:t>Invalid number (e.g. “abc” minutes)</a:t>
                      </a:r>
                    </a:p>
                  </a:txBody>
                  <a:tcPr marL="91440" marR="91440" marT="45720" marB="45720" anchor="ctr">
                    <a:lnL w="6350">
                      <a:solidFill>
                        <a:srgbClr val="E3E6EA"/>
                      </a:solidFill>
                    </a:lnL>
                    <a:lnR w="6350">
                      <a:solidFill>
                        <a:srgbClr val="E3E6EA"/>
                      </a:solidFill>
                    </a:lnR>
                    <a:lnT w="6350">
                      <a:solidFill>
                        <a:srgbClr val="E3E6EA"/>
                      </a:solidFill>
                    </a:lnT>
                    <a:lnB w="6350">
                      <a:solidFill>
                        <a:srgbClr val="E3E6EA"/>
                      </a:solidFill>
                    </a:lnB>
                    <a:solidFill>
                      <a:srgbClr val="FFFFFF"/>
                    </a:solidFill>
                  </a:tcPr>
                </a:tc>
                <a:tc>
                  <a:txBody>
                    <a:bodyPr/>
                    <a:lstStyle/>
                    <a:p>
                      <a:r>
                        <a:rPr lang="en-US" sz="1200" dirty="0">
                          <a:solidFill>
                            <a:srgbClr val="1E2633"/>
                          </a:solidFill>
                          <a:latin typeface="Calibri"/>
                        </a:rPr>
                        <a:t>400 Bad Request</a:t>
                      </a:r>
                    </a:p>
                  </a:txBody>
                  <a:tcPr marL="91440" marR="91440" marT="45720" marB="45720" anchor="ctr">
                    <a:lnL w="6350">
                      <a:solidFill>
                        <a:srgbClr val="E3E6EA"/>
                      </a:solidFill>
                    </a:lnL>
                    <a:lnR w="6350">
                      <a:solidFill>
                        <a:srgbClr val="E3E6EA"/>
                      </a:solidFill>
                    </a:lnR>
                    <a:lnT w="6350">
                      <a:solidFill>
                        <a:srgbClr val="E3E6EA"/>
                      </a:solidFill>
                    </a:lnT>
                    <a:lnB w="6350">
                      <a:solidFill>
                        <a:srgbClr val="E3E6EA"/>
                      </a:solidFill>
                    </a:lnB>
                    <a:solidFill>
                      <a:srgbClr val="FFFFFF"/>
                    </a:solidFill>
                  </a:tcPr>
                </a:tc>
                <a:tc>
                  <a:txBody>
                    <a:bodyPr/>
                    <a:lstStyle/>
                    <a:p>
                      <a:r>
                        <a:rPr lang="en-US" sz="1200" b="1" dirty="0">
                          <a:solidFill>
                            <a:srgbClr val="1F8A4C"/>
                          </a:solidFill>
                          <a:latin typeface="Calibri"/>
                        </a:rPr>
                        <a:t>Pass</a:t>
                      </a:r>
                    </a:p>
                  </a:txBody>
                  <a:tcPr marL="91440" marR="91440" marT="45720" marB="45720" anchor="ctr">
                    <a:lnL w="6350">
                      <a:solidFill>
                        <a:srgbClr val="E3E6EA"/>
                      </a:solidFill>
                    </a:lnL>
                    <a:lnR w="6350">
                      <a:solidFill>
                        <a:srgbClr val="E3E6EA"/>
                      </a:solidFill>
                    </a:lnR>
                    <a:lnT w="6350">
                      <a:solidFill>
                        <a:srgbClr val="E3E6EA"/>
                      </a:solidFill>
                    </a:lnT>
                    <a:lnB w="6350">
                      <a:solidFill>
                        <a:srgbClr val="E3E6EA"/>
                      </a:solidFill>
                    </a:lnB>
                    <a:solidFill>
                      <a:srgbClr val="FFFFFF"/>
                    </a:solidFill>
                  </a:tcPr>
                </a:tc>
              </a:tr>
              <a:tr h="338328">
                <a:tc>
                  <a:txBody>
                    <a:bodyPr/>
                    <a:lstStyle/>
                    <a:p>
                      <a:r>
                        <a:rPr lang="en-US" sz="1200" dirty="0">
                          <a:solidFill>
                            <a:srgbClr val="1E2633"/>
                          </a:solidFill>
                          <a:latin typeface="Calibri"/>
                        </a:rPr>
                        <a:t>Edit with required fields missing</a:t>
                      </a:r>
                    </a:p>
                  </a:txBody>
                  <a:tcPr marL="91440" marR="91440" marT="45720" marB="45720" anchor="ctr">
                    <a:lnL w="6350">
                      <a:solidFill>
                        <a:srgbClr val="E3E6EA"/>
                      </a:solidFill>
                    </a:lnL>
                    <a:lnR w="6350">
                      <a:solidFill>
                        <a:srgbClr val="E3E6EA"/>
                      </a:solidFill>
                    </a:lnR>
                    <a:lnT w="6350">
                      <a:solidFill>
                        <a:srgbClr val="E3E6EA"/>
                      </a:solidFill>
                    </a:lnT>
                    <a:lnB w="6350">
                      <a:solidFill>
                        <a:srgbClr val="E3E6EA"/>
                      </a:solidFill>
                    </a:lnB>
                    <a:solidFill>
                      <a:srgbClr val="FFFFFF"/>
                    </a:solidFill>
                  </a:tcPr>
                </a:tc>
                <a:tc>
                  <a:txBody>
                    <a:bodyPr/>
                    <a:lstStyle/>
                    <a:p>
                      <a:r>
                        <a:rPr lang="en-US" sz="1200" dirty="0">
                          <a:solidFill>
                            <a:srgbClr val="1E2633"/>
                          </a:solidFill>
                          <a:latin typeface="Calibri"/>
                        </a:rPr>
                        <a:t>400 Bad Request</a:t>
                      </a:r>
                    </a:p>
                  </a:txBody>
                  <a:tcPr marL="91440" marR="91440" marT="45720" marB="45720" anchor="ctr">
                    <a:lnL w="6350">
                      <a:solidFill>
                        <a:srgbClr val="E3E6EA"/>
                      </a:solidFill>
                    </a:lnL>
                    <a:lnR w="6350">
                      <a:solidFill>
                        <a:srgbClr val="E3E6EA"/>
                      </a:solidFill>
                    </a:lnR>
                    <a:lnT w="6350">
                      <a:solidFill>
                        <a:srgbClr val="E3E6EA"/>
                      </a:solidFill>
                    </a:lnT>
                    <a:lnB w="6350">
                      <a:solidFill>
                        <a:srgbClr val="E3E6EA"/>
                      </a:solidFill>
                    </a:lnB>
                    <a:solidFill>
                      <a:srgbClr val="FFFFFF"/>
                    </a:solidFill>
                  </a:tcPr>
                </a:tc>
                <a:tc>
                  <a:txBody>
                    <a:bodyPr/>
                    <a:lstStyle/>
                    <a:p>
                      <a:r>
                        <a:rPr lang="en-US" sz="1200" b="1" dirty="0">
                          <a:solidFill>
                            <a:srgbClr val="1F8A4C"/>
                          </a:solidFill>
                          <a:latin typeface="Calibri"/>
                        </a:rPr>
                        <a:t>Pass</a:t>
                      </a:r>
                    </a:p>
                  </a:txBody>
                  <a:tcPr marL="91440" marR="91440" marT="45720" marB="45720" anchor="ctr">
                    <a:lnL w="6350">
                      <a:solidFill>
                        <a:srgbClr val="E3E6EA"/>
                      </a:solidFill>
                    </a:lnL>
                    <a:lnR w="6350">
                      <a:solidFill>
                        <a:srgbClr val="E3E6EA"/>
                      </a:solidFill>
                    </a:lnR>
                    <a:lnT w="6350">
                      <a:solidFill>
                        <a:srgbClr val="E3E6EA"/>
                      </a:solidFill>
                    </a:lnT>
                    <a:lnB w="6350">
                      <a:solidFill>
                        <a:srgbClr val="E3E6EA"/>
                      </a:solidFill>
                    </a:lnB>
                    <a:solidFill>
                      <a:srgbClr val="FFFFFF"/>
                    </a:solidFill>
                  </a:tcPr>
                </a:tc>
              </a:tr>
              <a:tr h="338328">
                <a:tc>
                  <a:txBody>
                    <a:bodyPr/>
                    <a:lstStyle/>
                    <a:p>
                      <a:r>
                        <a:rPr lang="en-US" sz="1200" dirty="0">
                          <a:solidFill>
                            <a:srgbClr val="1E2633"/>
                          </a:solidFill>
                          <a:latin typeface="Calibri"/>
                        </a:rPr>
                        <a:t>Invalid or expired token</a:t>
                      </a:r>
                    </a:p>
                  </a:txBody>
                  <a:tcPr marL="91440" marR="91440" marT="45720" marB="45720" anchor="ctr">
                    <a:lnL w="6350">
                      <a:solidFill>
                        <a:srgbClr val="E3E6EA"/>
                      </a:solidFill>
                    </a:lnL>
                    <a:lnR w="6350">
                      <a:solidFill>
                        <a:srgbClr val="E3E6EA"/>
                      </a:solidFill>
                    </a:lnR>
                    <a:lnT w="6350">
                      <a:solidFill>
                        <a:srgbClr val="E3E6EA"/>
                      </a:solidFill>
                    </a:lnT>
                    <a:lnB w="6350">
                      <a:solidFill>
                        <a:srgbClr val="E3E6EA"/>
                      </a:solidFill>
                    </a:lnB>
                    <a:solidFill>
                      <a:srgbClr val="FFFFFF"/>
                    </a:solidFill>
                  </a:tcPr>
                </a:tc>
                <a:tc>
                  <a:txBody>
                    <a:bodyPr/>
                    <a:lstStyle/>
                    <a:p>
                      <a:r>
                        <a:rPr lang="en-US" sz="1200" dirty="0">
                          <a:solidFill>
                            <a:srgbClr val="1E2633"/>
                          </a:solidFill>
                          <a:latin typeface="Calibri"/>
                        </a:rPr>
                        <a:t>401 Unauthorized</a:t>
                      </a:r>
                    </a:p>
                  </a:txBody>
                  <a:tcPr marL="91440" marR="91440" marT="45720" marB="45720" anchor="ctr">
                    <a:lnL w="6350">
                      <a:solidFill>
                        <a:srgbClr val="E3E6EA"/>
                      </a:solidFill>
                    </a:lnL>
                    <a:lnR w="6350">
                      <a:solidFill>
                        <a:srgbClr val="E3E6EA"/>
                      </a:solidFill>
                    </a:lnR>
                    <a:lnT w="6350">
                      <a:solidFill>
                        <a:srgbClr val="E3E6EA"/>
                      </a:solidFill>
                    </a:lnT>
                    <a:lnB w="6350">
                      <a:solidFill>
                        <a:srgbClr val="E3E6EA"/>
                      </a:solidFill>
                    </a:lnB>
                    <a:solidFill>
                      <a:srgbClr val="FFFFFF"/>
                    </a:solidFill>
                  </a:tcPr>
                </a:tc>
                <a:tc>
                  <a:txBody>
                    <a:bodyPr/>
                    <a:lstStyle/>
                    <a:p>
                      <a:r>
                        <a:rPr lang="en-US" sz="1200" b="1" dirty="0">
                          <a:solidFill>
                            <a:srgbClr val="1F8A4C"/>
                          </a:solidFill>
                          <a:latin typeface="Calibri"/>
                        </a:rPr>
                        <a:t>Pass</a:t>
                      </a:r>
                    </a:p>
                  </a:txBody>
                  <a:tcPr marL="91440" marR="91440" marT="45720" marB="45720" anchor="ctr">
                    <a:lnL w="6350">
                      <a:solidFill>
                        <a:srgbClr val="E3E6EA"/>
                      </a:solidFill>
                    </a:lnL>
                    <a:lnR w="6350">
                      <a:solidFill>
                        <a:srgbClr val="E3E6EA"/>
                      </a:solidFill>
                    </a:lnR>
                    <a:lnT w="6350">
                      <a:solidFill>
                        <a:srgbClr val="E3E6EA"/>
                      </a:solidFill>
                    </a:lnT>
                    <a:lnB w="6350">
                      <a:solidFill>
                        <a:srgbClr val="E3E6EA"/>
                      </a:solidFill>
                    </a:lnB>
                    <a:solidFill>
                      <a:srgbClr val="FFFFFF"/>
                    </a:solidFill>
                  </a:tcPr>
                </a:tc>
              </a:tr>
              <a:tr h="338328">
                <a:tc>
                  <a:txBody>
                    <a:bodyPr/>
                    <a:lstStyle/>
                    <a:p>
                      <a:r>
                        <a:rPr lang="en-US" sz="1200" dirty="0">
                          <a:solidFill>
                            <a:srgbClr val="1E2633"/>
                          </a:solidFill>
                          <a:latin typeface="Calibri"/>
                        </a:rPr>
                        <a:t>Unknown route / malformed JSON</a:t>
                      </a:r>
                    </a:p>
                  </a:txBody>
                  <a:tcPr marL="91440" marR="91440" marT="45720" marB="45720" anchor="ctr">
                    <a:lnL w="6350">
                      <a:solidFill>
                        <a:srgbClr val="E3E6EA"/>
                      </a:solidFill>
                    </a:lnL>
                    <a:lnR w="6350">
                      <a:solidFill>
                        <a:srgbClr val="E3E6EA"/>
                      </a:solidFill>
                    </a:lnR>
                    <a:lnT w="6350">
                      <a:solidFill>
                        <a:srgbClr val="E3E6EA"/>
                      </a:solidFill>
                    </a:lnT>
                    <a:lnB w="6350">
                      <a:solidFill>
                        <a:srgbClr val="E3E6EA"/>
                      </a:solidFill>
                    </a:lnB>
                    <a:solidFill>
                      <a:srgbClr val="FFFFFF"/>
                    </a:solidFill>
                  </a:tcPr>
                </a:tc>
                <a:tc>
                  <a:txBody>
                    <a:bodyPr/>
                    <a:lstStyle/>
                    <a:p>
                      <a:r>
                        <a:rPr lang="en-US" sz="1200" dirty="0">
                          <a:solidFill>
                            <a:srgbClr val="1E2633"/>
                          </a:solidFill>
                          <a:latin typeface="Calibri"/>
                        </a:rPr>
                        <a:t>404 / 400 JSON error</a:t>
                      </a:r>
                    </a:p>
                  </a:txBody>
                  <a:tcPr marL="91440" marR="91440" marT="45720" marB="45720" anchor="ctr">
                    <a:lnL w="6350">
                      <a:solidFill>
                        <a:srgbClr val="E3E6EA"/>
                      </a:solidFill>
                    </a:lnL>
                    <a:lnR w="6350">
                      <a:solidFill>
                        <a:srgbClr val="E3E6EA"/>
                      </a:solidFill>
                    </a:lnR>
                    <a:lnT w="6350">
                      <a:solidFill>
                        <a:srgbClr val="E3E6EA"/>
                      </a:solidFill>
                    </a:lnT>
                    <a:lnB w="6350">
                      <a:solidFill>
                        <a:srgbClr val="E3E6EA"/>
                      </a:solidFill>
                    </a:lnB>
                    <a:solidFill>
                      <a:srgbClr val="FFFFFF"/>
                    </a:solidFill>
                  </a:tcPr>
                </a:tc>
                <a:tc>
                  <a:txBody>
                    <a:bodyPr/>
                    <a:lstStyle/>
                    <a:p>
                      <a:r>
                        <a:rPr lang="en-US" sz="1200" b="1" dirty="0">
                          <a:solidFill>
                            <a:srgbClr val="1F8A4C"/>
                          </a:solidFill>
                          <a:latin typeface="Calibri"/>
                        </a:rPr>
                        <a:t>Pass</a:t>
                      </a:r>
                    </a:p>
                  </a:txBody>
                  <a:tcPr marL="91440" marR="91440" marT="45720" marB="45720" anchor="ctr">
                    <a:lnL w="6350">
                      <a:solidFill>
                        <a:srgbClr val="E3E6EA"/>
                      </a:solidFill>
                    </a:lnL>
                    <a:lnR w="6350">
                      <a:solidFill>
                        <a:srgbClr val="E3E6EA"/>
                      </a:solidFill>
                    </a:lnR>
                    <a:lnT w="6350">
                      <a:solidFill>
                        <a:srgbClr val="E3E6EA"/>
                      </a:solidFill>
                    </a:lnT>
                    <a:lnB w="6350">
                      <a:solidFill>
                        <a:srgbClr val="E3E6EA"/>
                      </a:solidFill>
                    </a:lnB>
                    <a:solidFill>
                      <a:srgbClr val="FFFFFF"/>
                    </a:solidFill>
                  </a:tcPr>
                </a:tc>
              </a:tr>
              <a:tr h="338328">
                <a:tc>
                  <a:txBody>
                    <a:bodyPr/>
                    <a:lstStyle/>
                    <a:p>
                      <a:r>
                        <a:rPr lang="en-US" sz="1200" dirty="0">
                          <a:solidFill>
                            <a:srgbClr val="1E2633"/>
                          </a:solidFill>
                          <a:latin typeface="Calibri"/>
                        </a:rPr>
                        <a:t>Startup repair of an old database schema</a:t>
                      </a:r>
                    </a:p>
                  </a:txBody>
                  <a:tcPr marL="91440" marR="91440" marT="45720" marB="45720" anchor="ctr">
                    <a:lnL w="6350">
                      <a:solidFill>
                        <a:srgbClr val="E3E6EA"/>
                      </a:solidFill>
                    </a:lnL>
                    <a:lnR w="6350">
                      <a:solidFill>
                        <a:srgbClr val="E3E6EA"/>
                      </a:solidFill>
                    </a:lnR>
                    <a:lnT w="6350">
                      <a:solidFill>
                        <a:srgbClr val="E3E6EA"/>
                      </a:solidFill>
                    </a:lnT>
                    <a:lnB w="6350">
                      <a:solidFill>
                        <a:srgbClr val="E3E6EA"/>
                      </a:solidFill>
                    </a:lnB>
                    <a:solidFill>
                      <a:srgbClr val="FFFFFF"/>
                    </a:solidFill>
                  </a:tcPr>
                </a:tc>
                <a:tc>
                  <a:txBody>
                    <a:bodyPr/>
                    <a:lstStyle/>
                    <a:p>
                      <a:r>
                        <a:rPr lang="en-US" sz="1200" dirty="0">
                          <a:solidFill>
                            <a:srgbClr val="1E2633"/>
                          </a:solidFill>
                          <a:latin typeface="Calibri"/>
                        </a:rPr>
                        <a:t>Columns added, insert works</a:t>
                      </a:r>
                    </a:p>
                  </a:txBody>
                  <a:tcPr marL="91440" marR="91440" marT="45720" marB="45720" anchor="ctr">
                    <a:lnL w="6350">
                      <a:solidFill>
                        <a:srgbClr val="E3E6EA"/>
                      </a:solidFill>
                    </a:lnL>
                    <a:lnR w="6350">
                      <a:solidFill>
                        <a:srgbClr val="E3E6EA"/>
                      </a:solidFill>
                    </a:lnR>
                    <a:lnT w="6350">
                      <a:solidFill>
                        <a:srgbClr val="E3E6EA"/>
                      </a:solidFill>
                    </a:lnT>
                    <a:lnB w="6350">
                      <a:solidFill>
                        <a:srgbClr val="E3E6EA"/>
                      </a:solidFill>
                    </a:lnB>
                    <a:solidFill>
                      <a:srgbClr val="FFFFFF"/>
                    </a:solidFill>
                  </a:tcPr>
                </a:tc>
                <a:tc>
                  <a:txBody>
                    <a:bodyPr/>
                    <a:lstStyle/>
                    <a:p>
                      <a:r>
                        <a:rPr lang="en-US" sz="1200" b="1" dirty="0">
                          <a:solidFill>
                            <a:srgbClr val="1F8A4C"/>
                          </a:solidFill>
                          <a:latin typeface="Calibri"/>
                        </a:rPr>
                        <a:t>Pass</a:t>
                      </a:r>
                    </a:p>
                  </a:txBody>
                  <a:tcPr marL="91440" marR="91440" marT="45720" marB="45720" anchor="ctr">
                    <a:lnL w="6350">
                      <a:solidFill>
                        <a:srgbClr val="E3E6EA"/>
                      </a:solidFill>
                    </a:lnL>
                    <a:lnR w="6350">
                      <a:solidFill>
                        <a:srgbClr val="E3E6EA"/>
                      </a:solidFill>
                    </a:lnR>
                    <a:lnT w="6350">
                      <a:solidFill>
                        <a:srgbClr val="E3E6EA"/>
                      </a:solidFill>
                    </a:lnT>
                    <a:lnB w="6350">
                      <a:solidFill>
                        <a:srgbClr val="E3E6EA"/>
                      </a:solidFill>
                    </a:lnB>
                    <a:solidFill>
                      <a:srgbClr val="FFFFFF"/>
                    </a:solidFill>
                  </a:tcPr>
                </a:tc>
              </a:tr>
            </a:tbl>
          </a:graphicData>
        </a:graphic>
      </p:graphicFrame>
      <p:sp>
        <p:nvSpPr>
          <p:cNvPr id="51" name="Results card"/>
          <p:cNvSpPr/>
          <p:nvPr/>
        </p:nvSpPr>
        <p:spPr>
          <a:xfrm>
            <a:off x="7955280" y="1325880"/>
            <a:ext cx="3688080" cy="4059936"/>
          </a:xfrm>
          <a:prstGeom prst="roundRect">
            <a:avLst>
              <a:gd name="adj" fmla="val 6000"/>
            </a:avLst>
          </a:prstGeom>
          <a:solidFill>
            <a:schemeClr val="tx2"/>
          </a:solidFill>
          <a:ln>
            <a:noFill/>
          </a:ln>
        </p:spPr>
      </p:sp>
      <p:sp>
        <p:nvSpPr>
          <p:cNvPr id="52" name="Results text"/>
          <p:cNvSpPr txBox="1"/>
          <p:nvPr/>
        </p:nvSpPr>
        <p:spPr>
          <a:xfrm>
            <a:off x="8275320" y="1691640"/>
            <a:ext cx="3048000" cy="3328416"/>
          </a:xfrm>
          <a:prstGeom prst="rect">
            <a:avLst/>
          </a:prstGeom>
          <a:noFill/>
        </p:spPr>
        <p:txBody>
          <a:bodyPr wrap="square" lIns="0" tIns="0" rIns="0" bIns="0" anchor="t"/>
          <a:lstStyle/>
          <a:p>
            <a:pPr>
              <a:spcAft>
                <a:spcPts val="600"/>
              </a:spcAft>
            </a:pPr>
            <a:r>
              <a:rPr lang="en-US" sz="1100" b="1" dirty="0">
                <a:solidFill>
                  <a:schemeClr val="accent1"/>
                </a:solidFill>
              </a:rPr>
              <a:t>API TESTS</a:t>
            </a:r>
          </a:p>
          <a:p>
            <a:pPr>
              <a:spcAft>
                <a:spcPts val="200"/>
              </a:spcAft>
            </a:pPr>
            <a:r>
              <a:rPr lang="en-US" sz="5400" b="1" dirty="0">
                <a:solidFill>
                  <a:schemeClr val="accent1"/>
                </a:solidFill>
                <a:latin typeface="Arial"/>
              </a:rPr>
              <a:t>11 / 11</a:t>
            </a:r>
          </a:p>
          <a:p>
            <a:pPr>
              <a:spcAft>
                <a:spcPts val="1800"/>
              </a:spcAft>
            </a:pPr>
            <a:r>
              <a:rPr lang="en-US" sz="1600" dirty="0">
                <a:solidFill>
                  <a:srgbClr val="FFFFFF"/>
                </a:solidFill>
              </a:rPr>
              <a:t>test cases passed</a:t>
            </a:r>
          </a:p>
          <a:p>
            <a:pPr>
              <a:spcAft>
                <a:spcPts val="300"/>
              </a:spcAft>
            </a:pPr>
            <a:r>
              <a:rPr lang="en-US" sz="1100" b="1" dirty="0">
                <a:solidFill>
                  <a:schemeClr val="accent1"/>
                </a:solidFill>
              </a:rPr>
              <a:t>Frontend</a:t>
            </a:r>
          </a:p>
          <a:p>
            <a:pPr>
              <a:spcAft>
                <a:spcPts val="1800"/>
              </a:spcAft>
            </a:pPr>
            <a:r>
              <a:rPr lang="en-US" sz="1400" dirty="0">
                <a:solidFill>
                  <a:srgbClr val="FFFFFF"/>
                </a:solidFill>
              </a:rPr>
              <a:t>ESLint: 0 errors across all React and Express files</a:t>
            </a:r>
          </a:p>
          <a:p>
            <a:pPr>
              <a:spcAft>
                <a:spcPts val="300"/>
              </a:spcAft>
            </a:pPr>
            <a:r>
              <a:rPr lang="en-US" sz="1100" b="1" dirty="0">
                <a:solidFill>
                  <a:schemeClr val="accent1"/>
                </a:solidFill>
              </a:rPr>
              <a:t>How we tested</a:t>
            </a:r>
          </a:p>
          <a:p>
            <a:pPr>
              <a:spcAft>
                <a:spcPts val="0"/>
              </a:spcAft>
            </a:pPr>
            <a:r>
              <a:rPr lang="en-US" sz="1200" dirty="0">
                <a:solidFill>
                  <a:srgbClr val="C9D1DC"/>
                </a:solidFill>
              </a:rPr>
              <a:t>Each request run against the Express API on a fresh PostgreSQL 16 database, then against an old-schema copy to check the startup repair.</a:t>
            </a:r>
          </a:p>
        </p:txBody>
      </p:sp>
      <p:sp>
        <p:nvSpPr>
          <p:cNvPr id="53" name="Source"/>
          <p:cNvSpPr txBox="1"/>
          <p:nvPr/>
        </p:nvSpPr>
        <p:spPr>
          <a:xfrm>
            <a:off x="548640" y="6053328"/>
            <a:ext cx="11064240" cy="256032"/>
          </a:xfrm>
          <a:prstGeom prst="rect">
            <a:avLst/>
          </a:prstGeom>
          <a:noFill/>
        </p:spPr>
        <p:txBody>
          <a:bodyPr wrap="square" lIns="0" tIns="0" rIns="0" bIns="0" anchor="t"/>
          <a:lstStyle/>
          <a:p>
            <a:r>
              <a:rPr lang="en-US" sz="1000" i="1" dirty="0">
                <a:solidFill>
                  <a:srgbClr val="8A94A3"/>
                </a:solidFill>
              </a:rPr>
              <a:t>Status codes: 200 OK, 400 Bad Request (invalid input), 401 Unauthorized (missing/invalid JWT), 404 Not Found</a:t>
            </a:r>
          </a:p>
        </p:txBody>
      </p:sp>
    </p:spTree>
  </p:cSld>
  <p:clrMapOvr>
    <a:masterClrMapping/>
  </p:clrMapOvr>
</p:sld>
</file>

<file path=ppt/theme/theme1.xml><?xml version="1.0" encoding="utf-8"?>
<a:theme xmlns:a="http://schemas.openxmlformats.org/drawingml/2006/main" name="Wellness Tracker">
  <a:themeElements>
    <a:clrScheme name="Wellness Tracker">
      <a:dk1>
        <a:srgbClr val="1E2633"/>
      </a:dk1>
      <a:lt1>
        <a:srgbClr val="FFFFFF"/>
      </a:lt1>
      <a:dk2>
        <a:srgbClr val="2B3A4E"/>
      </a:dk2>
      <a:lt2>
        <a:srgbClr val="F3F4F6"/>
      </a:lt2>
      <a:accent1>
        <a:srgbClr val="F28C1A"/>
      </a:accent1>
      <a:accent2>
        <a:srgbClr val="2E9E6B"/>
      </a:accent2>
      <a:accent3>
        <a:srgbClr val="3B82C4"/>
      </a:accent3>
      <a:accent4>
        <a:srgbClr val="7A5CC2"/>
      </a:accent4>
      <a:accent5>
        <a:srgbClr val="D9483F"/>
      </a:accent5>
      <a:accent6>
        <a:srgbClr val="8A94A6"/>
      </a:accent6>
      <a:hlink>
        <a:srgbClr val="3B82C4"/>
      </a:hlink>
      <a:folHlink>
        <a:srgbClr val="7A5CC2"/>
      </a:folHlink>
    </a:clrScheme>
    <a:fontScheme name="Wellness Tracke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15</Slides>
  <Notes>15</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Wellness Tracker</vt:lpstr>
      <vt:lpstr>Wellness Tracker</vt:lpstr>
      <vt:lpstr>Project overview</vt:lpstr>
      <vt:lpstr>Problem definition</vt:lpstr>
      <vt:lpstr>Requirements summary</vt:lpstr>
      <vt:lpstr>Full-stack architecture</vt:lpstr>
      <vt:lpstr>Frontend overview</vt:lpstr>
      <vt:lpstr>Backend overview</vt:lpstr>
      <vt:lpstr>Database design</vt:lpstr>
      <vt:lpstr>Key system features</vt:lpstr>
      <vt:lpstr>Challenges &amp; solutions</vt:lpstr>
      <vt:lpstr>Testing &amp; evaluation</vt:lpstr>
      <vt:lpstr>Limitations</vt:lpstr>
      <vt:lpstr>Future enhancements</vt:lpstr>
      <vt:lpstr>PowerPoint Presentation</vt:lpstr>
      <vt:lpstr>References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Wellness Tracker — Full-Stack Web Application Development</dc:title>
  <dc:subject>PptxGenJS Presentation</dc:subject>
  <dc:creator>Prasana Lal Shrestha, Anjal Khadka, Rajib Adhikari</dc:creator>
  <cp:lastModifiedBy>Prasana Lal Shrestha, Anjal Khadka, Rajib Adhikari</cp:lastModifiedBy>
  <cp:revision>38</cp:revision>
  <dcterms:created xsi:type="dcterms:W3CDTF">2026-10-05T05:28:07Z</dcterms:created>
  <dcterms:modified xsi:type="dcterms:W3CDTF">2026-10-05T08:20:27Z</dcterms:modified>
</cp:coreProperties>
</file>